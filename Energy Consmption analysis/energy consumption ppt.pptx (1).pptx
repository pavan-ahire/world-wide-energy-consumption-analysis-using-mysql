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x="18288000" cy="10287000"/>
  <p:notesSz cx="6858000" cy="9144000"/>
  <p:embeddedFontLst>
    <p:embeddedFont>
      <p:font typeface="Copperplate Gothic 32 AB Bold" charset="1" panose="020E0707020206020404"/>
      <p:regular r:id="rId33"/>
    </p:embeddedFont>
    <p:embeddedFont>
      <p:font typeface="Calibri (MS) Bold" charset="1" panose="020F0702030404030204"/>
      <p:regular r:id="rId34"/>
    </p:embeddedFont>
    <p:embeddedFont>
      <p:font typeface="Arial Bold" charset="1" panose="020B0704020202020204"/>
      <p:regular r:id="rId35"/>
    </p:embeddedFont>
    <p:embeddedFont>
      <p:font typeface="Arial" charset="1" panose="020B0604020202020204"/>
      <p:regular r:id="rId36"/>
    </p:embeddedFont>
    <p:embeddedFont>
      <p:font typeface="Calibri (MS)" charset="1" panose="020F0502020204030204"/>
      <p:regular r:id="rId37"/>
    </p:embeddedFont>
    <p:embeddedFont>
      <p:font typeface="Lato" charset="1" panose="020F0502020204030203"/>
      <p:regular r:id="rId38"/>
    </p:embeddedFont>
    <p:embeddedFont>
      <p:font typeface="Norwester" charset="1" panose="00000506000000000000"/>
      <p:regular r:id="rId39"/>
    </p:embeddedFont>
    <p:embeddedFont>
      <p:font typeface="Canva Sans Bold" charset="1" panose="020B0803030501040103"/>
      <p:regular r:id="rId40"/>
    </p:embeddedFont>
    <p:embeddedFont>
      <p:font typeface="Canva Sans" charset="1" panose="020B0503030501040103"/>
      <p:regular r:id="rId41"/>
    </p:embeddedFont>
    <p:embeddedFont>
      <p:font typeface="Overpass Ultra-Bold" charset="1" panose="00000900000000000000"/>
      <p:regular r:id="rId42"/>
    </p:embeddedFont>
    <p:embeddedFont>
      <p:font typeface="Hero Bold" charset="1" panose="00000500000000000000"/>
      <p:regular r:id="rId43"/>
    </p:embeddedFont>
    <p:embeddedFont>
      <p:font typeface="Ahkio Heavy" charset="1" panose="00000000000000000000"/>
      <p:regular r:id="rId4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notesMasters/notesMaster1.xml" Type="http://schemas.openxmlformats.org/officeDocument/2006/relationships/notesMaster"/><Relationship Id="rId31" Target="theme/theme2.xml" Type="http://schemas.openxmlformats.org/officeDocument/2006/relationships/theme"/><Relationship Id="rId32" Target="notesSlides/notesSlide1.xml" Type="http://schemas.openxmlformats.org/officeDocument/2006/relationships/notesSlide"/><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notesSlides/notesSlide2.xml" Type="http://schemas.openxmlformats.org/officeDocument/2006/relationships/notesSlide"/><Relationship Id="rId45" Target="fonts/font45.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svg" Type="http://schemas.openxmlformats.org/officeDocument/2006/relationships/image"/><Relationship Id="rId11" Target="../media/image13.png" Type="http://schemas.openxmlformats.org/officeDocument/2006/relationships/image"/><Relationship Id="rId2" Target="../media/image1.png" Type="http://schemas.openxmlformats.org/officeDocument/2006/relationships/image"/><Relationship Id="rId3" Target="http://www.linkedin.com/in/pavan-ahire-260940364" TargetMode="External" Type="http://schemas.openxmlformats.org/officeDocument/2006/relationships/hyperlink"/><Relationship Id="rId4" Target="https://github.com/pavan-ahire" TargetMode="External" Type="http://schemas.openxmlformats.org/officeDocument/2006/relationships/hyperlink"/><Relationship Id="rId5" Target="../media/image9.png" Type="http://schemas.openxmlformats.org/officeDocument/2006/relationships/image"/><Relationship Id="rId6" Target="../media/image10.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1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1.png" Type="http://schemas.openxmlformats.org/officeDocument/2006/relationships/image"/><Relationship Id="rId7" Target="../media/image18.png" Type="http://schemas.openxmlformats.org/officeDocument/2006/relationships/image"/><Relationship Id="rId8" Target="../media/image1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1.pn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 Id="rId8" Target="../media/image23.png" Type="http://schemas.openxmlformats.org/officeDocument/2006/relationships/image"/><Relationship Id="rId9" Target="../media/image2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1.png" Type="http://schemas.openxmlformats.org/officeDocument/2006/relationships/image"/><Relationship Id="rId4" Target="../media/image25.png" Type="http://schemas.openxmlformats.org/officeDocument/2006/relationships/image"/><Relationship Id="rId5" Target="../media/image26.png" Type="http://schemas.openxmlformats.org/officeDocument/2006/relationships/image"/><Relationship Id="rId6" Target="../media/image27.png" Type="http://schemas.openxmlformats.org/officeDocument/2006/relationships/image"/><Relationship Id="rId7" Target="../media/image28.png" Type="http://schemas.openxmlformats.org/officeDocument/2006/relationships/image"/><Relationship Id="rId8" Target="../media/image29.png" Type="http://schemas.openxmlformats.org/officeDocument/2006/relationships/image"/><Relationship Id="rId9" Target="../media/image3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1.png" Type="http://schemas.openxmlformats.org/officeDocument/2006/relationships/image"/><Relationship Id="rId4" Target="../media/image31.png" Type="http://schemas.openxmlformats.org/officeDocument/2006/relationships/image"/><Relationship Id="rId5" Target="../media/image32.png" Type="http://schemas.openxmlformats.org/officeDocument/2006/relationships/image"/><Relationship Id="rId6" Target="../media/image3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1.png" Type="http://schemas.openxmlformats.org/officeDocument/2006/relationships/image"/><Relationship Id="rId4" Target="../media/image34.png" Type="http://schemas.openxmlformats.org/officeDocument/2006/relationships/image"/><Relationship Id="rId5" Target="../media/image35.png" Type="http://schemas.openxmlformats.org/officeDocument/2006/relationships/image"/><Relationship Id="rId6" Target="../media/image3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1.png" Type="http://schemas.openxmlformats.org/officeDocument/2006/relationships/image"/><Relationship Id="rId4" Target="../media/image36.png" Type="http://schemas.openxmlformats.org/officeDocument/2006/relationships/image"/><Relationship Id="rId5" Target="../media/image37.png" Type="http://schemas.openxmlformats.org/officeDocument/2006/relationships/image"/><Relationship Id="rId6" Target="../media/image38.png" Type="http://schemas.openxmlformats.org/officeDocument/2006/relationships/image"/><Relationship Id="rId7" Target="../media/image39.svg" Type="http://schemas.openxmlformats.org/officeDocument/2006/relationships/image"/><Relationship Id="rId8" Target="../media/image3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1.png" Type="http://schemas.openxmlformats.org/officeDocument/2006/relationships/image"/><Relationship Id="rId4" Target="../media/image40.png" Type="http://schemas.openxmlformats.org/officeDocument/2006/relationships/image"/><Relationship Id="rId5" Target="../media/image41.png" Type="http://schemas.openxmlformats.org/officeDocument/2006/relationships/image"/><Relationship Id="rId6" Target="../media/image3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1.png" Type="http://schemas.openxmlformats.org/officeDocument/2006/relationships/image"/><Relationship Id="rId4" Target="../media/image42.png" Type="http://schemas.openxmlformats.org/officeDocument/2006/relationships/image"/><Relationship Id="rId5" Target="../media/image33.png" Type="http://schemas.openxmlformats.org/officeDocument/2006/relationships/image"/><Relationship Id="rId6" Target="../media/image4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1.png" Type="http://schemas.openxmlformats.org/officeDocument/2006/relationships/image"/><Relationship Id="rId4" Target="../media/image44.png" Type="http://schemas.openxmlformats.org/officeDocument/2006/relationships/image"/><Relationship Id="rId5" Target="../media/image45.png" Type="http://schemas.openxmlformats.org/officeDocument/2006/relationships/image"/><Relationship Id="rId6" Target="../media/image3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1.png" Type="http://schemas.openxmlformats.org/officeDocument/2006/relationships/image"/><Relationship Id="rId4" Target="../media/image46.png" Type="http://schemas.openxmlformats.org/officeDocument/2006/relationships/image"/><Relationship Id="rId5" Target="../media/image47.png" Type="http://schemas.openxmlformats.org/officeDocument/2006/relationships/image"/><Relationship Id="rId6" Target="../media/image3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1.png" Type="http://schemas.openxmlformats.org/officeDocument/2006/relationships/image"/><Relationship Id="rId4" Target="../media/image48.png" Type="http://schemas.openxmlformats.org/officeDocument/2006/relationships/image"/><Relationship Id="rId5" Target="../media/image49.png" Type="http://schemas.openxmlformats.org/officeDocument/2006/relationships/image"/><Relationship Id="rId6" Target="../media/image3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1.png" Type="http://schemas.openxmlformats.org/officeDocument/2006/relationships/image"/><Relationship Id="rId4" Target="../media/image50.png" Type="http://schemas.openxmlformats.org/officeDocument/2006/relationships/image"/><Relationship Id="rId5" Target="../media/image51.png" Type="http://schemas.openxmlformats.org/officeDocument/2006/relationships/image"/><Relationship Id="rId6" Target="../media/image33.png" Type="http://schemas.openxmlformats.org/officeDocument/2006/relationships/image"/><Relationship Id="rId7" Target="../media/image52.png" Type="http://schemas.openxmlformats.org/officeDocument/2006/relationships/image"/><Relationship Id="rId8" Target="../media/image53.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1.png" Type="http://schemas.openxmlformats.org/officeDocument/2006/relationships/image"/><Relationship Id="rId4" Target="../media/image54.png" Type="http://schemas.openxmlformats.org/officeDocument/2006/relationships/image"/><Relationship Id="rId5" Target="../media/image55.png" Type="http://schemas.openxmlformats.org/officeDocument/2006/relationships/image"/><Relationship Id="rId6" Target="../media/image3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1.png" Type="http://schemas.openxmlformats.org/officeDocument/2006/relationships/image"/><Relationship Id="rId4" Target="../media/image56.png" Type="http://schemas.openxmlformats.org/officeDocument/2006/relationships/image"/><Relationship Id="rId5" Target="../media/image57.png" Type="http://schemas.openxmlformats.org/officeDocument/2006/relationships/image"/><Relationship Id="rId6" Target="../media/image33.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1.png" Type="http://schemas.openxmlformats.org/officeDocument/2006/relationships/image"/><Relationship Id="rId4" Target="../media/image58.png" Type="http://schemas.openxmlformats.org/officeDocument/2006/relationships/image"/><Relationship Id="rId5" Target="../media/image59.png" Type="http://schemas.openxmlformats.org/officeDocument/2006/relationships/image"/><Relationship Id="rId6" Target="../media/image60.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61.png" Type="http://schemas.openxmlformats.org/officeDocument/2006/relationships/image"/><Relationship Id="rId4" Target="../media/image1.png" Type="http://schemas.openxmlformats.org/officeDocument/2006/relationships/image"/><Relationship Id="rId5" Target="../media/image62.png" Type="http://schemas.openxmlformats.org/officeDocument/2006/relationships/image"/><Relationship Id="rId6" Target="../media/image63.png" Type="http://schemas.openxmlformats.org/officeDocument/2006/relationships/image"/><Relationship Id="rId7" Target="../media/image64.png" Type="http://schemas.openxmlformats.org/officeDocument/2006/relationships/image"/><Relationship Id="rId8" Target="../media/image65.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1.png" Type="http://schemas.openxmlformats.org/officeDocument/2006/relationships/image"/><Relationship Id="rId4" Target="../media/image66.png" Type="http://schemas.openxmlformats.org/officeDocument/2006/relationships/image"/><Relationship Id="rId5" Target="../media/image21.png" Type="http://schemas.openxmlformats.org/officeDocument/2006/relationships/image"/><Relationship Id="rId6" Target="../media/image67.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1.png" Type="http://schemas.openxmlformats.org/officeDocument/2006/relationships/image"/><Relationship Id="rId4" Target="../media/image21.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68.png" Type="http://schemas.openxmlformats.org/officeDocument/2006/relationships/image"/><Relationship Id="rId4" Target="../media/image1.png" Type="http://schemas.openxmlformats.org/officeDocument/2006/relationships/image"/><Relationship Id="rId5" Target="../media/image69.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1.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5.png" Type="http://schemas.openxmlformats.org/officeDocument/2006/relationships/image"/><Relationship Id="rId11" Target="../media/image76.png" Type="http://schemas.openxmlformats.org/officeDocument/2006/relationships/image"/><Relationship Id="rId12" Target="../media/image65.png" Type="http://schemas.openxmlformats.org/officeDocument/2006/relationships/image"/><Relationship Id="rId13" Target="../media/image77.png" Type="http://schemas.openxmlformats.org/officeDocument/2006/relationships/image"/><Relationship Id="rId2" Target="../notesSlides/notesSlide2.xml" Type="http://schemas.openxmlformats.org/officeDocument/2006/relationships/notesSlide"/><Relationship Id="rId3" Target="../media/image70.png" Type="http://schemas.openxmlformats.org/officeDocument/2006/relationships/image"/><Relationship Id="rId4" Target="../media/image71.png" Type="http://schemas.openxmlformats.org/officeDocument/2006/relationships/image"/><Relationship Id="rId5" Target="../media/image72.svg" Type="http://schemas.openxmlformats.org/officeDocument/2006/relationships/image"/><Relationship Id="rId6" Target="../media/image73.png" Type="http://schemas.openxmlformats.org/officeDocument/2006/relationships/image"/><Relationship Id="rId7" Target="../media/image74.svg" Type="http://schemas.openxmlformats.org/officeDocument/2006/relationships/image"/><Relationship Id="rId8" Target="../media/image61.png" Type="http://schemas.openxmlformats.org/officeDocument/2006/relationships/image"/><Relationship Id="rId9" Target="../media/image6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3221348" y="9277476"/>
            <a:ext cx="4838096" cy="1009524"/>
            <a:chOff x="0" y="0"/>
            <a:chExt cx="6450794" cy="1346032"/>
          </a:xfrm>
        </p:grpSpPr>
        <p:sp>
          <p:nvSpPr>
            <p:cNvPr name="Freeform 3" id="3"/>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3"/>
              <a:stretch>
                <a:fillRect l="0" t="0" r="0" b="3"/>
              </a:stretch>
            </a:blipFill>
          </p:spPr>
        </p:sp>
      </p:grpSp>
      <p:grpSp>
        <p:nvGrpSpPr>
          <p:cNvPr name="Group 4" id="4"/>
          <p:cNvGrpSpPr>
            <a:grpSpLocks noChangeAspect="true"/>
          </p:cNvGrpSpPr>
          <p:nvPr/>
        </p:nvGrpSpPr>
        <p:grpSpPr>
          <a:xfrm rot="0">
            <a:off x="38294" y="0"/>
            <a:ext cx="18286222" cy="10041147"/>
            <a:chOff x="0" y="0"/>
            <a:chExt cx="24381630" cy="13388196"/>
          </a:xfrm>
        </p:grpSpPr>
        <p:sp>
          <p:nvSpPr>
            <p:cNvPr name="Freeform 5" id="5"/>
            <p:cNvSpPr/>
            <p:nvPr/>
          </p:nvSpPr>
          <p:spPr>
            <a:xfrm flipH="false" flipV="false" rot="0">
              <a:off x="0" y="0"/>
              <a:ext cx="24381588" cy="13388212"/>
            </a:xfrm>
            <a:custGeom>
              <a:avLst/>
              <a:gdLst/>
              <a:ahLst/>
              <a:cxnLst/>
              <a:rect r="r" b="b" t="t" l="l"/>
              <a:pathLst>
                <a:path h="13388212" w="24381588">
                  <a:moveTo>
                    <a:pt x="0" y="0"/>
                  </a:moveTo>
                  <a:lnTo>
                    <a:pt x="24381588" y="0"/>
                  </a:lnTo>
                  <a:lnTo>
                    <a:pt x="24381588" y="13388212"/>
                  </a:lnTo>
                  <a:lnTo>
                    <a:pt x="0" y="13388212"/>
                  </a:lnTo>
                  <a:lnTo>
                    <a:pt x="0" y="0"/>
                  </a:lnTo>
                  <a:close/>
                </a:path>
              </a:pathLst>
            </a:custGeom>
            <a:blipFill>
              <a:blip r:embed="rId4"/>
              <a:stretch>
                <a:fillRect l="0" t="0" r="0" b="-2420"/>
              </a:stretch>
            </a:blipFill>
          </p:spPr>
        </p:sp>
      </p:grpSp>
      <p:sp>
        <p:nvSpPr>
          <p:cNvPr name="Freeform 6" id="6"/>
          <p:cNvSpPr/>
          <p:nvPr/>
        </p:nvSpPr>
        <p:spPr>
          <a:xfrm flipH="false" flipV="false" rot="0">
            <a:off x="0" y="8923559"/>
            <a:ext cx="7315200" cy="1717358"/>
          </a:xfrm>
          <a:custGeom>
            <a:avLst/>
            <a:gdLst/>
            <a:ahLst/>
            <a:cxnLst/>
            <a:rect r="r" b="b" t="t" l="l"/>
            <a:pathLst>
              <a:path h="1717358" w="7315200">
                <a:moveTo>
                  <a:pt x="0" y="0"/>
                </a:moveTo>
                <a:lnTo>
                  <a:pt x="7315200" y="0"/>
                </a:lnTo>
                <a:lnTo>
                  <a:pt x="7315200" y="1717358"/>
                </a:lnTo>
                <a:lnTo>
                  <a:pt x="0" y="17173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7353494" y="7642189"/>
            <a:ext cx="7887205" cy="2644811"/>
          </a:xfrm>
          <a:custGeom>
            <a:avLst/>
            <a:gdLst/>
            <a:ahLst/>
            <a:cxnLst/>
            <a:rect r="r" b="b" t="t" l="l"/>
            <a:pathLst>
              <a:path h="2644811" w="7887205">
                <a:moveTo>
                  <a:pt x="0" y="0"/>
                </a:moveTo>
                <a:lnTo>
                  <a:pt x="7887205" y="0"/>
                </a:lnTo>
                <a:lnTo>
                  <a:pt x="7887205" y="2644811"/>
                </a:lnTo>
                <a:lnTo>
                  <a:pt x="0" y="264481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4815714" y="5143500"/>
            <a:ext cx="3508802" cy="4114800"/>
          </a:xfrm>
          <a:custGeom>
            <a:avLst/>
            <a:gdLst/>
            <a:ahLst/>
            <a:cxnLst/>
            <a:rect r="r" b="b" t="t" l="l"/>
            <a:pathLst>
              <a:path h="4114800" w="3508802">
                <a:moveTo>
                  <a:pt x="0" y="0"/>
                </a:moveTo>
                <a:lnTo>
                  <a:pt x="3508802" y="0"/>
                </a:lnTo>
                <a:lnTo>
                  <a:pt x="3508802"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9" id="9"/>
          <p:cNvSpPr txBox="true"/>
          <p:nvPr/>
        </p:nvSpPr>
        <p:spPr>
          <a:xfrm rot="0">
            <a:off x="2952097" y="5772822"/>
            <a:ext cx="14002658" cy="2789481"/>
          </a:xfrm>
          <a:prstGeom prst="rect">
            <a:avLst/>
          </a:prstGeom>
        </p:spPr>
        <p:txBody>
          <a:bodyPr anchor="t" rtlCol="false" tIns="0" lIns="0" bIns="0" rIns="0">
            <a:spAutoFit/>
          </a:bodyPr>
          <a:lstStyle/>
          <a:p>
            <a:pPr algn="ctr">
              <a:lnSpc>
                <a:spcPts val="3831"/>
              </a:lnSpc>
            </a:pPr>
          </a:p>
          <a:p>
            <a:pPr algn="ctr">
              <a:lnSpc>
                <a:spcPts val="5960"/>
              </a:lnSpc>
            </a:pPr>
            <a:r>
              <a:rPr lang="en-US" sz="4967">
                <a:solidFill>
                  <a:srgbClr val="4472C4"/>
                </a:solidFill>
                <a:latin typeface="Copperplate Gothic 32 AB Bold"/>
                <a:ea typeface="Copperplate Gothic 32 AB Bold"/>
                <a:cs typeface="Copperplate Gothic 32 AB Bold"/>
                <a:sym typeface="Copperplate Gothic 32 AB Bold"/>
              </a:rPr>
              <a:t>WORLD WIDE ENERGY CONSUMPTION ANALYSIS using mysql</a:t>
            </a:r>
          </a:p>
        </p:txBody>
      </p:sp>
      <p:sp>
        <p:nvSpPr>
          <p:cNvPr name="Freeform 10" id="10"/>
          <p:cNvSpPr/>
          <p:nvPr/>
        </p:nvSpPr>
        <p:spPr>
          <a:xfrm flipH="false" flipV="false" rot="0">
            <a:off x="38294" y="5162676"/>
            <a:ext cx="3508802" cy="4114800"/>
          </a:xfrm>
          <a:custGeom>
            <a:avLst/>
            <a:gdLst/>
            <a:ahLst/>
            <a:cxnLst/>
            <a:rect r="r" b="b" t="t" l="l"/>
            <a:pathLst>
              <a:path h="4114800" w="3508802">
                <a:moveTo>
                  <a:pt x="0" y="0"/>
                </a:moveTo>
                <a:lnTo>
                  <a:pt x="3508802" y="0"/>
                </a:lnTo>
                <a:lnTo>
                  <a:pt x="3508802"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CF5">
                <a:alpha val="100000"/>
              </a:srgbClr>
            </a:gs>
            <a:gs pos="100000">
              <a:srgbClr val="D8D5CA">
                <a:alpha val="100000"/>
              </a:srgbClr>
            </a:gs>
          </a:gsLst>
          <a:lin ang="5400000"/>
        </a:gra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3221348" y="9277476"/>
            <a:ext cx="4838096" cy="1009524"/>
            <a:chOff x="0" y="0"/>
            <a:chExt cx="6450794" cy="1346032"/>
          </a:xfrm>
        </p:grpSpPr>
        <p:sp>
          <p:nvSpPr>
            <p:cNvPr name="Freeform 3" id="3"/>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2"/>
              <a:stretch>
                <a:fillRect l="0" t="0" r="0" b="3"/>
              </a:stretch>
            </a:blipFill>
          </p:spPr>
        </p:sp>
      </p:grpSp>
      <p:sp>
        <p:nvSpPr>
          <p:cNvPr name="TextBox 4" id="4"/>
          <p:cNvSpPr txBox="true"/>
          <p:nvPr/>
        </p:nvSpPr>
        <p:spPr>
          <a:xfrm rot="0">
            <a:off x="1198143" y="1927783"/>
            <a:ext cx="10328250" cy="4267521"/>
          </a:xfrm>
          <a:prstGeom prst="rect">
            <a:avLst/>
          </a:prstGeom>
        </p:spPr>
        <p:txBody>
          <a:bodyPr anchor="t" rtlCol="false" tIns="0" lIns="0" bIns="0" rIns="0">
            <a:spAutoFit/>
          </a:bodyPr>
          <a:lstStyle/>
          <a:p>
            <a:pPr algn="l" marL="485775" indent="-242888" lvl="1">
              <a:lnSpc>
                <a:spcPts val="3600"/>
              </a:lnSpc>
              <a:buFont typeface="Arial"/>
              <a:buChar char="•"/>
            </a:pPr>
            <a:r>
              <a:rPr lang="en-US" b="true" sz="3000">
                <a:solidFill>
                  <a:srgbClr val="000000"/>
                </a:solidFill>
                <a:latin typeface="Calibri (MS) Bold"/>
                <a:ea typeface="Calibri (MS) Bold"/>
                <a:cs typeface="Calibri (MS) Bold"/>
                <a:sym typeface="Calibri (MS) Bold"/>
              </a:rPr>
              <a:t>Myself Pavan Suresh Ahire,</a:t>
            </a:r>
          </a:p>
          <a:p>
            <a:pPr algn="l" marL="485775" indent="-242888" lvl="1">
              <a:lnSpc>
                <a:spcPts val="3600"/>
              </a:lnSpc>
              <a:buFont typeface="Arial"/>
              <a:buChar char="•"/>
            </a:pPr>
            <a:r>
              <a:rPr lang="en-US" b="true" sz="3000">
                <a:solidFill>
                  <a:srgbClr val="000000"/>
                </a:solidFill>
                <a:latin typeface="Calibri (MS) Bold"/>
                <a:ea typeface="Calibri (MS) Bold"/>
                <a:cs typeface="Calibri (MS) Bold"/>
                <a:sym typeface="Calibri (MS) Bold"/>
              </a:rPr>
              <a:t>I have a Bachlor’s Degree in Computer Application</a:t>
            </a:r>
          </a:p>
          <a:p>
            <a:pPr algn="l" marL="485775" indent="-242888" lvl="1">
              <a:lnSpc>
                <a:spcPts val="3600"/>
              </a:lnSpc>
            </a:pPr>
          </a:p>
          <a:p>
            <a:pPr algn="l" marL="485775" indent="-242888" lvl="1">
              <a:lnSpc>
                <a:spcPts val="3600"/>
              </a:lnSpc>
              <a:buFont typeface="Arial"/>
              <a:buChar char="•"/>
            </a:pPr>
            <a:r>
              <a:rPr lang="en-US" b="true" sz="3000">
                <a:solidFill>
                  <a:srgbClr val="000000"/>
                </a:solidFill>
                <a:latin typeface="Arial Bold"/>
                <a:ea typeface="Arial Bold"/>
                <a:cs typeface="Arial Bold"/>
                <a:sym typeface="Arial Bold"/>
              </a:rPr>
              <a:t>I want to learn Data Science because it helps me understand data, find useful insights, and make better decisions using real-world information</a:t>
            </a:r>
            <a:r>
              <a:rPr lang="en-US" sz="3000">
                <a:solidFill>
                  <a:srgbClr val="000000"/>
                </a:solidFill>
                <a:latin typeface="Arial"/>
                <a:ea typeface="Arial"/>
                <a:cs typeface="Arial"/>
                <a:sym typeface="Arial"/>
              </a:rPr>
              <a:t>.</a:t>
            </a:r>
          </a:p>
          <a:p>
            <a:pPr algn="l" marL="485775" indent="-242888" lvl="1">
              <a:lnSpc>
                <a:spcPts val="3600"/>
              </a:lnSpc>
            </a:pPr>
          </a:p>
          <a:p>
            <a:pPr algn="l" marL="485775" indent="-242888" lvl="1">
              <a:lnSpc>
                <a:spcPts val="3600"/>
              </a:lnSpc>
              <a:buFont typeface="Arial"/>
              <a:buChar char="•"/>
            </a:pPr>
            <a:r>
              <a:rPr lang="en-US" b="true" sz="3000">
                <a:solidFill>
                  <a:srgbClr val="000000"/>
                </a:solidFill>
                <a:latin typeface="Arial Bold"/>
                <a:ea typeface="Arial Bold"/>
                <a:cs typeface="Arial Bold"/>
                <a:sym typeface="Arial Bold"/>
              </a:rPr>
              <a:t>Linkdine :- </a:t>
            </a:r>
            <a:r>
              <a:rPr lang="en-US" sz="3000" u="sng">
                <a:solidFill>
                  <a:srgbClr val="0070C0"/>
                </a:solidFill>
                <a:latin typeface="Arial"/>
                <a:ea typeface="Arial"/>
                <a:cs typeface="Arial"/>
                <a:sym typeface="Arial"/>
                <a:hlinkClick r:id="rId3" tooltip="http://www.linkedin.com/in/pavan-ahire-260940364"/>
              </a:rPr>
              <a:t>www.linkedin.com/in/pavan-ahire-260940364</a:t>
            </a:r>
          </a:p>
          <a:p>
            <a:pPr algn="l" marL="594360" indent="-297180" lvl="1">
              <a:lnSpc>
                <a:spcPts val="4320"/>
              </a:lnSpc>
              <a:buFont typeface="Arial"/>
              <a:buChar char="•"/>
            </a:pPr>
            <a:r>
              <a:rPr lang="en-US" b="true" sz="3600">
                <a:solidFill>
                  <a:srgbClr val="000000"/>
                </a:solidFill>
                <a:latin typeface="Calibri (MS) Bold"/>
                <a:ea typeface="Calibri (MS) Bold"/>
                <a:cs typeface="Calibri (MS) Bold"/>
                <a:sym typeface="Calibri (MS) Bold"/>
              </a:rPr>
              <a:t>Github :- </a:t>
            </a:r>
            <a:r>
              <a:rPr lang="en-US" sz="3600" u="sng">
                <a:solidFill>
                  <a:srgbClr val="0070C0"/>
                </a:solidFill>
                <a:latin typeface="Calibri (MS)"/>
                <a:ea typeface="Calibri (MS)"/>
                <a:cs typeface="Calibri (MS)"/>
                <a:sym typeface="Calibri (MS)"/>
                <a:hlinkClick r:id="rId4" tooltip="https://github.com/pavan-ahire"/>
              </a:rPr>
              <a:t>https://github.com/pavan-ahire</a:t>
            </a:r>
          </a:p>
        </p:txBody>
      </p:sp>
      <p:sp>
        <p:nvSpPr>
          <p:cNvPr name="Freeform 5" id="5"/>
          <p:cNvSpPr/>
          <p:nvPr/>
        </p:nvSpPr>
        <p:spPr>
          <a:xfrm flipH="false" flipV="false" rot="-10800000">
            <a:off x="11087100" y="0"/>
            <a:ext cx="7200900" cy="7200900"/>
          </a:xfrm>
          <a:custGeom>
            <a:avLst/>
            <a:gdLst/>
            <a:ahLst/>
            <a:cxnLst/>
            <a:rect r="r" b="b" t="t" l="l"/>
            <a:pathLst>
              <a:path h="7200900" w="7200900">
                <a:moveTo>
                  <a:pt x="0" y="0"/>
                </a:moveTo>
                <a:lnTo>
                  <a:pt x="7200900" y="0"/>
                </a:lnTo>
                <a:lnTo>
                  <a:pt x="7200900" y="7200900"/>
                </a:lnTo>
                <a:lnTo>
                  <a:pt x="0" y="72009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0" y="7642189"/>
            <a:ext cx="7887205" cy="2644811"/>
          </a:xfrm>
          <a:custGeom>
            <a:avLst/>
            <a:gdLst/>
            <a:ahLst/>
            <a:cxnLst/>
            <a:rect r="r" b="b" t="t" l="l"/>
            <a:pathLst>
              <a:path h="2644811" w="7887205">
                <a:moveTo>
                  <a:pt x="0" y="0"/>
                </a:moveTo>
                <a:lnTo>
                  <a:pt x="7887205" y="0"/>
                </a:lnTo>
                <a:lnTo>
                  <a:pt x="7887205" y="2644811"/>
                </a:lnTo>
                <a:lnTo>
                  <a:pt x="0" y="264481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true" flipV="false" rot="0">
            <a:off x="14687550" y="1763694"/>
            <a:ext cx="2248382" cy="7494606"/>
          </a:xfrm>
          <a:custGeom>
            <a:avLst/>
            <a:gdLst/>
            <a:ahLst/>
            <a:cxnLst/>
            <a:rect r="r" b="b" t="t" l="l"/>
            <a:pathLst>
              <a:path h="7494606" w="2248382">
                <a:moveTo>
                  <a:pt x="2248382" y="0"/>
                </a:moveTo>
                <a:lnTo>
                  <a:pt x="0" y="0"/>
                </a:lnTo>
                <a:lnTo>
                  <a:pt x="0" y="7494606"/>
                </a:lnTo>
                <a:lnTo>
                  <a:pt x="2248382" y="7494606"/>
                </a:lnTo>
                <a:lnTo>
                  <a:pt x="2248382"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8" id="8"/>
          <p:cNvSpPr/>
          <p:nvPr/>
        </p:nvSpPr>
        <p:spPr>
          <a:xfrm flipH="false" flipV="false" rot="0">
            <a:off x="13179669" y="2828939"/>
            <a:ext cx="4079631" cy="8229600"/>
          </a:xfrm>
          <a:custGeom>
            <a:avLst/>
            <a:gdLst/>
            <a:ahLst/>
            <a:cxnLst/>
            <a:rect r="r" b="b" t="t" l="l"/>
            <a:pathLst>
              <a:path h="8229600" w="4079631">
                <a:moveTo>
                  <a:pt x="0" y="0"/>
                </a:moveTo>
                <a:lnTo>
                  <a:pt x="4079631" y="0"/>
                </a:lnTo>
                <a:lnTo>
                  <a:pt x="4079631" y="8229600"/>
                </a:lnTo>
                <a:lnTo>
                  <a:pt x="0" y="8229600"/>
                </a:lnTo>
                <a:lnTo>
                  <a:pt x="0" y="0"/>
                </a:lnTo>
                <a:close/>
              </a:path>
            </a:pathLst>
          </a:custGeom>
          <a:blipFill>
            <a:blip r:embed="rId11">
              <a:alphaModFix amt="70000"/>
            </a:blip>
            <a:stretch>
              <a:fillRect l="0" t="0" r="0" b="0"/>
            </a:stretch>
          </a:blipFill>
        </p:spPr>
      </p:sp>
      <p:sp>
        <p:nvSpPr>
          <p:cNvPr name="TextBox 9" id="9"/>
          <p:cNvSpPr txBox="true"/>
          <p:nvPr/>
        </p:nvSpPr>
        <p:spPr>
          <a:xfrm rot="0">
            <a:off x="732909" y="775306"/>
            <a:ext cx="8966345" cy="547683"/>
          </a:xfrm>
          <a:prstGeom prst="rect">
            <a:avLst/>
          </a:prstGeom>
        </p:spPr>
        <p:txBody>
          <a:bodyPr anchor="t" rtlCol="false" tIns="0" lIns="0" bIns="0" rIns="0">
            <a:spAutoFit/>
          </a:bodyPr>
          <a:lstStyle/>
          <a:p>
            <a:pPr algn="l">
              <a:lnSpc>
                <a:spcPts val="4608"/>
              </a:lnSpc>
            </a:pPr>
            <a:r>
              <a:rPr lang="en-US" sz="4800">
                <a:solidFill>
                  <a:srgbClr val="FF0000"/>
                </a:solidFill>
                <a:latin typeface="Lato"/>
                <a:ea typeface="Lato"/>
                <a:cs typeface="Lato"/>
                <a:sym typeface="Lato"/>
              </a:rPr>
              <a:t>About me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7105860" y="7284453"/>
            <a:ext cx="15119489" cy="3986047"/>
          </a:xfrm>
          <a:custGeom>
            <a:avLst/>
            <a:gdLst/>
            <a:ahLst/>
            <a:cxnLst/>
            <a:rect r="r" b="b" t="t" l="l"/>
            <a:pathLst>
              <a:path h="3986047" w="15119489">
                <a:moveTo>
                  <a:pt x="0" y="0"/>
                </a:moveTo>
                <a:lnTo>
                  <a:pt x="15119489" y="0"/>
                </a:lnTo>
                <a:lnTo>
                  <a:pt x="15119489" y="3986046"/>
                </a:lnTo>
                <a:lnTo>
                  <a:pt x="0" y="39860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800000">
            <a:off x="7811035" y="-17616"/>
            <a:ext cx="10248409" cy="10304616"/>
          </a:xfrm>
          <a:custGeom>
            <a:avLst/>
            <a:gdLst/>
            <a:ahLst/>
            <a:cxnLst/>
            <a:rect r="r" b="b" t="t" l="l"/>
            <a:pathLst>
              <a:path h="10304616" w="10248409">
                <a:moveTo>
                  <a:pt x="0" y="0"/>
                </a:moveTo>
                <a:lnTo>
                  <a:pt x="10248409" y="0"/>
                </a:lnTo>
                <a:lnTo>
                  <a:pt x="10248409" y="10304616"/>
                </a:lnTo>
                <a:lnTo>
                  <a:pt x="0" y="1030461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a:grpSpLocks noChangeAspect="true"/>
          </p:cNvGrpSpPr>
          <p:nvPr/>
        </p:nvGrpSpPr>
        <p:grpSpPr>
          <a:xfrm rot="0">
            <a:off x="13221348" y="9277476"/>
            <a:ext cx="4838096" cy="1009524"/>
            <a:chOff x="0" y="0"/>
            <a:chExt cx="6450794" cy="1346032"/>
          </a:xfrm>
        </p:grpSpPr>
        <p:sp>
          <p:nvSpPr>
            <p:cNvPr name="Freeform 5" id="5"/>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6"/>
              <a:stretch>
                <a:fillRect l="0" t="0" r="0" b="3"/>
              </a:stretch>
            </a:blipFill>
          </p:spPr>
        </p:sp>
      </p:grpSp>
      <p:grpSp>
        <p:nvGrpSpPr>
          <p:cNvPr name="Group 6" id="6"/>
          <p:cNvGrpSpPr/>
          <p:nvPr/>
        </p:nvGrpSpPr>
        <p:grpSpPr>
          <a:xfrm rot="0">
            <a:off x="1257300" y="547688"/>
            <a:ext cx="15773400" cy="1988345"/>
            <a:chOff x="0" y="0"/>
            <a:chExt cx="21031200" cy="2651126"/>
          </a:xfrm>
        </p:grpSpPr>
        <p:sp>
          <p:nvSpPr>
            <p:cNvPr name="Freeform 7" id="7"/>
            <p:cNvSpPr/>
            <p:nvPr/>
          </p:nvSpPr>
          <p:spPr>
            <a:xfrm flipH="false" flipV="false" rot="0">
              <a:off x="0" y="0"/>
              <a:ext cx="21031200" cy="2651126"/>
            </a:xfrm>
            <a:custGeom>
              <a:avLst/>
              <a:gdLst/>
              <a:ahLst/>
              <a:cxnLst/>
              <a:rect r="r" b="b" t="t" l="l"/>
              <a:pathLst>
                <a:path h="2651126" w="21031200">
                  <a:moveTo>
                    <a:pt x="0" y="0"/>
                  </a:moveTo>
                  <a:lnTo>
                    <a:pt x="21031200" y="0"/>
                  </a:lnTo>
                  <a:lnTo>
                    <a:pt x="21031200" y="2651126"/>
                  </a:lnTo>
                  <a:lnTo>
                    <a:pt x="0" y="2651126"/>
                  </a:lnTo>
                  <a:close/>
                </a:path>
              </a:pathLst>
            </a:custGeom>
            <a:solidFill>
              <a:srgbClr val="000000">
                <a:alpha val="0"/>
              </a:srgbClr>
            </a:solidFill>
          </p:spPr>
        </p:sp>
        <p:sp>
          <p:nvSpPr>
            <p:cNvPr name="TextBox 8" id="8"/>
            <p:cNvSpPr txBox="true"/>
            <p:nvPr/>
          </p:nvSpPr>
          <p:spPr>
            <a:xfrm>
              <a:off x="0" y="85725"/>
              <a:ext cx="21031200" cy="2565401"/>
            </a:xfrm>
            <a:prstGeom prst="rect">
              <a:avLst/>
            </a:prstGeom>
          </p:spPr>
          <p:txBody>
            <a:bodyPr anchor="ctr" rtlCol="false" tIns="0" lIns="0" bIns="0" rIns="0"/>
            <a:lstStyle/>
            <a:p>
              <a:pPr algn="l" marL="1554480" indent="-777240" lvl="1">
                <a:lnSpc>
                  <a:spcPts val="7776"/>
                </a:lnSpc>
                <a:buFont typeface="Arial"/>
                <a:buChar char="•"/>
              </a:pPr>
              <a:r>
                <a:rPr lang="en-US" sz="7200">
                  <a:solidFill>
                    <a:srgbClr val="000000"/>
                  </a:solidFill>
                  <a:latin typeface="Norwester"/>
                  <a:ea typeface="Norwester"/>
                  <a:cs typeface="Norwester"/>
                  <a:sym typeface="Norwester"/>
                </a:rPr>
                <a:t>Objective of the project</a:t>
              </a:r>
            </a:p>
          </p:txBody>
        </p:sp>
      </p:grpSp>
      <p:sp>
        <p:nvSpPr>
          <p:cNvPr name="TextBox 9" id="9"/>
          <p:cNvSpPr txBox="true"/>
          <p:nvPr/>
        </p:nvSpPr>
        <p:spPr>
          <a:xfrm rot="0">
            <a:off x="334330" y="2333844"/>
            <a:ext cx="17452469" cy="4400460"/>
          </a:xfrm>
          <a:prstGeom prst="rect">
            <a:avLst/>
          </a:prstGeom>
        </p:spPr>
        <p:txBody>
          <a:bodyPr anchor="t" rtlCol="false" tIns="0" lIns="0" bIns="0" rIns="0">
            <a:spAutoFit/>
          </a:bodyPr>
          <a:lstStyle/>
          <a:p>
            <a:pPr algn="ctr">
              <a:lnSpc>
                <a:spcPts val="6993"/>
              </a:lnSpc>
            </a:pPr>
            <a:r>
              <a:rPr lang="en-US" sz="4995" b="true">
                <a:solidFill>
                  <a:srgbClr val="000000"/>
                </a:solidFill>
                <a:latin typeface="Canva Sans Bold"/>
                <a:ea typeface="Canva Sans Bold"/>
                <a:cs typeface="Canva Sans Bold"/>
                <a:sym typeface="Canva Sans Bold"/>
              </a:rPr>
              <a:t>“The objective of this project is to analyze global energy consumption </a:t>
            </a:r>
            <a:r>
              <a:rPr lang="en-US" b="true" sz="4995">
                <a:solidFill>
                  <a:srgbClr val="000000"/>
                </a:solidFill>
                <a:latin typeface="Canva Sans Bold"/>
                <a:ea typeface="Canva Sans Bold"/>
                <a:cs typeface="Canva Sans Bold"/>
                <a:sym typeface="Canva Sans Bold"/>
              </a:rPr>
              <a:t>data using SQL, compare usage patterns across countries, and generate insights on trends, peak demand, and efficiency to support informed policy-making and sustainable energy management.”</a:t>
            </a:r>
          </a:p>
        </p:txBody>
      </p:sp>
      <p:sp>
        <p:nvSpPr>
          <p:cNvPr name="Freeform 10" id="10"/>
          <p:cNvSpPr/>
          <p:nvPr/>
        </p:nvSpPr>
        <p:spPr>
          <a:xfrm flipH="false" flipV="false" rot="0">
            <a:off x="0" y="7726680"/>
            <a:ext cx="7315200" cy="2560320"/>
          </a:xfrm>
          <a:custGeom>
            <a:avLst/>
            <a:gdLst/>
            <a:ahLst/>
            <a:cxnLst/>
            <a:rect r="r" b="b" t="t" l="l"/>
            <a:pathLst>
              <a:path h="2560320" w="7315200">
                <a:moveTo>
                  <a:pt x="0" y="0"/>
                </a:moveTo>
                <a:lnTo>
                  <a:pt x="7315200" y="0"/>
                </a:lnTo>
                <a:lnTo>
                  <a:pt x="7315200" y="2560320"/>
                </a:lnTo>
                <a:lnTo>
                  <a:pt x="0" y="256032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3221348" y="9277476"/>
            <a:ext cx="4838096" cy="1009524"/>
            <a:chOff x="0" y="0"/>
            <a:chExt cx="6450794" cy="1346032"/>
          </a:xfrm>
        </p:grpSpPr>
        <p:sp>
          <p:nvSpPr>
            <p:cNvPr name="Freeform 3" id="3"/>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2"/>
              <a:stretch>
                <a:fillRect l="0" t="0" r="0" b="3"/>
              </a:stretch>
            </a:blipFill>
          </p:spPr>
        </p:sp>
      </p:grpSp>
      <p:sp>
        <p:nvSpPr>
          <p:cNvPr name="Freeform 4" id="4"/>
          <p:cNvSpPr/>
          <p:nvPr/>
        </p:nvSpPr>
        <p:spPr>
          <a:xfrm flipH="false" flipV="false" rot="0">
            <a:off x="576370" y="843904"/>
            <a:ext cx="12013029" cy="9250032"/>
          </a:xfrm>
          <a:custGeom>
            <a:avLst/>
            <a:gdLst/>
            <a:ahLst/>
            <a:cxnLst/>
            <a:rect r="r" b="b" t="t" l="l"/>
            <a:pathLst>
              <a:path h="9250032" w="12013029">
                <a:moveTo>
                  <a:pt x="0" y="0"/>
                </a:moveTo>
                <a:lnTo>
                  <a:pt x="12013028" y="0"/>
                </a:lnTo>
                <a:lnTo>
                  <a:pt x="12013028" y="9250032"/>
                </a:lnTo>
                <a:lnTo>
                  <a:pt x="0" y="9250032"/>
                </a:lnTo>
                <a:lnTo>
                  <a:pt x="0" y="0"/>
                </a:lnTo>
                <a:close/>
              </a:path>
            </a:pathLst>
          </a:custGeom>
          <a:blipFill>
            <a:blip r:embed="rId3"/>
            <a:stretch>
              <a:fillRect l="0" t="0" r="0" b="0"/>
            </a:stretch>
          </a:blipFill>
        </p:spPr>
      </p:sp>
      <p:sp>
        <p:nvSpPr>
          <p:cNvPr name="TextBox 5" id="5"/>
          <p:cNvSpPr txBox="true"/>
          <p:nvPr/>
        </p:nvSpPr>
        <p:spPr>
          <a:xfrm rot="0">
            <a:off x="576370" y="272358"/>
            <a:ext cx="9162776" cy="571546"/>
          </a:xfrm>
          <a:prstGeom prst="rect">
            <a:avLst/>
          </a:prstGeom>
        </p:spPr>
        <p:txBody>
          <a:bodyPr anchor="t" rtlCol="false" tIns="0" lIns="0" bIns="0" rIns="0">
            <a:spAutoFit/>
          </a:bodyPr>
          <a:lstStyle/>
          <a:p>
            <a:pPr algn="ctr">
              <a:lnSpc>
                <a:spcPts val="4048"/>
              </a:lnSpc>
              <a:spcBef>
                <a:spcPct val="0"/>
              </a:spcBef>
            </a:pPr>
            <a:r>
              <a:rPr lang="en-US" sz="3373">
                <a:solidFill>
                  <a:srgbClr val="000000"/>
                </a:solidFill>
                <a:latin typeface="Copperplate Gothic 32 AB Bold"/>
                <a:ea typeface="Copperplate Gothic 32 AB Bold"/>
                <a:cs typeface="Copperplate Gothic 32 AB Bold"/>
                <a:sym typeface="Copperplate Gothic 32 AB Bold"/>
              </a:rPr>
              <a:t>Entity relationship daigram (erd)</a:t>
            </a:r>
          </a:p>
        </p:txBody>
      </p:sp>
      <p:sp>
        <p:nvSpPr>
          <p:cNvPr name="TextBox 6" id="6"/>
          <p:cNvSpPr txBox="true"/>
          <p:nvPr/>
        </p:nvSpPr>
        <p:spPr>
          <a:xfrm rot="0">
            <a:off x="11755439" y="1019175"/>
            <a:ext cx="4838096" cy="8009609"/>
          </a:xfrm>
          <a:prstGeom prst="rect">
            <a:avLst/>
          </a:prstGeom>
        </p:spPr>
        <p:txBody>
          <a:bodyPr anchor="t" rtlCol="false" tIns="0" lIns="0" bIns="0" rIns="0">
            <a:spAutoFit/>
          </a:bodyPr>
          <a:lstStyle/>
          <a:p>
            <a:pPr algn="l" marL="575993" indent="-287997" lvl="1">
              <a:lnSpc>
                <a:spcPts val="3201"/>
              </a:lnSpc>
              <a:buFont typeface="Arial"/>
              <a:buChar char="•"/>
            </a:pPr>
            <a:r>
              <a:rPr lang="en-US" b="true" sz="2667">
                <a:solidFill>
                  <a:srgbClr val="000000"/>
                </a:solidFill>
                <a:latin typeface="Canva Sans Bold"/>
                <a:ea typeface="Canva Sans Bold"/>
                <a:cs typeface="Canva Sans Bold"/>
                <a:sym typeface="Canva Sans Bold"/>
              </a:rPr>
              <a:t>country</a:t>
            </a:r>
            <a:r>
              <a:rPr lang="en-US" sz="2667">
                <a:solidFill>
                  <a:srgbClr val="000000"/>
                </a:solidFill>
                <a:latin typeface="Canva Sans"/>
                <a:ea typeface="Canva Sans"/>
                <a:cs typeface="Canva Sans"/>
                <a:sym typeface="Canva Sans"/>
              </a:rPr>
              <a:t> :- table is the central table linking all others.</a:t>
            </a:r>
          </a:p>
          <a:p>
            <a:pPr algn="l">
              <a:lnSpc>
                <a:spcPts val="3201"/>
              </a:lnSpc>
            </a:pPr>
          </a:p>
          <a:p>
            <a:pPr algn="l" marL="575993" indent="-287997" lvl="1">
              <a:lnSpc>
                <a:spcPts val="3201"/>
              </a:lnSpc>
              <a:buFont typeface="Arial"/>
              <a:buChar char="•"/>
            </a:pPr>
            <a:r>
              <a:rPr lang="en-US" b="true" sz="2667">
                <a:solidFill>
                  <a:srgbClr val="000000"/>
                </a:solidFill>
                <a:latin typeface="Canva Sans Bold"/>
                <a:ea typeface="Canva Sans Bold"/>
                <a:cs typeface="Canva Sans Bold"/>
                <a:sym typeface="Canva Sans Bold"/>
              </a:rPr>
              <a:t>emission</a:t>
            </a:r>
            <a:r>
              <a:rPr lang="en-US" sz="2667">
                <a:solidFill>
                  <a:srgbClr val="000000"/>
                </a:solidFill>
                <a:latin typeface="Canva Sans"/>
                <a:ea typeface="Canva Sans"/>
                <a:cs typeface="Canva Sans"/>
                <a:sym typeface="Canva Sans"/>
              </a:rPr>
              <a:t>, </a:t>
            </a:r>
            <a:r>
              <a:rPr lang="en-US" b="true" sz="2667">
                <a:solidFill>
                  <a:srgbClr val="000000"/>
                </a:solidFill>
                <a:latin typeface="Canva Sans Bold"/>
                <a:ea typeface="Canva Sans Bold"/>
                <a:cs typeface="Canva Sans Bold"/>
                <a:sym typeface="Canva Sans Bold"/>
              </a:rPr>
              <a:t>consumption</a:t>
            </a:r>
            <a:r>
              <a:rPr lang="en-US" sz="2667">
                <a:solidFill>
                  <a:srgbClr val="000000"/>
                </a:solidFill>
                <a:latin typeface="Canva Sans"/>
                <a:ea typeface="Canva Sans"/>
                <a:cs typeface="Canva Sans"/>
                <a:sym typeface="Canva Sans"/>
              </a:rPr>
              <a:t>, and </a:t>
            </a:r>
            <a:r>
              <a:rPr lang="en-US" b="true" sz="2667">
                <a:solidFill>
                  <a:srgbClr val="000000"/>
                </a:solidFill>
                <a:latin typeface="Canva Sans Bold"/>
                <a:ea typeface="Canva Sans Bold"/>
                <a:cs typeface="Canva Sans Bold"/>
                <a:sym typeface="Canva Sans Bold"/>
              </a:rPr>
              <a:t>production</a:t>
            </a:r>
            <a:r>
              <a:rPr lang="en-US" sz="2667">
                <a:solidFill>
                  <a:srgbClr val="000000"/>
                </a:solidFill>
                <a:latin typeface="Canva Sans"/>
                <a:ea typeface="Canva Sans"/>
                <a:cs typeface="Canva Sans"/>
                <a:sym typeface="Canva Sans"/>
              </a:rPr>
              <a:t> tables store energy and environmental data.</a:t>
            </a:r>
          </a:p>
          <a:p>
            <a:pPr algn="l">
              <a:lnSpc>
                <a:spcPts val="3201"/>
              </a:lnSpc>
            </a:pPr>
          </a:p>
          <a:p>
            <a:pPr algn="l" marL="575993" indent="-287997" lvl="1">
              <a:lnSpc>
                <a:spcPts val="3201"/>
              </a:lnSpc>
              <a:buFont typeface="Arial"/>
              <a:buChar char="•"/>
            </a:pPr>
            <a:r>
              <a:rPr lang="en-US" b="true" sz="2667">
                <a:solidFill>
                  <a:srgbClr val="000000"/>
                </a:solidFill>
                <a:latin typeface="Canva Sans Bold"/>
                <a:ea typeface="Canva Sans Bold"/>
                <a:cs typeface="Canva Sans Bold"/>
                <a:sym typeface="Canva Sans Bold"/>
              </a:rPr>
              <a:t>gdp</a:t>
            </a:r>
            <a:r>
              <a:rPr lang="en-US" sz="2667">
                <a:solidFill>
                  <a:srgbClr val="000000"/>
                </a:solidFill>
                <a:latin typeface="Canva Sans"/>
                <a:ea typeface="Canva Sans"/>
                <a:cs typeface="Canva Sans"/>
                <a:sym typeface="Canva Sans"/>
              </a:rPr>
              <a:t> table records the yearly economic value of each country.</a:t>
            </a:r>
          </a:p>
          <a:p>
            <a:pPr algn="l">
              <a:lnSpc>
                <a:spcPts val="3201"/>
              </a:lnSpc>
            </a:pPr>
          </a:p>
          <a:p>
            <a:pPr algn="l" marL="575993" indent="-287997" lvl="1">
              <a:lnSpc>
                <a:spcPts val="3201"/>
              </a:lnSpc>
              <a:buFont typeface="Arial"/>
              <a:buChar char="•"/>
            </a:pPr>
            <a:r>
              <a:rPr lang="en-US" b="true" sz="2667">
                <a:solidFill>
                  <a:srgbClr val="000000"/>
                </a:solidFill>
                <a:latin typeface="Canva Sans Bold"/>
                <a:ea typeface="Canva Sans Bold"/>
                <a:cs typeface="Canva Sans Bold"/>
                <a:sym typeface="Canva Sans Bold"/>
              </a:rPr>
              <a:t>population </a:t>
            </a:r>
            <a:r>
              <a:rPr lang="en-US" sz="2667">
                <a:solidFill>
                  <a:srgbClr val="000000"/>
                </a:solidFill>
                <a:latin typeface="Canva Sans"/>
                <a:ea typeface="Canva Sans"/>
                <a:cs typeface="Canva Sans"/>
                <a:sym typeface="Canva Sans"/>
              </a:rPr>
              <a:t>table stores yearly population data.</a:t>
            </a:r>
          </a:p>
          <a:p>
            <a:pPr algn="l">
              <a:lnSpc>
                <a:spcPts val="3201"/>
              </a:lnSpc>
            </a:pPr>
          </a:p>
          <a:p>
            <a:pPr algn="l" marL="575993" indent="-287997" lvl="1">
              <a:lnSpc>
                <a:spcPts val="3201"/>
              </a:lnSpc>
              <a:buFont typeface="Arial"/>
              <a:buChar char="•"/>
            </a:pPr>
            <a:r>
              <a:rPr lang="en-US" sz="2667">
                <a:solidFill>
                  <a:srgbClr val="000000"/>
                </a:solidFill>
                <a:latin typeface="Canva Sans"/>
                <a:ea typeface="Canva Sans"/>
                <a:cs typeface="Canva Sans"/>
                <a:sym typeface="Canva Sans"/>
              </a:rPr>
              <a:t>All tables are connected by country and year for easy comparison and analysis.</a:t>
            </a:r>
          </a:p>
        </p:txBody>
      </p:sp>
      <p:sp>
        <p:nvSpPr>
          <p:cNvPr name="Freeform 7" id="7"/>
          <p:cNvSpPr/>
          <p:nvPr/>
        </p:nvSpPr>
        <p:spPr>
          <a:xfrm flipH="false" flipV="false" rot="0">
            <a:off x="16110585" y="1028700"/>
            <a:ext cx="2177415" cy="8229600"/>
          </a:xfrm>
          <a:custGeom>
            <a:avLst/>
            <a:gdLst/>
            <a:ahLst/>
            <a:cxnLst/>
            <a:rect r="r" b="b" t="t" l="l"/>
            <a:pathLst>
              <a:path h="8229600" w="2177415">
                <a:moveTo>
                  <a:pt x="0" y="0"/>
                </a:moveTo>
                <a:lnTo>
                  <a:pt x="2177415" y="0"/>
                </a:lnTo>
                <a:lnTo>
                  <a:pt x="2177415" y="8229600"/>
                </a:lnTo>
                <a:lnTo>
                  <a:pt x="0" y="8229600"/>
                </a:lnTo>
                <a:lnTo>
                  <a:pt x="0" y="0"/>
                </a:lnTo>
                <a:close/>
              </a:path>
            </a:pathLst>
          </a:custGeom>
          <a:blipFill>
            <a:blip r:embed="rId4">
              <a:alphaModFix amt="62000"/>
            </a:blip>
            <a:stretch>
              <a:fillRect l="0" t="0" r="0" b="0"/>
            </a:stretch>
          </a:blipFill>
        </p:spPr>
      </p:sp>
      <p:sp>
        <p:nvSpPr>
          <p:cNvPr name="Freeform 8" id="8"/>
          <p:cNvSpPr/>
          <p:nvPr/>
        </p:nvSpPr>
        <p:spPr>
          <a:xfrm flipH="false" flipV="false" rot="0">
            <a:off x="-512338" y="1047876"/>
            <a:ext cx="2177415" cy="8229600"/>
          </a:xfrm>
          <a:custGeom>
            <a:avLst/>
            <a:gdLst/>
            <a:ahLst/>
            <a:cxnLst/>
            <a:rect r="r" b="b" t="t" l="l"/>
            <a:pathLst>
              <a:path h="8229600" w="2177415">
                <a:moveTo>
                  <a:pt x="0" y="0"/>
                </a:moveTo>
                <a:lnTo>
                  <a:pt x="2177415" y="0"/>
                </a:lnTo>
                <a:lnTo>
                  <a:pt x="2177415" y="8229600"/>
                </a:lnTo>
                <a:lnTo>
                  <a:pt x="0" y="8229600"/>
                </a:lnTo>
                <a:lnTo>
                  <a:pt x="0" y="0"/>
                </a:lnTo>
                <a:close/>
              </a:path>
            </a:pathLst>
          </a:custGeom>
          <a:blipFill>
            <a:blip r:embed="rId4">
              <a:alphaModFix amt="58000"/>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7AD">
                <a:alpha val="100000"/>
              </a:srgbClr>
            </a:gs>
            <a:gs pos="100000">
              <a:srgbClr val="FFA9F9">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25064" y="0"/>
            <a:ext cx="18538129" cy="10420125"/>
          </a:xfrm>
          <a:custGeom>
            <a:avLst/>
            <a:gdLst/>
            <a:ahLst/>
            <a:cxnLst/>
            <a:rect r="r" b="b" t="t" l="l"/>
            <a:pathLst>
              <a:path h="10420125" w="18538129">
                <a:moveTo>
                  <a:pt x="0" y="0"/>
                </a:moveTo>
                <a:lnTo>
                  <a:pt x="18538128" y="0"/>
                </a:lnTo>
                <a:lnTo>
                  <a:pt x="18538128" y="10420125"/>
                </a:lnTo>
                <a:lnTo>
                  <a:pt x="0" y="10420125"/>
                </a:lnTo>
                <a:lnTo>
                  <a:pt x="0" y="0"/>
                </a:lnTo>
                <a:close/>
              </a:path>
            </a:pathLst>
          </a:custGeom>
          <a:blipFill>
            <a:blip r:embed="rId2"/>
            <a:stretch>
              <a:fillRect l="0" t="0" r="0" b="0"/>
            </a:stretch>
          </a:blipFill>
        </p:spPr>
      </p:sp>
      <p:sp>
        <p:nvSpPr>
          <p:cNvPr name="Freeform 3" id="3"/>
          <p:cNvSpPr/>
          <p:nvPr/>
        </p:nvSpPr>
        <p:spPr>
          <a:xfrm flipH="false" flipV="false" rot="0">
            <a:off x="7105860" y="7284453"/>
            <a:ext cx="15119489" cy="3986047"/>
          </a:xfrm>
          <a:custGeom>
            <a:avLst/>
            <a:gdLst/>
            <a:ahLst/>
            <a:cxnLst/>
            <a:rect r="r" b="b" t="t" l="l"/>
            <a:pathLst>
              <a:path h="3986047" w="15119489">
                <a:moveTo>
                  <a:pt x="0" y="0"/>
                </a:moveTo>
                <a:lnTo>
                  <a:pt x="15119489" y="0"/>
                </a:lnTo>
                <a:lnTo>
                  <a:pt x="15119489" y="3986046"/>
                </a:lnTo>
                <a:lnTo>
                  <a:pt x="0" y="39860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a:grpSpLocks noChangeAspect="true"/>
          </p:cNvGrpSpPr>
          <p:nvPr/>
        </p:nvGrpSpPr>
        <p:grpSpPr>
          <a:xfrm rot="0">
            <a:off x="13221348" y="9277476"/>
            <a:ext cx="4838096" cy="1009524"/>
            <a:chOff x="0" y="0"/>
            <a:chExt cx="6450794" cy="1346032"/>
          </a:xfrm>
        </p:grpSpPr>
        <p:sp>
          <p:nvSpPr>
            <p:cNvPr name="Freeform 5" id="5"/>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5"/>
              <a:stretch>
                <a:fillRect l="0" t="0" r="0" b="3"/>
              </a:stretch>
            </a:blipFill>
          </p:spPr>
        </p:sp>
      </p:grpSp>
      <p:sp>
        <p:nvSpPr>
          <p:cNvPr name="Freeform 6" id="6"/>
          <p:cNvSpPr/>
          <p:nvPr/>
        </p:nvSpPr>
        <p:spPr>
          <a:xfrm flipH="false" flipV="false" rot="0">
            <a:off x="0" y="7726680"/>
            <a:ext cx="7315200" cy="2560320"/>
          </a:xfrm>
          <a:custGeom>
            <a:avLst/>
            <a:gdLst/>
            <a:ahLst/>
            <a:cxnLst/>
            <a:rect r="r" b="b" t="t" l="l"/>
            <a:pathLst>
              <a:path h="2560320" w="7315200">
                <a:moveTo>
                  <a:pt x="0" y="0"/>
                </a:moveTo>
                <a:lnTo>
                  <a:pt x="7315200" y="0"/>
                </a:lnTo>
                <a:lnTo>
                  <a:pt x="7315200" y="2560320"/>
                </a:lnTo>
                <a:lnTo>
                  <a:pt x="0" y="25603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423389" y="1903862"/>
            <a:ext cx="11016631" cy="2851103"/>
          </a:xfrm>
          <a:custGeom>
            <a:avLst/>
            <a:gdLst/>
            <a:ahLst/>
            <a:cxnLst/>
            <a:rect r="r" b="b" t="t" l="l"/>
            <a:pathLst>
              <a:path h="2851103" w="11016631">
                <a:moveTo>
                  <a:pt x="0" y="0"/>
                </a:moveTo>
                <a:lnTo>
                  <a:pt x="11016631" y="0"/>
                </a:lnTo>
                <a:lnTo>
                  <a:pt x="11016631" y="2851103"/>
                </a:lnTo>
                <a:lnTo>
                  <a:pt x="0" y="2851103"/>
                </a:lnTo>
                <a:lnTo>
                  <a:pt x="0" y="0"/>
                </a:lnTo>
                <a:close/>
              </a:path>
            </a:pathLst>
          </a:custGeom>
          <a:blipFill>
            <a:blip r:embed="rId8"/>
            <a:stretch>
              <a:fillRect l="0" t="-3730" r="0" b="-3730"/>
            </a:stretch>
          </a:blipFill>
        </p:spPr>
      </p:sp>
      <p:sp>
        <p:nvSpPr>
          <p:cNvPr name="Freeform 8" id="8"/>
          <p:cNvSpPr/>
          <p:nvPr/>
        </p:nvSpPr>
        <p:spPr>
          <a:xfrm flipH="false" flipV="false" rot="0">
            <a:off x="13221348" y="752624"/>
            <a:ext cx="4574723" cy="8524852"/>
          </a:xfrm>
          <a:custGeom>
            <a:avLst/>
            <a:gdLst/>
            <a:ahLst/>
            <a:cxnLst/>
            <a:rect r="r" b="b" t="t" l="l"/>
            <a:pathLst>
              <a:path h="8524852" w="4574723">
                <a:moveTo>
                  <a:pt x="0" y="0"/>
                </a:moveTo>
                <a:lnTo>
                  <a:pt x="4574723" y="0"/>
                </a:lnTo>
                <a:lnTo>
                  <a:pt x="4574723" y="8524852"/>
                </a:lnTo>
                <a:lnTo>
                  <a:pt x="0" y="8524852"/>
                </a:lnTo>
                <a:lnTo>
                  <a:pt x="0" y="0"/>
                </a:lnTo>
                <a:close/>
              </a:path>
            </a:pathLst>
          </a:custGeom>
          <a:blipFill>
            <a:blip r:embed="rId9"/>
            <a:stretch>
              <a:fillRect l="0" t="0" r="0" b="0"/>
            </a:stretch>
          </a:blipFill>
        </p:spPr>
      </p:sp>
      <p:sp>
        <p:nvSpPr>
          <p:cNvPr name="TextBox 9" id="9"/>
          <p:cNvSpPr txBox="true"/>
          <p:nvPr/>
        </p:nvSpPr>
        <p:spPr>
          <a:xfrm rot="0">
            <a:off x="281255" y="304800"/>
            <a:ext cx="12940093" cy="800146"/>
          </a:xfrm>
          <a:prstGeom prst="rect">
            <a:avLst/>
          </a:prstGeom>
        </p:spPr>
        <p:txBody>
          <a:bodyPr anchor="t" rtlCol="false" tIns="0" lIns="0" bIns="0" rIns="0">
            <a:spAutoFit/>
          </a:bodyPr>
          <a:lstStyle/>
          <a:p>
            <a:pPr algn="ctr">
              <a:lnSpc>
                <a:spcPts val="2936"/>
              </a:lnSpc>
              <a:spcBef>
                <a:spcPct val="0"/>
              </a:spcBef>
            </a:pPr>
            <a:r>
              <a:rPr lang="en-US" sz="2447">
                <a:solidFill>
                  <a:srgbClr val="000000"/>
                </a:solidFill>
                <a:latin typeface="Copperplate Gothic 32 AB Bold"/>
                <a:ea typeface="Copperplate Gothic 32 AB Bold"/>
                <a:cs typeface="Copperplate Gothic 32 AB Bold"/>
                <a:sym typeface="Copperplate Gothic 32 AB Bold"/>
              </a:rPr>
              <a:t>1] What is the total emission per c</a:t>
            </a:r>
            <a:r>
              <a:rPr lang="en-US" sz="2447">
                <a:solidFill>
                  <a:srgbClr val="000000"/>
                </a:solidFill>
                <a:latin typeface="Copperplate Gothic 32 AB Bold"/>
                <a:ea typeface="Copperplate Gothic 32 AB Bold"/>
                <a:cs typeface="Copperplate Gothic 32 AB Bold"/>
                <a:sym typeface="Copperplate Gothic 32 AB Bold"/>
              </a:rPr>
              <a:t>ountry for the most recent year available?</a:t>
            </a:r>
          </a:p>
        </p:txBody>
      </p:sp>
      <p:sp>
        <p:nvSpPr>
          <p:cNvPr name="TextBox 10" id="10"/>
          <p:cNvSpPr txBox="true"/>
          <p:nvPr/>
        </p:nvSpPr>
        <p:spPr>
          <a:xfrm rot="0">
            <a:off x="423389" y="5859515"/>
            <a:ext cx="12655825" cy="1124019"/>
          </a:xfrm>
          <a:prstGeom prst="rect">
            <a:avLst/>
          </a:prstGeom>
        </p:spPr>
        <p:txBody>
          <a:bodyPr anchor="t" rtlCol="false" tIns="0" lIns="0" bIns="0" rIns="0">
            <a:spAutoFit/>
          </a:bodyPr>
          <a:lstStyle/>
          <a:p>
            <a:pPr algn="l">
              <a:lnSpc>
                <a:spcPts val="2939"/>
              </a:lnSpc>
              <a:spcBef>
                <a:spcPct val="0"/>
              </a:spcBef>
            </a:pPr>
            <a:r>
              <a:rPr lang="en-US" b="true" sz="2449">
                <a:solidFill>
                  <a:srgbClr val="000000"/>
                </a:solidFill>
                <a:latin typeface="Arial Bold"/>
                <a:ea typeface="Arial Bold"/>
                <a:cs typeface="Arial Bold"/>
                <a:sym typeface="Arial Bold"/>
              </a:rPr>
              <a:t>This query retrieves the total emissions per country for the most recent year available in the dataset. It uses aggregation and a subquery to dynamically identify the latest year and summarize emissions accordingly.</a:t>
            </a:r>
          </a:p>
        </p:txBody>
      </p:sp>
      <p:sp>
        <p:nvSpPr>
          <p:cNvPr name="TextBox 11" id="11"/>
          <p:cNvSpPr txBox="true"/>
          <p:nvPr/>
        </p:nvSpPr>
        <p:spPr>
          <a:xfrm rot="0">
            <a:off x="423389" y="1115885"/>
            <a:ext cx="2477439" cy="634164"/>
          </a:xfrm>
          <a:prstGeom prst="rect">
            <a:avLst/>
          </a:prstGeom>
        </p:spPr>
        <p:txBody>
          <a:bodyPr anchor="t" rtlCol="false" tIns="0" lIns="0" bIns="0" rIns="0">
            <a:spAutoFit/>
          </a:bodyPr>
          <a:lstStyle/>
          <a:p>
            <a:pPr algn="ctr">
              <a:lnSpc>
                <a:spcPts val="4517"/>
              </a:lnSpc>
            </a:pPr>
            <a:r>
              <a:rPr lang="en-US" sz="3226" b="true">
                <a:solidFill>
                  <a:srgbClr val="FFFFFF"/>
                </a:solidFill>
                <a:latin typeface="Overpass Ultra-Bold"/>
                <a:ea typeface="Overpass Ultra-Bold"/>
                <a:cs typeface="Overpass Ultra-Bold"/>
                <a:sym typeface="Overpass Ultra-Bold"/>
              </a:rPr>
              <a:t>Query</a:t>
            </a:r>
          </a:p>
        </p:txBody>
      </p:sp>
      <p:sp>
        <p:nvSpPr>
          <p:cNvPr name="TextBox 12" id="12"/>
          <p:cNvSpPr txBox="true"/>
          <p:nvPr/>
        </p:nvSpPr>
        <p:spPr>
          <a:xfrm rot="0">
            <a:off x="13079214" y="247650"/>
            <a:ext cx="2014362" cy="513758"/>
          </a:xfrm>
          <a:prstGeom prst="rect">
            <a:avLst/>
          </a:prstGeom>
        </p:spPr>
        <p:txBody>
          <a:bodyPr anchor="t" rtlCol="false" tIns="0" lIns="0" bIns="0" rIns="0">
            <a:spAutoFit/>
          </a:bodyPr>
          <a:lstStyle/>
          <a:p>
            <a:pPr algn="ctr">
              <a:lnSpc>
                <a:spcPts val="3673"/>
              </a:lnSpc>
            </a:pPr>
            <a:r>
              <a:rPr lang="en-US" sz="2623" b="true">
                <a:solidFill>
                  <a:srgbClr val="FFFFFF"/>
                </a:solidFill>
                <a:latin typeface="Overpass Ultra-Bold"/>
                <a:ea typeface="Overpass Ultra-Bold"/>
                <a:cs typeface="Overpass Ultra-Bold"/>
                <a:sym typeface="Overpass Ultra-Bold"/>
              </a:rPr>
              <a:t>Output</a:t>
            </a:r>
          </a:p>
        </p:txBody>
      </p:sp>
      <p:sp>
        <p:nvSpPr>
          <p:cNvPr name="TextBox 13" id="13"/>
          <p:cNvSpPr txBox="true"/>
          <p:nvPr/>
        </p:nvSpPr>
        <p:spPr>
          <a:xfrm rot="0">
            <a:off x="560961" y="5086237"/>
            <a:ext cx="2202295" cy="560551"/>
          </a:xfrm>
          <a:prstGeom prst="rect">
            <a:avLst/>
          </a:prstGeom>
        </p:spPr>
        <p:txBody>
          <a:bodyPr anchor="t" rtlCol="false" tIns="0" lIns="0" bIns="0" rIns="0">
            <a:spAutoFit/>
          </a:bodyPr>
          <a:lstStyle/>
          <a:p>
            <a:pPr algn="ctr">
              <a:lnSpc>
                <a:spcPts val="4015"/>
              </a:lnSpc>
            </a:pPr>
            <a:r>
              <a:rPr lang="en-US" sz="2868" b="true">
                <a:solidFill>
                  <a:srgbClr val="FFFFFF"/>
                </a:solidFill>
                <a:latin typeface="Overpass Ultra-Bold"/>
                <a:ea typeface="Overpass Ultra-Bold"/>
                <a:cs typeface="Overpass Ultra-Bold"/>
                <a:sym typeface="Overpass Ultra-Bold"/>
              </a:rPr>
              <a:t>Observation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7AD">
                <a:alpha val="100000"/>
              </a:srgbClr>
            </a:gs>
            <a:gs pos="100000">
              <a:srgbClr val="FFA9F9">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25064" y="0"/>
            <a:ext cx="18538129" cy="10420125"/>
          </a:xfrm>
          <a:custGeom>
            <a:avLst/>
            <a:gdLst/>
            <a:ahLst/>
            <a:cxnLst/>
            <a:rect r="r" b="b" t="t" l="l"/>
            <a:pathLst>
              <a:path h="10420125" w="18538129">
                <a:moveTo>
                  <a:pt x="0" y="0"/>
                </a:moveTo>
                <a:lnTo>
                  <a:pt x="18538128" y="0"/>
                </a:lnTo>
                <a:lnTo>
                  <a:pt x="18538128" y="10420125"/>
                </a:lnTo>
                <a:lnTo>
                  <a:pt x="0" y="10420125"/>
                </a:lnTo>
                <a:lnTo>
                  <a:pt x="0" y="0"/>
                </a:lnTo>
                <a:close/>
              </a:path>
            </a:pathLst>
          </a:custGeom>
          <a:blipFill>
            <a:blip r:embed="rId2"/>
            <a:stretch>
              <a:fillRect l="0" t="0" r="0" b="0"/>
            </a:stretch>
          </a:blipFill>
        </p:spPr>
      </p:sp>
      <p:grpSp>
        <p:nvGrpSpPr>
          <p:cNvPr name="Group 3" id="3"/>
          <p:cNvGrpSpPr>
            <a:grpSpLocks noChangeAspect="true"/>
          </p:cNvGrpSpPr>
          <p:nvPr/>
        </p:nvGrpSpPr>
        <p:grpSpPr>
          <a:xfrm rot="0">
            <a:off x="13221348" y="9277476"/>
            <a:ext cx="4838096" cy="1009524"/>
            <a:chOff x="0" y="0"/>
            <a:chExt cx="6450794" cy="1346032"/>
          </a:xfrm>
        </p:grpSpPr>
        <p:sp>
          <p:nvSpPr>
            <p:cNvPr name="Freeform 4" id="4"/>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3"/>
              <a:stretch>
                <a:fillRect l="0" t="0" r="0" b="3"/>
              </a:stretch>
            </a:blipFill>
          </p:spPr>
        </p:sp>
      </p:grpSp>
      <p:sp>
        <p:nvSpPr>
          <p:cNvPr name="Freeform 5" id="5"/>
          <p:cNvSpPr/>
          <p:nvPr/>
        </p:nvSpPr>
        <p:spPr>
          <a:xfrm flipH="true" flipV="false" rot="0">
            <a:off x="13636033" y="1028700"/>
            <a:ext cx="4423410" cy="8229600"/>
          </a:xfrm>
          <a:custGeom>
            <a:avLst/>
            <a:gdLst/>
            <a:ahLst/>
            <a:cxnLst/>
            <a:rect r="r" b="b" t="t" l="l"/>
            <a:pathLst>
              <a:path h="8229600" w="4423410">
                <a:moveTo>
                  <a:pt x="4423410" y="0"/>
                </a:moveTo>
                <a:lnTo>
                  <a:pt x="0" y="0"/>
                </a:lnTo>
                <a:lnTo>
                  <a:pt x="0" y="8229600"/>
                </a:lnTo>
                <a:lnTo>
                  <a:pt x="4423410" y="8229600"/>
                </a:lnTo>
                <a:lnTo>
                  <a:pt x="4423410" y="0"/>
                </a:lnTo>
                <a:close/>
              </a:path>
            </a:pathLst>
          </a:custGeom>
          <a:blipFill>
            <a:blip r:embed="rId4"/>
            <a:stretch>
              <a:fillRect l="0" t="0" r="0" b="0"/>
            </a:stretch>
          </a:blipFill>
        </p:spPr>
      </p:sp>
      <p:sp>
        <p:nvSpPr>
          <p:cNvPr name="Freeform 6" id="6"/>
          <p:cNvSpPr/>
          <p:nvPr/>
        </p:nvSpPr>
        <p:spPr>
          <a:xfrm flipH="false" flipV="false" rot="0">
            <a:off x="423389" y="2203618"/>
            <a:ext cx="9722940" cy="2759897"/>
          </a:xfrm>
          <a:custGeom>
            <a:avLst/>
            <a:gdLst/>
            <a:ahLst/>
            <a:cxnLst/>
            <a:rect r="r" b="b" t="t" l="l"/>
            <a:pathLst>
              <a:path h="2759897" w="9722940">
                <a:moveTo>
                  <a:pt x="0" y="0"/>
                </a:moveTo>
                <a:lnTo>
                  <a:pt x="9722940" y="0"/>
                </a:lnTo>
                <a:lnTo>
                  <a:pt x="9722940" y="2759897"/>
                </a:lnTo>
                <a:lnTo>
                  <a:pt x="0" y="2759897"/>
                </a:lnTo>
                <a:lnTo>
                  <a:pt x="0" y="0"/>
                </a:lnTo>
                <a:close/>
              </a:path>
            </a:pathLst>
          </a:custGeom>
          <a:blipFill>
            <a:blip r:embed="rId5"/>
            <a:stretch>
              <a:fillRect l="0" t="0" r="0" b="0"/>
            </a:stretch>
          </a:blipFill>
        </p:spPr>
      </p:sp>
      <p:sp>
        <p:nvSpPr>
          <p:cNvPr name="Freeform 7" id="7"/>
          <p:cNvSpPr/>
          <p:nvPr/>
        </p:nvSpPr>
        <p:spPr>
          <a:xfrm flipH="false" flipV="false" rot="0">
            <a:off x="8958887" y="5107870"/>
            <a:ext cx="6888852" cy="4025251"/>
          </a:xfrm>
          <a:custGeom>
            <a:avLst/>
            <a:gdLst/>
            <a:ahLst/>
            <a:cxnLst/>
            <a:rect r="r" b="b" t="t" l="l"/>
            <a:pathLst>
              <a:path h="4025251" w="6888852">
                <a:moveTo>
                  <a:pt x="0" y="0"/>
                </a:moveTo>
                <a:lnTo>
                  <a:pt x="6888851" y="0"/>
                </a:lnTo>
                <a:lnTo>
                  <a:pt x="6888851" y="4025251"/>
                </a:lnTo>
                <a:lnTo>
                  <a:pt x="0" y="4025251"/>
                </a:lnTo>
                <a:lnTo>
                  <a:pt x="0" y="0"/>
                </a:lnTo>
                <a:close/>
              </a:path>
            </a:pathLst>
          </a:custGeom>
          <a:blipFill>
            <a:blip r:embed="rId6"/>
            <a:stretch>
              <a:fillRect l="0" t="0" r="0" b="0"/>
            </a:stretch>
          </a:blipFill>
        </p:spPr>
      </p:sp>
      <p:sp>
        <p:nvSpPr>
          <p:cNvPr name="Freeform 8" id="8"/>
          <p:cNvSpPr/>
          <p:nvPr/>
        </p:nvSpPr>
        <p:spPr>
          <a:xfrm flipH="false" flipV="false" rot="0">
            <a:off x="-125064" y="8826883"/>
            <a:ext cx="7151593" cy="1460117"/>
          </a:xfrm>
          <a:custGeom>
            <a:avLst/>
            <a:gdLst/>
            <a:ahLst/>
            <a:cxnLst/>
            <a:rect r="r" b="b" t="t" l="l"/>
            <a:pathLst>
              <a:path h="1460117" w="7151593">
                <a:moveTo>
                  <a:pt x="0" y="0"/>
                </a:moveTo>
                <a:lnTo>
                  <a:pt x="7151592" y="0"/>
                </a:lnTo>
                <a:lnTo>
                  <a:pt x="7151592" y="1460117"/>
                </a:lnTo>
                <a:lnTo>
                  <a:pt x="0" y="1460117"/>
                </a:lnTo>
                <a:lnTo>
                  <a:pt x="0" y="0"/>
                </a:lnTo>
                <a:close/>
              </a:path>
            </a:pathLst>
          </a:custGeom>
          <a:blipFill>
            <a:blip r:embed="rId7"/>
            <a:stretch>
              <a:fillRect l="0" t="0" r="0" b="0"/>
            </a:stretch>
          </a:blipFill>
        </p:spPr>
      </p:sp>
      <p:sp>
        <p:nvSpPr>
          <p:cNvPr name="Freeform 9" id="9"/>
          <p:cNvSpPr/>
          <p:nvPr/>
        </p:nvSpPr>
        <p:spPr>
          <a:xfrm flipH="false" flipV="false" rot="0">
            <a:off x="7085633" y="8826461"/>
            <a:ext cx="2058367" cy="863679"/>
          </a:xfrm>
          <a:custGeom>
            <a:avLst/>
            <a:gdLst/>
            <a:ahLst/>
            <a:cxnLst/>
            <a:rect r="r" b="b" t="t" l="l"/>
            <a:pathLst>
              <a:path h="863679" w="2058367">
                <a:moveTo>
                  <a:pt x="0" y="0"/>
                </a:moveTo>
                <a:lnTo>
                  <a:pt x="2058367" y="0"/>
                </a:lnTo>
                <a:lnTo>
                  <a:pt x="2058367" y="863678"/>
                </a:lnTo>
                <a:lnTo>
                  <a:pt x="0" y="8636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159647" y="298076"/>
            <a:ext cx="15233160" cy="1076417"/>
          </a:xfrm>
          <a:prstGeom prst="rect">
            <a:avLst/>
          </a:prstGeom>
        </p:spPr>
        <p:txBody>
          <a:bodyPr anchor="t" rtlCol="false" tIns="0" lIns="0" bIns="0" rIns="0">
            <a:spAutoFit/>
          </a:bodyPr>
          <a:lstStyle/>
          <a:p>
            <a:pPr algn="just">
              <a:lnSpc>
                <a:spcPts val="4048"/>
              </a:lnSpc>
              <a:spcBef>
                <a:spcPct val="0"/>
              </a:spcBef>
            </a:pPr>
            <a:r>
              <a:rPr lang="en-US" sz="3373">
                <a:solidFill>
                  <a:srgbClr val="000000"/>
                </a:solidFill>
                <a:latin typeface="Copperplate Gothic 32 AB Bold"/>
                <a:ea typeface="Copperplate Gothic 32 AB Bold"/>
                <a:cs typeface="Copperplate Gothic 32 AB Bold"/>
                <a:sym typeface="Copperplate Gothic 32 AB Bold"/>
              </a:rPr>
              <a:t>2]</a:t>
            </a:r>
            <a:r>
              <a:rPr lang="en-US" sz="3373">
                <a:solidFill>
                  <a:srgbClr val="000000"/>
                </a:solidFill>
                <a:latin typeface="Copperplate Gothic 32 AB Bold"/>
                <a:ea typeface="Copperplate Gothic 32 AB Bold"/>
                <a:cs typeface="Copperplate Gothic 32 AB Bold"/>
                <a:sym typeface="Copperplate Gothic 32 AB Bold"/>
              </a:rPr>
              <a:t> What are the top 5 countries by GDP in the most recent year?</a:t>
            </a:r>
          </a:p>
        </p:txBody>
      </p:sp>
      <p:sp>
        <p:nvSpPr>
          <p:cNvPr name="TextBox 11" id="11"/>
          <p:cNvSpPr txBox="true"/>
          <p:nvPr/>
        </p:nvSpPr>
        <p:spPr>
          <a:xfrm rot="0">
            <a:off x="387106" y="6272957"/>
            <a:ext cx="7157661" cy="1724263"/>
          </a:xfrm>
          <a:prstGeom prst="rect">
            <a:avLst/>
          </a:prstGeom>
        </p:spPr>
        <p:txBody>
          <a:bodyPr anchor="t" rtlCol="false" tIns="0" lIns="0" bIns="0" rIns="0">
            <a:spAutoFit/>
          </a:bodyPr>
          <a:lstStyle/>
          <a:p>
            <a:pPr algn="l">
              <a:lnSpc>
                <a:spcPts val="2734"/>
              </a:lnSpc>
              <a:spcBef>
                <a:spcPct val="0"/>
              </a:spcBef>
            </a:pPr>
            <a:r>
              <a:rPr lang="en-US" b="true" sz="2279">
                <a:solidFill>
                  <a:srgbClr val="000000"/>
                </a:solidFill>
                <a:latin typeface="Arial Bold"/>
                <a:ea typeface="Arial Bold"/>
                <a:cs typeface="Arial Bold"/>
                <a:sym typeface="Arial Bold"/>
              </a:rPr>
              <a:t>This query identifies the top 5 countries by GDP for the most recent year available. It filters the latest year using a subquery and sorts the GDP values in descending order to highlight the leading economies.</a:t>
            </a:r>
          </a:p>
        </p:txBody>
      </p:sp>
      <p:sp>
        <p:nvSpPr>
          <p:cNvPr name="TextBox 12" id="12"/>
          <p:cNvSpPr txBox="true"/>
          <p:nvPr/>
        </p:nvSpPr>
        <p:spPr>
          <a:xfrm rot="0">
            <a:off x="423389" y="1569454"/>
            <a:ext cx="2477439" cy="634164"/>
          </a:xfrm>
          <a:prstGeom prst="rect">
            <a:avLst/>
          </a:prstGeom>
        </p:spPr>
        <p:txBody>
          <a:bodyPr anchor="t" rtlCol="false" tIns="0" lIns="0" bIns="0" rIns="0">
            <a:spAutoFit/>
          </a:bodyPr>
          <a:lstStyle/>
          <a:p>
            <a:pPr algn="ctr">
              <a:lnSpc>
                <a:spcPts val="4517"/>
              </a:lnSpc>
            </a:pPr>
            <a:r>
              <a:rPr lang="en-US" sz="3226" b="true">
                <a:solidFill>
                  <a:srgbClr val="FFFFFF"/>
                </a:solidFill>
                <a:latin typeface="Overpass Ultra-Bold"/>
                <a:ea typeface="Overpass Ultra-Bold"/>
                <a:cs typeface="Overpass Ultra-Bold"/>
                <a:sym typeface="Overpass Ultra-Bold"/>
              </a:rPr>
              <a:t>Query</a:t>
            </a:r>
          </a:p>
        </p:txBody>
      </p:sp>
      <p:sp>
        <p:nvSpPr>
          <p:cNvPr name="TextBox 13" id="13"/>
          <p:cNvSpPr txBox="true"/>
          <p:nvPr/>
        </p:nvSpPr>
        <p:spPr>
          <a:xfrm rot="0">
            <a:off x="9915938" y="4440232"/>
            <a:ext cx="2202295" cy="560551"/>
          </a:xfrm>
          <a:prstGeom prst="rect">
            <a:avLst/>
          </a:prstGeom>
        </p:spPr>
        <p:txBody>
          <a:bodyPr anchor="t" rtlCol="false" tIns="0" lIns="0" bIns="0" rIns="0">
            <a:spAutoFit/>
          </a:bodyPr>
          <a:lstStyle/>
          <a:p>
            <a:pPr algn="ctr">
              <a:lnSpc>
                <a:spcPts val="4015"/>
              </a:lnSpc>
            </a:pPr>
            <a:r>
              <a:rPr lang="en-US" sz="2868" b="true">
                <a:solidFill>
                  <a:srgbClr val="FFFFFF"/>
                </a:solidFill>
                <a:latin typeface="Overpass Ultra-Bold"/>
                <a:ea typeface="Overpass Ultra-Bold"/>
                <a:cs typeface="Overpass Ultra-Bold"/>
                <a:sym typeface="Overpass Ultra-Bold"/>
              </a:rPr>
              <a:t>Output</a:t>
            </a:r>
          </a:p>
        </p:txBody>
      </p:sp>
      <p:sp>
        <p:nvSpPr>
          <p:cNvPr name="TextBox 14" id="14"/>
          <p:cNvSpPr txBox="true"/>
          <p:nvPr/>
        </p:nvSpPr>
        <p:spPr>
          <a:xfrm rot="0">
            <a:off x="387106" y="5495762"/>
            <a:ext cx="2202295" cy="560551"/>
          </a:xfrm>
          <a:prstGeom prst="rect">
            <a:avLst/>
          </a:prstGeom>
        </p:spPr>
        <p:txBody>
          <a:bodyPr anchor="t" rtlCol="false" tIns="0" lIns="0" bIns="0" rIns="0">
            <a:spAutoFit/>
          </a:bodyPr>
          <a:lstStyle/>
          <a:p>
            <a:pPr algn="ctr">
              <a:lnSpc>
                <a:spcPts val="4015"/>
              </a:lnSpc>
            </a:pPr>
            <a:r>
              <a:rPr lang="en-US" sz="2868" b="true">
                <a:solidFill>
                  <a:srgbClr val="FFFFFF"/>
                </a:solidFill>
                <a:latin typeface="Overpass Ultra-Bold"/>
                <a:ea typeface="Overpass Ultra-Bold"/>
                <a:cs typeface="Overpass Ultra-Bold"/>
                <a:sym typeface="Overpass Ultra-Bold"/>
              </a:rPr>
              <a:t>Observation</a:t>
            </a:r>
          </a:p>
        </p:txBody>
      </p:sp>
    </p:spTree>
  </p:cSld>
  <p:clrMapOvr>
    <a:masterClrMapping/>
  </p:clrMapOvr>
  <p:transition spd="slow">
    <p:push dir="l"/>
  </p:transition>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7AD">
                <a:alpha val="100000"/>
              </a:srgbClr>
            </a:gs>
            <a:gs pos="100000">
              <a:srgbClr val="FFA9F9">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25064" y="0"/>
            <a:ext cx="18538129" cy="10420125"/>
          </a:xfrm>
          <a:custGeom>
            <a:avLst/>
            <a:gdLst/>
            <a:ahLst/>
            <a:cxnLst/>
            <a:rect r="r" b="b" t="t" l="l"/>
            <a:pathLst>
              <a:path h="10420125" w="18538129">
                <a:moveTo>
                  <a:pt x="0" y="0"/>
                </a:moveTo>
                <a:lnTo>
                  <a:pt x="18538128" y="0"/>
                </a:lnTo>
                <a:lnTo>
                  <a:pt x="18538128" y="10420125"/>
                </a:lnTo>
                <a:lnTo>
                  <a:pt x="0" y="10420125"/>
                </a:lnTo>
                <a:lnTo>
                  <a:pt x="0" y="0"/>
                </a:lnTo>
                <a:close/>
              </a:path>
            </a:pathLst>
          </a:custGeom>
          <a:blipFill>
            <a:blip r:embed="rId2"/>
            <a:stretch>
              <a:fillRect l="0" t="0" r="0" b="0"/>
            </a:stretch>
          </a:blipFill>
        </p:spPr>
      </p:sp>
      <p:grpSp>
        <p:nvGrpSpPr>
          <p:cNvPr name="Group 3" id="3"/>
          <p:cNvGrpSpPr>
            <a:grpSpLocks noChangeAspect="true"/>
          </p:cNvGrpSpPr>
          <p:nvPr/>
        </p:nvGrpSpPr>
        <p:grpSpPr>
          <a:xfrm rot="0">
            <a:off x="13221348" y="9277476"/>
            <a:ext cx="4838096" cy="1009524"/>
            <a:chOff x="0" y="0"/>
            <a:chExt cx="6450794" cy="1346032"/>
          </a:xfrm>
        </p:grpSpPr>
        <p:sp>
          <p:nvSpPr>
            <p:cNvPr name="Freeform 4" id="4"/>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3"/>
              <a:stretch>
                <a:fillRect l="0" t="0" r="0" b="3"/>
              </a:stretch>
            </a:blipFill>
          </p:spPr>
        </p:sp>
      </p:grpSp>
      <p:sp>
        <p:nvSpPr>
          <p:cNvPr name="Freeform 5" id="5"/>
          <p:cNvSpPr/>
          <p:nvPr/>
        </p:nvSpPr>
        <p:spPr>
          <a:xfrm flipH="false" flipV="false" rot="0">
            <a:off x="272559" y="2487301"/>
            <a:ext cx="9193470" cy="3820045"/>
          </a:xfrm>
          <a:custGeom>
            <a:avLst/>
            <a:gdLst/>
            <a:ahLst/>
            <a:cxnLst/>
            <a:rect r="r" b="b" t="t" l="l"/>
            <a:pathLst>
              <a:path h="3820045" w="9193470">
                <a:moveTo>
                  <a:pt x="0" y="0"/>
                </a:moveTo>
                <a:lnTo>
                  <a:pt x="9193470" y="0"/>
                </a:lnTo>
                <a:lnTo>
                  <a:pt x="9193470" y="3820045"/>
                </a:lnTo>
                <a:lnTo>
                  <a:pt x="0" y="3820045"/>
                </a:lnTo>
                <a:lnTo>
                  <a:pt x="0" y="0"/>
                </a:lnTo>
                <a:close/>
              </a:path>
            </a:pathLst>
          </a:custGeom>
          <a:blipFill>
            <a:blip r:embed="rId4"/>
            <a:stretch>
              <a:fillRect l="0" t="0" r="0" b="0"/>
            </a:stretch>
          </a:blipFill>
        </p:spPr>
      </p:sp>
      <p:sp>
        <p:nvSpPr>
          <p:cNvPr name="Freeform 6" id="6"/>
          <p:cNvSpPr/>
          <p:nvPr/>
        </p:nvSpPr>
        <p:spPr>
          <a:xfrm flipH="false" flipV="false" rot="0">
            <a:off x="9683817" y="1445448"/>
            <a:ext cx="8375626" cy="7396104"/>
          </a:xfrm>
          <a:custGeom>
            <a:avLst/>
            <a:gdLst/>
            <a:ahLst/>
            <a:cxnLst/>
            <a:rect r="r" b="b" t="t" l="l"/>
            <a:pathLst>
              <a:path h="7396104" w="8375626">
                <a:moveTo>
                  <a:pt x="0" y="0"/>
                </a:moveTo>
                <a:lnTo>
                  <a:pt x="8375627" y="0"/>
                </a:lnTo>
                <a:lnTo>
                  <a:pt x="8375627" y="7396104"/>
                </a:lnTo>
                <a:lnTo>
                  <a:pt x="0" y="7396104"/>
                </a:lnTo>
                <a:lnTo>
                  <a:pt x="0" y="0"/>
                </a:lnTo>
                <a:close/>
              </a:path>
            </a:pathLst>
          </a:custGeom>
          <a:blipFill>
            <a:blip r:embed="rId5"/>
            <a:stretch>
              <a:fillRect l="0" t="0" r="0" b="0"/>
            </a:stretch>
          </a:blipFill>
        </p:spPr>
      </p:sp>
      <p:sp>
        <p:nvSpPr>
          <p:cNvPr name="Freeform 7" id="7"/>
          <p:cNvSpPr/>
          <p:nvPr/>
        </p:nvSpPr>
        <p:spPr>
          <a:xfrm flipH="false" flipV="false" rot="0">
            <a:off x="-125064" y="8441748"/>
            <a:ext cx="5616755" cy="2197555"/>
          </a:xfrm>
          <a:custGeom>
            <a:avLst/>
            <a:gdLst/>
            <a:ahLst/>
            <a:cxnLst/>
            <a:rect r="r" b="b" t="t" l="l"/>
            <a:pathLst>
              <a:path h="2197555" w="5616755">
                <a:moveTo>
                  <a:pt x="0" y="0"/>
                </a:moveTo>
                <a:lnTo>
                  <a:pt x="5616754" y="0"/>
                </a:lnTo>
                <a:lnTo>
                  <a:pt x="5616754" y="2197556"/>
                </a:lnTo>
                <a:lnTo>
                  <a:pt x="0" y="2197556"/>
                </a:lnTo>
                <a:lnTo>
                  <a:pt x="0" y="0"/>
                </a:lnTo>
                <a:close/>
              </a:path>
            </a:pathLst>
          </a:custGeom>
          <a:blipFill>
            <a:blip r:embed="rId6"/>
            <a:stretch>
              <a:fillRect l="0" t="0" r="0" b="0"/>
            </a:stretch>
          </a:blipFill>
        </p:spPr>
      </p:sp>
      <p:sp>
        <p:nvSpPr>
          <p:cNvPr name="TextBox 8" id="8"/>
          <p:cNvSpPr txBox="true"/>
          <p:nvPr/>
        </p:nvSpPr>
        <p:spPr>
          <a:xfrm rot="0">
            <a:off x="463351" y="457154"/>
            <a:ext cx="16461854" cy="1076417"/>
          </a:xfrm>
          <a:prstGeom prst="rect">
            <a:avLst/>
          </a:prstGeom>
        </p:spPr>
        <p:txBody>
          <a:bodyPr anchor="t" rtlCol="false" tIns="0" lIns="0" bIns="0" rIns="0">
            <a:spAutoFit/>
          </a:bodyPr>
          <a:lstStyle/>
          <a:p>
            <a:pPr algn="l">
              <a:lnSpc>
                <a:spcPts val="4048"/>
              </a:lnSpc>
              <a:spcBef>
                <a:spcPct val="0"/>
              </a:spcBef>
            </a:pPr>
            <a:r>
              <a:rPr lang="en-US" sz="3373">
                <a:solidFill>
                  <a:srgbClr val="000000"/>
                </a:solidFill>
                <a:latin typeface="Copperplate Gothic 32 AB Bold"/>
                <a:ea typeface="Copperplate Gothic 32 AB Bold"/>
                <a:cs typeface="Copperplate Gothic 32 AB Bold"/>
                <a:sym typeface="Copperplate Gothic 32 AB Bold"/>
              </a:rPr>
              <a:t>Q3]</a:t>
            </a:r>
            <a:r>
              <a:rPr lang="en-US" sz="3373">
                <a:solidFill>
                  <a:srgbClr val="000000"/>
                </a:solidFill>
                <a:latin typeface="Copperplate Gothic 32 AB Bold"/>
                <a:ea typeface="Copperplate Gothic 32 AB Bold"/>
                <a:cs typeface="Copperplate Gothic 32 AB Bold"/>
                <a:sym typeface="Copperplate Gothic 32 AB Bold"/>
              </a:rPr>
              <a:t> Compare energy production and consumption by country and year.</a:t>
            </a:r>
          </a:p>
        </p:txBody>
      </p:sp>
      <p:sp>
        <p:nvSpPr>
          <p:cNvPr name="TextBox 9" id="9"/>
          <p:cNvSpPr txBox="true"/>
          <p:nvPr/>
        </p:nvSpPr>
        <p:spPr>
          <a:xfrm rot="0">
            <a:off x="272559" y="7025549"/>
            <a:ext cx="9193470" cy="1416199"/>
          </a:xfrm>
          <a:prstGeom prst="rect">
            <a:avLst/>
          </a:prstGeom>
        </p:spPr>
        <p:txBody>
          <a:bodyPr anchor="t" rtlCol="false" tIns="0" lIns="0" bIns="0" rIns="0">
            <a:spAutoFit/>
          </a:bodyPr>
          <a:lstStyle/>
          <a:p>
            <a:pPr algn="l">
              <a:lnSpc>
                <a:spcPts val="2800"/>
              </a:lnSpc>
              <a:spcBef>
                <a:spcPct val="0"/>
              </a:spcBef>
            </a:pPr>
            <a:r>
              <a:rPr lang="en-US" b="true" sz="2334">
                <a:solidFill>
                  <a:srgbClr val="000000"/>
                </a:solidFill>
                <a:latin typeface="Arial Bold"/>
                <a:ea typeface="Arial Bold"/>
                <a:cs typeface="Arial Bold"/>
                <a:sym typeface="Arial Bold"/>
              </a:rPr>
              <a:t>This query compares energy production and consumption by country, year, and energy type. It joins production and consumption data to show how each country balances its energy resources over time, ordered by highest production.</a:t>
            </a:r>
          </a:p>
        </p:txBody>
      </p:sp>
      <p:sp>
        <p:nvSpPr>
          <p:cNvPr name="Freeform 10" id="10"/>
          <p:cNvSpPr/>
          <p:nvPr/>
        </p:nvSpPr>
        <p:spPr>
          <a:xfrm flipH="false" flipV="false" rot="0">
            <a:off x="3077523" y="8441748"/>
            <a:ext cx="5616755" cy="2197555"/>
          </a:xfrm>
          <a:custGeom>
            <a:avLst/>
            <a:gdLst/>
            <a:ahLst/>
            <a:cxnLst/>
            <a:rect r="r" b="b" t="t" l="l"/>
            <a:pathLst>
              <a:path h="2197555" w="5616755">
                <a:moveTo>
                  <a:pt x="0" y="0"/>
                </a:moveTo>
                <a:lnTo>
                  <a:pt x="5616754" y="0"/>
                </a:lnTo>
                <a:lnTo>
                  <a:pt x="5616754" y="2197556"/>
                </a:lnTo>
                <a:lnTo>
                  <a:pt x="0" y="2197556"/>
                </a:lnTo>
                <a:lnTo>
                  <a:pt x="0" y="0"/>
                </a:lnTo>
                <a:close/>
              </a:path>
            </a:pathLst>
          </a:custGeom>
          <a:blipFill>
            <a:blip r:embed="rId6"/>
            <a:stretch>
              <a:fillRect l="0" t="0" r="0" b="0"/>
            </a:stretch>
          </a:blipFill>
        </p:spPr>
      </p:sp>
      <p:sp>
        <p:nvSpPr>
          <p:cNvPr name="Freeform 11" id="11"/>
          <p:cNvSpPr/>
          <p:nvPr/>
        </p:nvSpPr>
        <p:spPr>
          <a:xfrm flipH="false" flipV="false" rot="0">
            <a:off x="7940800" y="8441748"/>
            <a:ext cx="5616755" cy="2197555"/>
          </a:xfrm>
          <a:custGeom>
            <a:avLst/>
            <a:gdLst/>
            <a:ahLst/>
            <a:cxnLst/>
            <a:rect r="r" b="b" t="t" l="l"/>
            <a:pathLst>
              <a:path h="2197555" w="5616755">
                <a:moveTo>
                  <a:pt x="0" y="0"/>
                </a:moveTo>
                <a:lnTo>
                  <a:pt x="5616755" y="0"/>
                </a:lnTo>
                <a:lnTo>
                  <a:pt x="5616755" y="2197556"/>
                </a:lnTo>
                <a:lnTo>
                  <a:pt x="0" y="2197556"/>
                </a:lnTo>
                <a:lnTo>
                  <a:pt x="0" y="0"/>
                </a:lnTo>
                <a:close/>
              </a:path>
            </a:pathLst>
          </a:custGeom>
          <a:blipFill>
            <a:blip r:embed="rId6"/>
            <a:stretch>
              <a:fillRect l="0" t="0" r="0" b="0"/>
            </a:stretch>
          </a:blipFill>
        </p:spPr>
      </p:sp>
      <p:sp>
        <p:nvSpPr>
          <p:cNvPr name="TextBox 12" id="12"/>
          <p:cNvSpPr txBox="true"/>
          <p:nvPr/>
        </p:nvSpPr>
        <p:spPr>
          <a:xfrm rot="0">
            <a:off x="0" y="1621917"/>
            <a:ext cx="2477439" cy="634164"/>
          </a:xfrm>
          <a:prstGeom prst="rect">
            <a:avLst/>
          </a:prstGeom>
        </p:spPr>
        <p:txBody>
          <a:bodyPr anchor="t" rtlCol="false" tIns="0" lIns="0" bIns="0" rIns="0">
            <a:spAutoFit/>
          </a:bodyPr>
          <a:lstStyle/>
          <a:p>
            <a:pPr algn="ctr">
              <a:lnSpc>
                <a:spcPts val="4517"/>
              </a:lnSpc>
            </a:pPr>
            <a:r>
              <a:rPr lang="en-US" sz="3226" b="true">
                <a:solidFill>
                  <a:srgbClr val="FFFFFF"/>
                </a:solidFill>
                <a:latin typeface="Overpass Ultra-Bold"/>
                <a:ea typeface="Overpass Ultra-Bold"/>
                <a:cs typeface="Overpass Ultra-Bold"/>
                <a:sym typeface="Overpass Ultra-Bold"/>
              </a:rPr>
              <a:t>Query</a:t>
            </a:r>
          </a:p>
        </p:txBody>
      </p:sp>
      <p:sp>
        <p:nvSpPr>
          <p:cNvPr name="TextBox 13" id="13"/>
          <p:cNvSpPr txBox="true"/>
          <p:nvPr/>
        </p:nvSpPr>
        <p:spPr>
          <a:xfrm rot="0">
            <a:off x="7940800" y="1204240"/>
            <a:ext cx="2202295" cy="560551"/>
          </a:xfrm>
          <a:prstGeom prst="rect">
            <a:avLst/>
          </a:prstGeom>
        </p:spPr>
        <p:txBody>
          <a:bodyPr anchor="t" rtlCol="false" tIns="0" lIns="0" bIns="0" rIns="0">
            <a:spAutoFit/>
          </a:bodyPr>
          <a:lstStyle/>
          <a:p>
            <a:pPr algn="ctr">
              <a:lnSpc>
                <a:spcPts val="4015"/>
              </a:lnSpc>
            </a:pPr>
            <a:r>
              <a:rPr lang="en-US" sz="2868" b="true">
                <a:solidFill>
                  <a:srgbClr val="FFFFFF"/>
                </a:solidFill>
                <a:latin typeface="Overpass Ultra-Bold"/>
                <a:ea typeface="Overpass Ultra-Bold"/>
                <a:cs typeface="Overpass Ultra-Bold"/>
                <a:sym typeface="Overpass Ultra-Bold"/>
              </a:rPr>
              <a:t>Output</a:t>
            </a:r>
          </a:p>
        </p:txBody>
      </p:sp>
      <p:sp>
        <p:nvSpPr>
          <p:cNvPr name="TextBox 14" id="14"/>
          <p:cNvSpPr txBox="true"/>
          <p:nvPr/>
        </p:nvSpPr>
        <p:spPr>
          <a:xfrm rot="0">
            <a:off x="137572" y="6333785"/>
            <a:ext cx="2202295" cy="560551"/>
          </a:xfrm>
          <a:prstGeom prst="rect">
            <a:avLst/>
          </a:prstGeom>
        </p:spPr>
        <p:txBody>
          <a:bodyPr anchor="t" rtlCol="false" tIns="0" lIns="0" bIns="0" rIns="0">
            <a:spAutoFit/>
          </a:bodyPr>
          <a:lstStyle/>
          <a:p>
            <a:pPr algn="ctr">
              <a:lnSpc>
                <a:spcPts val="4015"/>
              </a:lnSpc>
            </a:pPr>
            <a:r>
              <a:rPr lang="en-US" sz="2868" b="true">
                <a:solidFill>
                  <a:srgbClr val="FFFFFF"/>
                </a:solidFill>
                <a:latin typeface="Overpass Ultra-Bold"/>
                <a:ea typeface="Overpass Ultra-Bold"/>
                <a:cs typeface="Overpass Ultra-Bold"/>
                <a:sym typeface="Overpass Ultra-Bold"/>
              </a:rPr>
              <a:t>Observation</a:t>
            </a:r>
          </a:p>
        </p:txBody>
      </p:sp>
    </p:spTree>
  </p:cSld>
  <p:clrMapOvr>
    <a:masterClrMapping/>
  </p:clrMapOvr>
  <p:transition spd="slow">
    <p:push dir="l"/>
  </p:transition>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7AD">
                <a:alpha val="100000"/>
              </a:srgbClr>
            </a:gs>
            <a:gs pos="100000">
              <a:srgbClr val="FFA9F9">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25064" y="0"/>
            <a:ext cx="18538129" cy="10420125"/>
          </a:xfrm>
          <a:custGeom>
            <a:avLst/>
            <a:gdLst/>
            <a:ahLst/>
            <a:cxnLst/>
            <a:rect r="r" b="b" t="t" l="l"/>
            <a:pathLst>
              <a:path h="10420125" w="18538129">
                <a:moveTo>
                  <a:pt x="0" y="0"/>
                </a:moveTo>
                <a:lnTo>
                  <a:pt x="18538128" y="0"/>
                </a:lnTo>
                <a:lnTo>
                  <a:pt x="18538128" y="10420125"/>
                </a:lnTo>
                <a:lnTo>
                  <a:pt x="0" y="10420125"/>
                </a:lnTo>
                <a:lnTo>
                  <a:pt x="0" y="0"/>
                </a:lnTo>
                <a:close/>
              </a:path>
            </a:pathLst>
          </a:custGeom>
          <a:blipFill>
            <a:blip r:embed="rId2"/>
            <a:stretch>
              <a:fillRect l="0" t="0" r="0" b="0"/>
            </a:stretch>
          </a:blipFill>
        </p:spPr>
      </p:sp>
      <p:grpSp>
        <p:nvGrpSpPr>
          <p:cNvPr name="Group 3" id="3"/>
          <p:cNvGrpSpPr>
            <a:grpSpLocks noChangeAspect="true"/>
          </p:cNvGrpSpPr>
          <p:nvPr/>
        </p:nvGrpSpPr>
        <p:grpSpPr>
          <a:xfrm rot="0">
            <a:off x="13221348" y="9277476"/>
            <a:ext cx="4838096" cy="1009524"/>
            <a:chOff x="0" y="0"/>
            <a:chExt cx="6450794" cy="1346032"/>
          </a:xfrm>
        </p:grpSpPr>
        <p:sp>
          <p:nvSpPr>
            <p:cNvPr name="Freeform 4" id="4"/>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3"/>
              <a:stretch>
                <a:fillRect l="0" t="0" r="0" b="3"/>
              </a:stretch>
            </a:blipFill>
          </p:spPr>
        </p:sp>
      </p:grpSp>
      <p:sp>
        <p:nvSpPr>
          <p:cNvPr name="Freeform 5" id="5"/>
          <p:cNvSpPr/>
          <p:nvPr/>
        </p:nvSpPr>
        <p:spPr>
          <a:xfrm flipH="false" flipV="false" rot="0">
            <a:off x="93141" y="2404062"/>
            <a:ext cx="10710708" cy="2806000"/>
          </a:xfrm>
          <a:custGeom>
            <a:avLst/>
            <a:gdLst/>
            <a:ahLst/>
            <a:cxnLst/>
            <a:rect r="r" b="b" t="t" l="l"/>
            <a:pathLst>
              <a:path h="2806000" w="10710708">
                <a:moveTo>
                  <a:pt x="0" y="0"/>
                </a:moveTo>
                <a:lnTo>
                  <a:pt x="10710708" y="0"/>
                </a:lnTo>
                <a:lnTo>
                  <a:pt x="10710708" y="2806000"/>
                </a:lnTo>
                <a:lnTo>
                  <a:pt x="0" y="2806000"/>
                </a:lnTo>
                <a:lnTo>
                  <a:pt x="0" y="0"/>
                </a:lnTo>
                <a:close/>
              </a:path>
            </a:pathLst>
          </a:custGeom>
          <a:blipFill>
            <a:blip r:embed="rId4"/>
            <a:stretch>
              <a:fillRect l="0" t="0" r="0" b="0"/>
            </a:stretch>
          </a:blipFill>
        </p:spPr>
      </p:sp>
      <p:sp>
        <p:nvSpPr>
          <p:cNvPr name="Freeform 6" id="6"/>
          <p:cNvSpPr/>
          <p:nvPr/>
        </p:nvSpPr>
        <p:spPr>
          <a:xfrm flipH="false" flipV="false" rot="0">
            <a:off x="10554443" y="1959621"/>
            <a:ext cx="7505000" cy="7317855"/>
          </a:xfrm>
          <a:custGeom>
            <a:avLst/>
            <a:gdLst/>
            <a:ahLst/>
            <a:cxnLst/>
            <a:rect r="r" b="b" t="t" l="l"/>
            <a:pathLst>
              <a:path h="7317855" w="7505000">
                <a:moveTo>
                  <a:pt x="0" y="0"/>
                </a:moveTo>
                <a:lnTo>
                  <a:pt x="7505001" y="0"/>
                </a:lnTo>
                <a:lnTo>
                  <a:pt x="7505001" y="7317855"/>
                </a:lnTo>
                <a:lnTo>
                  <a:pt x="0" y="7317855"/>
                </a:lnTo>
                <a:lnTo>
                  <a:pt x="0" y="0"/>
                </a:lnTo>
                <a:close/>
              </a:path>
            </a:pathLst>
          </a:custGeom>
          <a:blipFill>
            <a:blip r:embed="rId5"/>
            <a:stretch>
              <a:fillRect l="0" t="-694" r="0" b="-694"/>
            </a:stretch>
          </a:blipFill>
        </p:spPr>
      </p:sp>
      <p:sp>
        <p:nvSpPr>
          <p:cNvPr name="TextBox 7" id="7"/>
          <p:cNvSpPr txBox="true"/>
          <p:nvPr/>
        </p:nvSpPr>
        <p:spPr>
          <a:xfrm rot="0">
            <a:off x="350547" y="457154"/>
            <a:ext cx="15289849" cy="1076417"/>
          </a:xfrm>
          <a:prstGeom prst="rect">
            <a:avLst/>
          </a:prstGeom>
        </p:spPr>
        <p:txBody>
          <a:bodyPr anchor="t" rtlCol="false" tIns="0" lIns="0" bIns="0" rIns="0">
            <a:spAutoFit/>
          </a:bodyPr>
          <a:lstStyle/>
          <a:p>
            <a:pPr algn="just">
              <a:lnSpc>
                <a:spcPts val="4048"/>
              </a:lnSpc>
              <a:spcBef>
                <a:spcPct val="0"/>
              </a:spcBef>
            </a:pPr>
            <a:r>
              <a:rPr lang="en-US" sz="3373">
                <a:solidFill>
                  <a:srgbClr val="000B3D"/>
                </a:solidFill>
                <a:latin typeface="Copperplate Gothic 32 AB Bold"/>
                <a:ea typeface="Copperplate Gothic 32 AB Bold"/>
                <a:cs typeface="Copperplate Gothic 32 AB Bold"/>
                <a:sym typeface="Copperplate Gothic 32 AB Bold"/>
              </a:rPr>
              <a:t> Q4] Which ene</a:t>
            </a:r>
            <a:r>
              <a:rPr lang="en-US" sz="3373">
                <a:solidFill>
                  <a:srgbClr val="000B3D"/>
                </a:solidFill>
                <a:latin typeface="Copperplate Gothic 32 AB Bold"/>
                <a:ea typeface="Copperplate Gothic 32 AB Bold"/>
                <a:cs typeface="Copperplate Gothic 32 AB Bold"/>
                <a:sym typeface="Copperplate Gothic 32 AB Bold"/>
              </a:rPr>
              <a:t>rgy types contribute most to emissions across all countries?</a:t>
            </a:r>
          </a:p>
        </p:txBody>
      </p:sp>
      <p:sp>
        <p:nvSpPr>
          <p:cNvPr name="TextBox 8" id="8"/>
          <p:cNvSpPr txBox="true"/>
          <p:nvPr/>
        </p:nvSpPr>
        <p:spPr>
          <a:xfrm rot="0">
            <a:off x="825241" y="5959546"/>
            <a:ext cx="8558227" cy="1850925"/>
          </a:xfrm>
          <a:prstGeom prst="rect">
            <a:avLst/>
          </a:prstGeom>
        </p:spPr>
        <p:txBody>
          <a:bodyPr anchor="t" rtlCol="false" tIns="0" lIns="0" bIns="0" rIns="0">
            <a:spAutoFit/>
          </a:bodyPr>
          <a:lstStyle/>
          <a:p>
            <a:pPr algn="l">
              <a:lnSpc>
                <a:spcPts val="3672"/>
              </a:lnSpc>
              <a:spcBef>
                <a:spcPct val="0"/>
              </a:spcBef>
            </a:pPr>
            <a:r>
              <a:rPr lang="en-US" b="true" sz="3060">
                <a:solidFill>
                  <a:srgbClr val="000B3D"/>
                </a:solidFill>
                <a:latin typeface="Arial Bold"/>
                <a:ea typeface="Arial Bold"/>
                <a:cs typeface="Arial Bold"/>
                <a:sym typeface="Arial Bold"/>
              </a:rPr>
              <a:t>Fossil fuels like coal and oil contribute the most to global emissions, while renewable sources like solar and wind have minimal impact.</a:t>
            </a:r>
          </a:p>
        </p:txBody>
      </p:sp>
      <p:sp>
        <p:nvSpPr>
          <p:cNvPr name="Freeform 9" id="9"/>
          <p:cNvSpPr/>
          <p:nvPr/>
        </p:nvSpPr>
        <p:spPr>
          <a:xfrm flipH="false" flipV="false" rot="0">
            <a:off x="0" y="8222569"/>
            <a:ext cx="5616755" cy="2197555"/>
          </a:xfrm>
          <a:custGeom>
            <a:avLst/>
            <a:gdLst/>
            <a:ahLst/>
            <a:cxnLst/>
            <a:rect r="r" b="b" t="t" l="l"/>
            <a:pathLst>
              <a:path h="2197555" w="5616755">
                <a:moveTo>
                  <a:pt x="0" y="0"/>
                </a:moveTo>
                <a:lnTo>
                  <a:pt x="5616755" y="0"/>
                </a:lnTo>
                <a:lnTo>
                  <a:pt x="5616755" y="2197556"/>
                </a:lnTo>
                <a:lnTo>
                  <a:pt x="0" y="2197556"/>
                </a:lnTo>
                <a:lnTo>
                  <a:pt x="0" y="0"/>
                </a:lnTo>
                <a:close/>
              </a:path>
            </a:pathLst>
          </a:custGeom>
          <a:blipFill>
            <a:blip r:embed="rId6"/>
            <a:stretch>
              <a:fillRect l="0" t="0" r="0" b="0"/>
            </a:stretch>
          </a:blipFill>
        </p:spPr>
      </p:sp>
      <p:sp>
        <p:nvSpPr>
          <p:cNvPr name="Freeform 10" id="10"/>
          <p:cNvSpPr/>
          <p:nvPr/>
        </p:nvSpPr>
        <p:spPr>
          <a:xfrm flipH="false" flipV="false" rot="0">
            <a:off x="5187094" y="8411842"/>
            <a:ext cx="5616755" cy="2197555"/>
          </a:xfrm>
          <a:custGeom>
            <a:avLst/>
            <a:gdLst/>
            <a:ahLst/>
            <a:cxnLst/>
            <a:rect r="r" b="b" t="t" l="l"/>
            <a:pathLst>
              <a:path h="2197555" w="5616755">
                <a:moveTo>
                  <a:pt x="0" y="0"/>
                </a:moveTo>
                <a:lnTo>
                  <a:pt x="5616755" y="0"/>
                </a:lnTo>
                <a:lnTo>
                  <a:pt x="5616755" y="2197555"/>
                </a:lnTo>
                <a:lnTo>
                  <a:pt x="0" y="2197555"/>
                </a:lnTo>
                <a:lnTo>
                  <a:pt x="0" y="0"/>
                </a:lnTo>
                <a:close/>
              </a:path>
            </a:pathLst>
          </a:custGeom>
          <a:blipFill>
            <a:blip r:embed="rId6"/>
            <a:stretch>
              <a:fillRect l="0" t="0" r="0" b="0"/>
            </a:stretch>
          </a:blipFill>
        </p:spPr>
      </p:sp>
      <p:sp>
        <p:nvSpPr>
          <p:cNvPr name="TextBox 11" id="11"/>
          <p:cNvSpPr txBox="true"/>
          <p:nvPr/>
        </p:nvSpPr>
        <p:spPr>
          <a:xfrm rot="0">
            <a:off x="330939" y="1547016"/>
            <a:ext cx="2477439" cy="634164"/>
          </a:xfrm>
          <a:prstGeom prst="rect">
            <a:avLst/>
          </a:prstGeom>
        </p:spPr>
        <p:txBody>
          <a:bodyPr anchor="t" rtlCol="false" tIns="0" lIns="0" bIns="0" rIns="0">
            <a:spAutoFit/>
          </a:bodyPr>
          <a:lstStyle/>
          <a:p>
            <a:pPr algn="ctr">
              <a:lnSpc>
                <a:spcPts val="4517"/>
              </a:lnSpc>
            </a:pPr>
            <a:r>
              <a:rPr lang="en-US" sz="3226" b="true">
                <a:solidFill>
                  <a:srgbClr val="FFFFFF"/>
                </a:solidFill>
                <a:latin typeface="Overpass Ultra-Bold"/>
                <a:ea typeface="Overpass Ultra-Bold"/>
                <a:cs typeface="Overpass Ultra-Bold"/>
                <a:sym typeface="Overpass Ultra-Bold"/>
              </a:rPr>
              <a:t>Query</a:t>
            </a:r>
          </a:p>
        </p:txBody>
      </p:sp>
      <p:sp>
        <p:nvSpPr>
          <p:cNvPr name="TextBox 12" id="12"/>
          <p:cNvSpPr txBox="true"/>
          <p:nvPr/>
        </p:nvSpPr>
        <p:spPr>
          <a:xfrm rot="0">
            <a:off x="9702701" y="1347703"/>
            <a:ext cx="2202295" cy="560551"/>
          </a:xfrm>
          <a:prstGeom prst="rect">
            <a:avLst/>
          </a:prstGeom>
        </p:spPr>
        <p:txBody>
          <a:bodyPr anchor="t" rtlCol="false" tIns="0" lIns="0" bIns="0" rIns="0">
            <a:spAutoFit/>
          </a:bodyPr>
          <a:lstStyle/>
          <a:p>
            <a:pPr algn="ctr">
              <a:lnSpc>
                <a:spcPts val="4015"/>
              </a:lnSpc>
            </a:pPr>
            <a:r>
              <a:rPr lang="en-US" sz="2868" b="true">
                <a:solidFill>
                  <a:srgbClr val="FFFFFF"/>
                </a:solidFill>
                <a:latin typeface="Overpass Ultra-Bold"/>
                <a:ea typeface="Overpass Ultra-Bold"/>
                <a:cs typeface="Overpass Ultra-Bold"/>
                <a:sym typeface="Overpass Ultra-Bold"/>
              </a:rPr>
              <a:t>Output</a:t>
            </a:r>
          </a:p>
        </p:txBody>
      </p:sp>
      <p:sp>
        <p:nvSpPr>
          <p:cNvPr name="TextBox 13" id="13"/>
          <p:cNvSpPr txBox="true"/>
          <p:nvPr/>
        </p:nvSpPr>
        <p:spPr>
          <a:xfrm rot="0">
            <a:off x="606082" y="5305312"/>
            <a:ext cx="2202295" cy="560551"/>
          </a:xfrm>
          <a:prstGeom prst="rect">
            <a:avLst/>
          </a:prstGeom>
        </p:spPr>
        <p:txBody>
          <a:bodyPr anchor="t" rtlCol="false" tIns="0" lIns="0" bIns="0" rIns="0">
            <a:spAutoFit/>
          </a:bodyPr>
          <a:lstStyle/>
          <a:p>
            <a:pPr algn="ctr">
              <a:lnSpc>
                <a:spcPts val="4015"/>
              </a:lnSpc>
            </a:pPr>
            <a:r>
              <a:rPr lang="en-US" sz="2868" b="true">
                <a:solidFill>
                  <a:srgbClr val="FFFFFF"/>
                </a:solidFill>
                <a:latin typeface="Overpass Ultra-Bold"/>
                <a:ea typeface="Overpass Ultra-Bold"/>
                <a:cs typeface="Overpass Ultra-Bold"/>
                <a:sym typeface="Overpass Ultra-Bold"/>
              </a:rPr>
              <a:t>Observation</a:t>
            </a:r>
          </a:p>
        </p:txBody>
      </p:sp>
    </p:spTree>
  </p:cSld>
  <p:clrMapOvr>
    <a:masterClrMapping/>
  </p:clrMapOvr>
  <p:transition spd="slow">
    <p:push dir="l"/>
  </p:transition>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7AD">
                <a:alpha val="100000"/>
              </a:srgbClr>
            </a:gs>
            <a:gs pos="100000">
              <a:srgbClr val="FFA9F9">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25064" y="0"/>
            <a:ext cx="18538129" cy="10420125"/>
          </a:xfrm>
          <a:custGeom>
            <a:avLst/>
            <a:gdLst/>
            <a:ahLst/>
            <a:cxnLst/>
            <a:rect r="r" b="b" t="t" l="l"/>
            <a:pathLst>
              <a:path h="10420125" w="18538129">
                <a:moveTo>
                  <a:pt x="0" y="0"/>
                </a:moveTo>
                <a:lnTo>
                  <a:pt x="18538128" y="0"/>
                </a:lnTo>
                <a:lnTo>
                  <a:pt x="18538128" y="10420125"/>
                </a:lnTo>
                <a:lnTo>
                  <a:pt x="0" y="10420125"/>
                </a:lnTo>
                <a:lnTo>
                  <a:pt x="0" y="0"/>
                </a:lnTo>
                <a:close/>
              </a:path>
            </a:pathLst>
          </a:custGeom>
          <a:blipFill>
            <a:blip r:embed="rId2"/>
            <a:stretch>
              <a:fillRect l="0" t="0" r="0" b="0"/>
            </a:stretch>
          </a:blipFill>
        </p:spPr>
      </p:sp>
      <p:grpSp>
        <p:nvGrpSpPr>
          <p:cNvPr name="Group 3" id="3"/>
          <p:cNvGrpSpPr>
            <a:grpSpLocks noChangeAspect="true"/>
          </p:cNvGrpSpPr>
          <p:nvPr/>
        </p:nvGrpSpPr>
        <p:grpSpPr>
          <a:xfrm rot="0">
            <a:off x="13221348" y="9277476"/>
            <a:ext cx="4838096" cy="1009524"/>
            <a:chOff x="0" y="0"/>
            <a:chExt cx="6450794" cy="1346032"/>
          </a:xfrm>
        </p:grpSpPr>
        <p:sp>
          <p:nvSpPr>
            <p:cNvPr name="Freeform 4" id="4"/>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3"/>
              <a:stretch>
                <a:fillRect l="0" t="0" r="0" b="3"/>
              </a:stretch>
            </a:blipFill>
          </p:spPr>
        </p:sp>
      </p:grpSp>
      <p:sp>
        <p:nvSpPr>
          <p:cNvPr name="Freeform 5" id="5"/>
          <p:cNvSpPr/>
          <p:nvPr/>
        </p:nvSpPr>
        <p:spPr>
          <a:xfrm flipH="false" flipV="false" rot="0">
            <a:off x="480763" y="1974257"/>
            <a:ext cx="9962509" cy="2433764"/>
          </a:xfrm>
          <a:custGeom>
            <a:avLst/>
            <a:gdLst/>
            <a:ahLst/>
            <a:cxnLst/>
            <a:rect r="r" b="b" t="t" l="l"/>
            <a:pathLst>
              <a:path h="2433764" w="9962509">
                <a:moveTo>
                  <a:pt x="0" y="0"/>
                </a:moveTo>
                <a:lnTo>
                  <a:pt x="9962509" y="0"/>
                </a:lnTo>
                <a:lnTo>
                  <a:pt x="9962509" y="2433764"/>
                </a:lnTo>
                <a:lnTo>
                  <a:pt x="0" y="2433764"/>
                </a:lnTo>
                <a:lnTo>
                  <a:pt x="0" y="0"/>
                </a:lnTo>
                <a:close/>
              </a:path>
            </a:pathLst>
          </a:custGeom>
          <a:blipFill>
            <a:blip r:embed="rId4"/>
            <a:stretch>
              <a:fillRect l="0" t="0" r="0" b="0"/>
            </a:stretch>
          </a:blipFill>
        </p:spPr>
      </p:sp>
      <p:sp>
        <p:nvSpPr>
          <p:cNvPr name="Freeform 6" id="6"/>
          <p:cNvSpPr/>
          <p:nvPr/>
        </p:nvSpPr>
        <p:spPr>
          <a:xfrm flipH="false" flipV="false" rot="0">
            <a:off x="11085176" y="4271623"/>
            <a:ext cx="6174124" cy="3931719"/>
          </a:xfrm>
          <a:custGeom>
            <a:avLst/>
            <a:gdLst/>
            <a:ahLst/>
            <a:cxnLst/>
            <a:rect r="r" b="b" t="t" l="l"/>
            <a:pathLst>
              <a:path h="3931719" w="6174124">
                <a:moveTo>
                  <a:pt x="0" y="0"/>
                </a:moveTo>
                <a:lnTo>
                  <a:pt x="6174124" y="0"/>
                </a:lnTo>
                <a:lnTo>
                  <a:pt x="6174124" y="3931720"/>
                </a:lnTo>
                <a:lnTo>
                  <a:pt x="0" y="3931720"/>
                </a:lnTo>
                <a:lnTo>
                  <a:pt x="0" y="0"/>
                </a:lnTo>
                <a:close/>
              </a:path>
            </a:pathLst>
          </a:custGeom>
          <a:blipFill>
            <a:blip r:embed="rId5"/>
            <a:stretch>
              <a:fillRect l="0" t="0" r="-5651" b="0"/>
            </a:stretch>
          </a:blipFill>
        </p:spPr>
      </p:sp>
      <p:sp>
        <p:nvSpPr>
          <p:cNvPr name="Freeform 7" id="7"/>
          <p:cNvSpPr/>
          <p:nvPr/>
        </p:nvSpPr>
        <p:spPr>
          <a:xfrm flipH="false" flipV="false" rot="0">
            <a:off x="14577539" y="1028700"/>
            <a:ext cx="4079714" cy="3397289"/>
          </a:xfrm>
          <a:custGeom>
            <a:avLst/>
            <a:gdLst/>
            <a:ahLst/>
            <a:cxnLst/>
            <a:rect r="r" b="b" t="t" l="l"/>
            <a:pathLst>
              <a:path h="3397289" w="4079714">
                <a:moveTo>
                  <a:pt x="0" y="0"/>
                </a:moveTo>
                <a:lnTo>
                  <a:pt x="4079714" y="0"/>
                </a:lnTo>
                <a:lnTo>
                  <a:pt x="4079714" y="3397289"/>
                </a:lnTo>
                <a:lnTo>
                  <a:pt x="0" y="33972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480763" y="457154"/>
            <a:ext cx="15159633" cy="571546"/>
          </a:xfrm>
          <a:prstGeom prst="rect">
            <a:avLst/>
          </a:prstGeom>
        </p:spPr>
        <p:txBody>
          <a:bodyPr anchor="t" rtlCol="false" tIns="0" lIns="0" bIns="0" rIns="0">
            <a:spAutoFit/>
          </a:bodyPr>
          <a:lstStyle/>
          <a:p>
            <a:pPr algn="ctr">
              <a:lnSpc>
                <a:spcPts val="4048"/>
              </a:lnSpc>
              <a:spcBef>
                <a:spcPct val="0"/>
              </a:spcBef>
            </a:pPr>
            <a:r>
              <a:rPr lang="en-US" sz="3373">
                <a:solidFill>
                  <a:srgbClr val="000000"/>
                </a:solidFill>
                <a:latin typeface="Copperplate Gothic 32 AB Bold"/>
                <a:ea typeface="Copperplate Gothic 32 AB Bold"/>
                <a:cs typeface="Copperplate Gothic 32 AB Bold"/>
                <a:sym typeface="Copperplate Gothic 32 AB Bold"/>
              </a:rPr>
              <a:t>5] H</a:t>
            </a:r>
            <a:r>
              <a:rPr lang="en-US" sz="3373">
                <a:solidFill>
                  <a:srgbClr val="000000"/>
                </a:solidFill>
                <a:latin typeface="Copperplate Gothic 32 AB Bold"/>
                <a:ea typeface="Copperplate Gothic 32 AB Bold"/>
                <a:cs typeface="Copperplate Gothic 32 AB Bold"/>
                <a:sym typeface="Copperplate Gothic 32 AB Bold"/>
              </a:rPr>
              <a:t>ow have global emissions changed year over year?</a:t>
            </a:r>
          </a:p>
        </p:txBody>
      </p:sp>
      <p:sp>
        <p:nvSpPr>
          <p:cNvPr name="TextBox 9" id="9"/>
          <p:cNvSpPr txBox="true"/>
          <p:nvPr/>
        </p:nvSpPr>
        <p:spPr>
          <a:xfrm rot="0">
            <a:off x="746152" y="5789146"/>
            <a:ext cx="10339024" cy="1251955"/>
          </a:xfrm>
          <a:prstGeom prst="rect">
            <a:avLst/>
          </a:prstGeom>
        </p:spPr>
        <p:txBody>
          <a:bodyPr anchor="t" rtlCol="false" tIns="0" lIns="0" bIns="0" rIns="0">
            <a:spAutoFit/>
          </a:bodyPr>
          <a:lstStyle/>
          <a:p>
            <a:pPr algn="l">
              <a:lnSpc>
                <a:spcPts val="3295"/>
              </a:lnSpc>
              <a:spcBef>
                <a:spcPct val="0"/>
              </a:spcBef>
            </a:pPr>
            <a:r>
              <a:rPr lang="en-US" b="true" sz="2746">
                <a:solidFill>
                  <a:srgbClr val="000000"/>
                </a:solidFill>
                <a:latin typeface="Arial Bold"/>
                <a:ea typeface="Arial Bold"/>
                <a:cs typeface="Arial Bold"/>
                <a:sym typeface="Arial Bold"/>
              </a:rPr>
              <a:t>Global emissions have generally increased year over year, reflecting rising energy demand and industrial activity, with some years showing slower growth or slight declines.</a:t>
            </a:r>
          </a:p>
        </p:txBody>
      </p:sp>
      <p:sp>
        <p:nvSpPr>
          <p:cNvPr name="Freeform 10" id="10"/>
          <p:cNvSpPr/>
          <p:nvPr/>
        </p:nvSpPr>
        <p:spPr>
          <a:xfrm flipH="false" flipV="false" rot="0">
            <a:off x="7940800" y="8441748"/>
            <a:ext cx="5616755" cy="2197555"/>
          </a:xfrm>
          <a:custGeom>
            <a:avLst/>
            <a:gdLst/>
            <a:ahLst/>
            <a:cxnLst/>
            <a:rect r="r" b="b" t="t" l="l"/>
            <a:pathLst>
              <a:path h="2197555" w="5616755">
                <a:moveTo>
                  <a:pt x="0" y="0"/>
                </a:moveTo>
                <a:lnTo>
                  <a:pt x="5616755" y="0"/>
                </a:lnTo>
                <a:lnTo>
                  <a:pt x="5616755" y="2197556"/>
                </a:lnTo>
                <a:lnTo>
                  <a:pt x="0" y="2197556"/>
                </a:lnTo>
                <a:lnTo>
                  <a:pt x="0" y="0"/>
                </a:lnTo>
                <a:close/>
              </a:path>
            </a:pathLst>
          </a:custGeom>
          <a:blipFill>
            <a:blip r:embed="rId8"/>
            <a:stretch>
              <a:fillRect l="0" t="0" r="0" b="0"/>
            </a:stretch>
          </a:blipFill>
        </p:spPr>
      </p:sp>
      <p:sp>
        <p:nvSpPr>
          <p:cNvPr name="Freeform 11" id="11"/>
          <p:cNvSpPr/>
          <p:nvPr/>
        </p:nvSpPr>
        <p:spPr>
          <a:xfrm flipH="false" flipV="false" rot="0">
            <a:off x="4115613" y="8441748"/>
            <a:ext cx="5616755" cy="2197555"/>
          </a:xfrm>
          <a:custGeom>
            <a:avLst/>
            <a:gdLst/>
            <a:ahLst/>
            <a:cxnLst/>
            <a:rect r="r" b="b" t="t" l="l"/>
            <a:pathLst>
              <a:path h="2197555" w="5616755">
                <a:moveTo>
                  <a:pt x="0" y="0"/>
                </a:moveTo>
                <a:lnTo>
                  <a:pt x="5616755" y="0"/>
                </a:lnTo>
                <a:lnTo>
                  <a:pt x="5616755" y="2197556"/>
                </a:lnTo>
                <a:lnTo>
                  <a:pt x="0" y="2197556"/>
                </a:lnTo>
                <a:lnTo>
                  <a:pt x="0" y="0"/>
                </a:lnTo>
                <a:close/>
              </a:path>
            </a:pathLst>
          </a:custGeom>
          <a:blipFill>
            <a:blip r:embed="rId8"/>
            <a:stretch>
              <a:fillRect l="0" t="0" r="0" b="0"/>
            </a:stretch>
          </a:blipFill>
        </p:spPr>
      </p:sp>
      <p:sp>
        <p:nvSpPr>
          <p:cNvPr name="Freeform 12" id="12"/>
          <p:cNvSpPr/>
          <p:nvPr/>
        </p:nvSpPr>
        <p:spPr>
          <a:xfrm flipH="false" flipV="false" rot="0">
            <a:off x="-846027" y="8159522"/>
            <a:ext cx="5616755" cy="2197555"/>
          </a:xfrm>
          <a:custGeom>
            <a:avLst/>
            <a:gdLst/>
            <a:ahLst/>
            <a:cxnLst/>
            <a:rect r="r" b="b" t="t" l="l"/>
            <a:pathLst>
              <a:path h="2197555" w="5616755">
                <a:moveTo>
                  <a:pt x="0" y="0"/>
                </a:moveTo>
                <a:lnTo>
                  <a:pt x="5616755" y="0"/>
                </a:lnTo>
                <a:lnTo>
                  <a:pt x="5616755" y="2197556"/>
                </a:lnTo>
                <a:lnTo>
                  <a:pt x="0" y="2197556"/>
                </a:lnTo>
                <a:lnTo>
                  <a:pt x="0" y="0"/>
                </a:lnTo>
                <a:close/>
              </a:path>
            </a:pathLst>
          </a:custGeom>
          <a:blipFill>
            <a:blip r:embed="rId8"/>
            <a:stretch>
              <a:fillRect l="0" t="0" r="0" b="0"/>
            </a:stretch>
          </a:blipFill>
        </p:spPr>
      </p:sp>
      <p:sp>
        <p:nvSpPr>
          <p:cNvPr name="TextBox 13" id="13"/>
          <p:cNvSpPr txBox="true"/>
          <p:nvPr/>
        </p:nvSpPr>
        <p:spPr>
          <a:xfrm rot="0">
            <a:off x="0" y="1340094"/>
            <a:ext cx="2477439" cy="634164"/>
          </a:xfrm>
          <a:prstGeom prst="rect">
            <a:avLst/>
          </a:prstGeom>
        </p:spPr>
        <p:txBody>
          <a:bodyPr anchor="t" rtlCol="false" tIns="0" lIns="0" bIns="0" rIns="0">
            <a:spAutoFit/>
          </a:bodyPr>
          <a:lstStyle/>
          <a:p>
            <a:pPr algn="ctr">
              <a:lnSpc>
                <a:spcPts val="4517"/>
              </a:lnSpc>
            </a:pPr>
            <a:r>
              <a:rPr lang="en-US" sz="3226" b="true">
                <a:solidFill>
                  <a:srgbClr val="FFFFFF"/>
                </a:solidFill>
                <a:latin typeface="Overpass Ultra-Bold"/>
                <a:ea typeface="Overpass Ultra-Bold"/>
                <a:cs typeface="Overpass Ultra-Bold"/>
                <a:sym typeface="Overpass Ultra-Bold"/>
              </a:rPr>
              <a:t>Query</a:t>
            </a:r>
          </a:p>
        </p:txBody>
      </p:sp>
      <p:sp>
        <p:nvSpPr>
          <p:cNvPr name="TextBox 14" id="14"/>
          <p:cNvSpPr txBox="true"/>
          <p:nvPr/>
        </p:nvSpPr>
        <p:spPr>
          <a:xfrm rot="0">
            <a:off x="10443272" y="3472947"/>
            <a:ext cx="2202295" cy="560551"/>
          </a:xfrm>
          <a:prstGeom prst="rect">
            <a:avLst/>
          </a:prstGeom>
        </p:spPr>
        <p:txBody>
          <a:bodyPr anchor="t" rtlCol="false" tIns="0" lIns="0" bIns="0" rIns="0">
            <a:spAutoFit/>
          </a:bodyPr>
          <a:lstStyle/>
          <a:p>
            <a:pPr algn="ctr">
              <a:lnSpc>
                <a:spcPts val="4015"/>
              </a:lnSpc>
            </a:pPr>
            <a:r>
              <a:rPr lang="en-US" sz="2868" b="true">
                <a:solidFill>
                  <a:srgbClr val="FFFFFF"/>
                </a:solidFill>
                <a:latin typeface="Overpass Ultra-Bold"/>
                <a:ea typeface="Overpass Ultra-Bold"/>
                <a:cs typeface="Overpass Ultra-Bold"/>
                <a:sym typeface="Overpass Ultra-Bold"/>
              </a:rPr>
              <a:t>Output</a:t>
            </a:r>
          </a:p>
        </p:txBody>
      </p:sp>
      <p:sp>
        <p:nvSpPr>
          <p:cNvPr name="TextBox 15" id="15"/>
          <p:cNvSpPr txBox="true"/>
          <p:nvPr/>
        </p:nvSpPr>
        <p:spPr>
          <a:xfrm rot="0">
            <a:off x="560961" y="5086237"/>
            <a:ext cx="2202295" cy="560551"/>
          </a:xfrm>
          <a:prstGeom prst="rect">
            <a:avLst/>
          </a:prstGeom>
        </p:spPr>
        <p:txBody>
          <a:bodyPr anchor="t" rtlCol="false" tIns="0" lIns="0" bIns="0" rIns="0">
            <a:spAutoFit/>
          </a:bodyPr>
          <a:lstStyle/>
          <a:p>
            <a:pPr algn="ctr">
              <a:lnSpc>
                <a:spcPts val="4015"/>
              </a:lnSpc>
            </a:pPr>
            <a:r>
              <a:rPr lang="en-US" sz="2868" b="true">
                <a:solidFill>
                  <a:srgbClr val="FFFFFF"/>
                </a:solidFill>
                <a:latin typeface="Overpass Ultra-Bold"/>
                <a:ea typeface="Overpass Ultra-Bold"/>
                <a:cs typeface="Overpass Ultra-Bold"/>
                <a:sym typeface="Overpass Ultra-Bold"/>
              </a:rPr>
              <a:t>Observation</a:t>
            </a:r>
          </a:p>
        </p:txBody>
      </p:sp>
    </p:spTree>
  </p:cSld>
  <p:clrMapOvr>
    <a:masterClrMapping/>
  </p:clrMapOvr>
  <p:transition spd="slow">
    <p:push dir="l"/>
  </p:transition>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7AD">
                <a:alpha val="100000"/>
              </a:srgbClr>
            </a:gs>
            <a:gs pos="100000">
              <a:srgbClr val="FFA9F9">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25064" y="0"/>
            <a:ext cx="18538129" cy="10420125"/>
          </a:xfrm>
          <a:custGeom>
            <a:avLst/>
            <a:gdLst/>
            <a:ahLst/>
            <a:cxnLst/>
            <a:rect r="r" b="b" t="t" l="l"/>
            <a:pathLst>
              <a:path h="10420125" w="18538129">
                <a:moveTo>
                  <a:pt x="0" y="0"/>
                </a:moveTo>
                <a:lnTo>
                  <a:pt x="18538128" y="0"/>
                </a:lnTo>
                <a:lnTo>
                  <a:pt x="18538128" y="10420125"/>
                </a:lnTo>
                <a:lnTo>
                  <a:pt x="0" y="10420125"/>
                </a:lnTo>
                <a:lnTo>
                  <a:pt x="0" y="0"/>
                </a:lnTo>
                <a:close/>
              </a:path>
            </a:pathLst>
          </a:custGeom>
          <a:blipFill>
            <a:blip r:embed="rId2"/>
            <a:stretch>
              <a:fillRect l="0" t="0" r="0" b="0"/>
            </a:stretch>
          </a:blipFill>
        </p:spPr>
      </p:sp>
      <p:grpSp>
        <p:nvGrpSpPr>
          <p:cNvPr name="Group 3" id="3"/>
          <p:cNvGrpSpPr>
            <a:grpSpLocks noChangeAspect="true"/>
          </p:cNvGrpSpPr>
          <p:nvPr/>
        </p:nvGrpSpPr>
        <p:grpSpPr>
          <a:xfrm rot="0">
            <a:off x="13221348" y="9277476"/>
            <a:ext cx="4838096" cy="1009524"/>
            <a:chOff x="0" y="0"/>
            <a:chExt cx="6450794" cy="1346032"/>
          </a:xfrm>
        </p:grpSpPr>
        <p:sp>
          <p:nvSpPr>
            <p:cNvPr name="Freeform 4" id="4"/>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3"/>
              <a:stretch>
                <a:fillRect l="0" t="0" r="0" b="3"/>
              </a:stretch>
            </a:blipFill>
          </p:spPr>
        </p:sp>
      </p:grpSp>
      <p:sp>
        <p:nvSpPr>
          <p:cNvPr name="Freeform 5" id="5"/>
          <p:cNvSpPr/>
          <p:nvPr/>
        </p:nvSpPr>
        <p:spPr>
          <a:xfrm flipH="false" flipV="false" rot="0">
            <a:off x="787092" y="2320205"/>
            <a:ext cx="9409196" cy="2343446"/>
          </a:xfrm>
          <a:custGeom>
            <a:avLst/>
            <a:gdLst/>
            <a:ahLst/>
            <a:cxnLst/>
            <a:rect r="r" b="b" t="t" l="l"/>
            <a:pathLst>
              <a:path h="2343446" w="9409196">
                <a:moveTo>
                  <a:pt x="0" y="0"/>
                </a:moveTo>
                <a:lnTo>
                  <a:pt x="9409196" y="0"/>
                </a:lnTo>
                <a:lnTo>
                  <a:pt x="9409196" y="2343446"/>
                </a:lnTo>
                <a:lnTo>
                  <a:pt x="0" y="2343446"/>
                </a:lnTo>
                <a:lnTo>
                  <a:pt x="0" y="0"/>
                </a:lnTo>
                <a:close/>
              </a:path>
            </a:pathLst>
          </a:custGeom>
          <a:blipFill>
            <a:blip r:embed="rId4"/>
            <a:stretch>
              <a:fillRect l="0" t="-29459" r="0" b="0"/>
            </a:stretch>
          </a:blipFill>
        </p:spPr>
      </p:sp>
      <p:sp>
        <p:nvSpPr>
          <p:cNvPr name="Freeform 6" id="6"/>
          <p:cNvSpPr/>
          <p:nvPr/>
        </p:nvSpPr>
        <p:spPr>
          <a:xfrm flipH="false" flipV="false" rot="0">
            <a:off x="13586224" y="339326"/>
            <a:ext cx="4108343" cy="8901410"/>
          </a:xfrm>
          <a:custGeom>
            <a:avLst/>
            <a:gdLst/>
            <a:ahLst/>
            <a:cxnLst/>
            <a:rect r="r" b="b" t="t" l="l"/>
            <a:pathLst>
              <a:path h="8901410" w="4108343">
                <a:moveTo>
                  <a:pt x="0" y="0"/>
                </a:moveTo>
                <a:lnTo>
                  <a:pt x="4108343" y="0"/>
                </a:lnTo>
                <a:lnTo>
                  <a:pt x="4108343" y="8901411"/>
                </a:lnTo>
                <a:lnTo>
                  <a:pt x="0" y="8901411"/>
                </a:lnTo>
                <a:lnTo>
                  <a:pt x="0" y="0"/>
                </a:lnTo>
                <a:close/>
              </a:path>
            </a:pathLst>
          </a:custGeom>
          <a:blipFill>
            <a:blip r:embed="rId5"/>
            <a:stretch>
              <a:fillRect l="0" t="0" r="0" b="0"/>
            </a:stretch>
          </a:blipFill>
        </p:spPr>
      </p:sp>
      <p:sp>
        <p:nvSpPr>
          <p:cNvPr name="TextBox 7" id="7"/>
          <p:cNvSpPr txBox="true"/>
          <p:nvPr/>
        </p:nvSpPr>
        <p:spPr>
          <a:xfrm rot="0">
            <a:off x="218047" y="272651"/>
            <a:ext cx="13709006" cy="1076417"/>
          </a:xfrm>
          <a:prstGeom prst="rect">
            <a:avLst/>
          </a:prstGeom>
        </p:spPr>
        <p:txBody>
          <a:bodyPr anchor="t" rtlCol="false" tIns="0" lIns="0" bIns="0" rIns="0">
            <a:spAutoFit/>
          </a:bodyPr>
          <a:lstStyle/>
          <a:p>
            <a:pPr algn="ctr">
              <a:lnSpc>
                <a:spcPts val="4048"/>
              </a:lnSpc>
              <a:spcBef>
                <a:spcPct val="0"/>
              </a:spcBef>
            </a:pPr>
            <a:r>
              <a:rPr lang="en-US" sz="3373">
                <a:solidFill>
                  <a:srgbClr val="000000"/>
                </a:solidFill>
                <a:latin typeface="Copperplate Gothic 32 AB Bold"/>
                <a:ea typeface="Copperplate Gothic 32 AB Bold"/>
                <a:cs typeface="Copperplate Gothic 32 AB Bold"/>
                <a:sym typeface="Copperplate Gothic 32 AB Bold"/>
              </a:rPr>
              <a:t>6] </a:t>
            </a:r>
            <a:r>
              <a:rPr lang="en-US" sz="3373">
                <a:solidFill>
                  <a:srgbClr val="000000"/>
                </a:solidFill>
                <a:latin typeface="Copperplate Gothic 32 AB Bold"/>
                <a:ea typeface="Copperplate Gothic 32 AB Bold"/>
                <a:cs typeface="Copperplate Gothic 32 AB Bold"/>
                <a:sym typeface="Copperplate Gothic 32 AB Bold"/>
              </a:rPr>
              <a:t> What is the trend in GDP for each country over the given years?</a:t>
            </a:r>
          </a:p>
        </p:txBody>
      </p:sp>
      <p:sp>
        <p:nvSpPr>
          <p:cNvPr name="TextBox 8" id="8"/>
          <p:cNvSpPr txBox="true"/>
          <p:nvPr/>
        </p:nvSpPr>
        <p:spPr>
          <a:xfrm rot="0">
            <a:off x="1322458" y="5839325"/>
            <a:ext cx="10881312" cy="2038533"/>
          </a:xfrm>
          <a:prstGeom prst="rect">
            <a:avLst/>
          </a:prstGeom>
        </p:spPr>
        <p:txBody>
          <a:bodyPr anchor="t" rtlCol="false" tIns="0" lIns="0" bIns="0" rIns="0">
            <a:spAutoFit/>
          </a:bodyPr>
          <a:lstStyle/>
          <a:p>
            <a:pPr algn="l">
              <a:lnSpc>
                <a:spcPts val="4048"/>
              </a:lnSpc>
              <a:spcBef>
                <a:spcPct val="0"/>
              </a:spcBef>
            </a:pPr>
            <a:r>
              <a:rPr lang="en-US" b="true" sz="3373">
                <a:solidFill>
                  <a:srgbClr val="000000"/>
                </a:solidFill>
                <a:latin typeface="Arial Bold"/>
                <a:ea typeface="Arial Bold"/>
                <a:cs typeface="Arial Bold"/>
                <a:sym typeface="Arial Bold"/>
              </a:rPr>
              <a:t>Most countries show a steady increase in GDP over the years, indicating overall economic growth, though some experience fluctuations due to economic or policy changes</a:t>
            </a:r>
          </a:p>
        </p:txBody>
      </p:sp>
      <p:sp>
        <p:nvSpPr>
          <p:cNvPr name="Freeform 9" id="9"/>
          <p:cNvSpPr/>
          <p:nvPr/>
        </p:nvSpPr>
        <p:spPr>
          <a:xfrm flipH="false" flipV="false" rot="0">
            <a:off x="7940800" y="8441748"/>
            <a:ext cx="5616755" cy="2197555"/>
          </a:xfrm>
          <a:custGeom>
            <a:avLst/>
            <a:gdLst/>
            <a:ahLst/>
            <a:cxnLst/>
            <a:rect r="r" b="b" t="t" l="l"/>
            <a:pathLst>
              <a:path h="2197555" w="5616755">
                <a:moveTo>
                  <a:pt x="0" y="0"/>
                </a:moveTo>
                <a:lnTo>
                  <a:pt x="5616755" y="0"/>
                </a:lnTo>
                <a:lnTo>
                  <a:pt x="5616755" y="2197556"/>
                </a:lnTo>
                <a:lnTo>
                  <a:pt x="0" y="2197556"/>
                </a:lnTo>
                <a:lnTo>
                  <a:pt x="0" y="0"/>
                </a:lnTo>
                <a:close/>
              </a:path>
            </a:pathLst>
          </a:custGeom>
          <a:blipFill>
            <a:blip r:embed="rId6"/>
            <a:stretch>
              <a:fillRect l="0" t="0" r="0" b="0"/>
            </a:stretch>
          </a:blipFill>
        </p:spPr>
      </p:sp>
      <p:sp>
        <p:nvSpPr>
          <p:cNvPr name="Freeform 10" id="10"/>
          <p:cNvSpPr/>
          <p:nvPr/>
        </p:nvSpPr>
        <p:spPr>
          <a:xfrm flipH="false" flipV="false" rot="0">
            <a:off x="7072550" y="8683460"/>
            <a:ext cx="5616755" cy="2197555"/>
          </a:xfrm>
          <a:custGeom>
            <a:avLst/>
            <a:gdLst/>
            <a:ahLst/>
            <a:cxnLst/>
            <a:rect r="r" b="b" t="t" l="l"/>
            <a:pathLst>
              <a:path h="2197555" w="5616755">
                <a:moveTo>
                  <a:pt x="0" y="0"/>
                </a:moveTo>
                <a:lnTo>
                  <a:pt x="5616755" y="0"/>
                </a:lnTo>
                <a:lnTo>
                  <a:pt x="5616755" y="2197556"/>
                </a:lnTo>
                <a:lnTo>
                  <a:pt x="0" y="2197556"/>
                </a:lnTo>
                <a:lnTo>
                  <a:pt x="0" y="0"/>
                </a:lnTo>
                <a:close/>
              </a:path>
            </a:pathLst>
          </a:custGeom>
          <a:blipFill>
            <a:blip r:embed="rId6"/>
            <a:stretch>
              <a:fillRect l="0" t="0" r="0" b="0"/>
            </a:stretch>
          </a:blipFill>
        </p:spPr>
      </p:sp>
      <p:sp>
        <p:nvSpPr>
          <p:cNvPr name="Freeform 11" id="11"/>
          <p:cNvSpPr/>
          <p:nvPr/>
        </p:nvSpPr>
        <p:spPr>
          <a:xfrm flipH="false" flipV="false" rot="0">
            <a:off x="2058516" y="8089445"/>
            <a:ext cx="5616755" cy="2197555"/>
          </a:xfrm>
          <a:custGeom>
            <a:avLst/>
            <a:gdLst/>
            <a:ahLst/>
            <a:cxnLst/>
            <a:rect r="r" b="b" t="t" l="l"/>
            <a:pathLst>
              <a:path h="2197555" w="5616755">
                <a:moveTo>
                  <a:pt x="0" y="0"/>
                </a:moveTo>
                <a:lnTo>
                  <a:pt x="5616755" y="0"/>
                </a:lnTo>
                <a:lnTo>
                  <a:pt x="5616755" y="2197555"/>
                </a:lnTo>
                <a:lnTo>
                  <a:pt x="0" y="2197555"/>
                </a:lnTo>
                <a:lnTo>
                  <a:pt x="0" y="0"/>
                </a:lnTo>
                <a:close/>
              </a:path>
            </a:pathLst>
          </a:custGeom>
          <a:blipFill>
            <a:blip r:embed="rId6"/>
            <a:stretch>
              <a:fillRect l="0" t="0" r="0" b="0"/>
            </a:stretch>
          </a:blipFill>
        </p:spPr>
      </p:sp>
      <p:sp>
        <p:nvSpPr>
          <p:cNvPr name="Freeform 12" id="12"/>
          <p:cNvSpPr/>
          <p:nvPr/>
        </p:nvSpPr>
        <p:spPr>
          <a:xfrm flipH="false" flipV="false" rot="0">
            <a:off x="-125064" y="8746548"/>
            <a:ext cx="5616755" cy="2197555"/>
          </a:xfrm>
          <a:custGeom>
            <a:avLst/>
            <a:gdLst/>
            <a:ahLst/>
            <a:cxnLst/>
            <a:rect r="r" b="b" t="t" l="l"/>
            <a:pathLst>
              <a:path h="2197555" w="5616755">
                <a:moveTo>
                  <a:pt x="0" y="0"/>
                </a:moveTo>
                <a:lnTo>
                  <a:pt x="5616754" y="0"/>
                </a:lnTo>
                <a:lnTo>
                  <a:pt x="5616754" y="2197556"/>
                </a:lnTo>
                <a:lnTo>
                  <a:pt x="0" y="2197556"/>
                </a:lnTo>
                <a:lnTo>
                  <a:pt x="0" y="0"/>
                </a:lnTo>
                <a:close/>
              </a:path>
            </a:pathLst>
          </a:custGeom>
          <a:blipFill>
            <a:blip r:embed="rId6"/>
            <a:stretch>
              <a:fillRect l="0" t="0" r="0" b="0"/>
            </a:stretch>
          </a:blipFill>
        </p:spPr>
      </p:sp>
      <p:sp>
        <p:nvSpPr>
          <p:cNvPr name="TextBox 13" id="13"/>
          <p:cNvSpPr txBox="true"/>
          <p:nvPr/>
        </p:nvSpPr>
        <p:spPr>
          <a:xfrm rot="0">
            <a:off x="397671" y="1206193"/>
            <a:ext cx="2477439" cy="634164"/>
          </a:xfrm>
          <a:prstGeom prst="rect">
            <a:avLst/>
          </a:prstGeom>
        </p:spPr>
        <p:txBody>
          <a:bodyPr anchor="t" rtlCol="false" tIns="0" lIns="0" bIns="0" rIns="0">
            <a:spAutoFit/>
          </a:bodyPr>
          <a:lstStyle/>
          <a:p>
            <a:pPr algn="ctr">
              <a:lnSpc>
                <a:spcPts val="4517"/>
              </a:lnSpc>
            </a:pPr>
            <a:r>
              <a:rPr lang="en-US" sz="3226" b="true">
                <a:solidFill>
                  <a:srgbClr val="FFFFFF"/>
                </a:solidFill>
                <a:latin typeface="Overpass Ultra-Bold"/>
                <a:ea typeface="Overpass Ultra-Bold"/>
                <a:cs typeface="Overpass Ultra-Bold"/>
                <a:sym typeface="Overpass Ultra-Bold"/>
              </a:rPr>
              <a:t>Query</a:t>
            </a:r>
          </a:p>
        </p:txBody>
      </p:sp>
      <p:sp>
        <p:nvSpPr>
          <p:cNvPr name="TextBox 14" id="14"/>
          <p:cNvSpPr txBox="true"/>
          <p:nvPr/>
        </p:nvSpPr>
        <p:spPr>
          <a:xfrm rot="0">
            <a:off x="11588157" y="788517"/>
            <a:ext cx="2202295" cy="560551"/>
          </a:xfrm>
          <a:prstGeom prst="rect">
            <a:avLst/>
          </a:prstGeom>
        </p:spPr>
        <p:txBody>
          <a:bodyPr anchor="t" rtlCol="false" tIns="0" lIns="0" bIns="0" rIns="0">
            <a:spAutoFit/>
          </a:bodyPr>
          <a:lstStyle/>
          <a:p>
            <a:pPr algn="ctr">
              <a:lnSpc>
                <a:spcPts val="4015"/>
              </a:lnSpc>
            </a:pPr>
            <a:r>
              <a:rPr lang="en-US" sz="2868" b="true">
                <a:solidFill>
                  <a:srgbClr val="FFFFFF"/>
                </a:solidFill>
                <a:latin typeface="Overpass Ultra-Bold"/>
                <a:ea typeface="Overpass Ultra-Bold"/>
                <a:cs typeface="Overpass Ultra-Bold"/>
                <a:sym typeface="Overpass Ultra-Bold"/>
              </a:rPr>
              <a:t>Output</a:t>
            </a:r>
          </a:p>
        </p:txBody>
      </p:sp>
      <p:sp>
        <p:nvSpPr>
          <p:cNvPr name="TextBox 15" id="15"/>
          <p:cNvSpPr txBox="true"/>
          <p:nvPr/>
        </p:nvSpPr>
        <p:spPr>
          <a:xfrm rot="0">
            <a:off x="560961" y="5086237"/>
            <a:ext cx="2202295" cy="560551"/>
          </a:xfrm>
          <a:prstGeom prst="rect">
            <a:avLst/>
          </a:prstGeom>
        </p:spPr>
        <p:txBody>
          <a:bodyPr anchor="t" rtlCol="false" tIns="0" lIns="0" bIns="0" rIns="0">
            <a:spAutoFit/>
          </a:bodyPr>
          <a:lstStyle/>
          <a:p>
            <a:pPr algn="ctr">
              <a:lnSpc>
                <a:spcPts val="4015"/>
              </a:lnSpc>
            </a:pPr>
            <a:r>
              <a:rPr lang="en-US" sz="2868" b="true">
                <a:solidFill>
                  <a:srgbClr val="FFFFFF"/>
                </a:solidFill>
                <a:latin typeface="Overpass Ultra-Bold"/>
                <a:ea typeface="Overpass Ultra-Bold"/>
                <a:cs typeface="Overpass Ultra-Bold"/>
                <a:sym typeface="Overpass Ultra-Bold"/>
              </a:rPr>
              <a:t>Observation</a:t>
            </a:r>
          </a:p>
        </p:txBody>
      </p:sp>
    </p:spTree>
  </p:cSld>
  <p:clrMapOvr>
    <a:masterClrMapping/>
  </p:clrMapOvr>
  <p:transition spd="slow">
    <p:push dir="l"/>
  </p:transition>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7AD">
                <a:alpha val="100000"/>
              </a:srgbClr>
            </a:gs>
            <a:gs pos="100000">
              <a:srgbClr val="FFA9F9">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25064" y="0"/>
            <a:ext cx="18538129" cy="10420125"/>
          </a:xfrm>
          <a:custGeom>
            <a:avLst/>
            <a:gdLst/>
            <a:ahLst/>
            <a:cxnLst/>
            <a:rect r="r" b="b" t="t" l="l"/>
            <a:pathLst>
              <a:path h="10420125" w="18538129">
                <a:moveTo>
                  <a:pt x="0" y="0"/>
                </a:moveTo>
                <a:lnTo>
                  <a:pt x="18538128" y="0"/>
                </a:lnTo>
                <a:lnTo>
                  <a:pt x="18538128" y="10420125"/>
                </a:lnTo>
                <a:lnTo>
                  <a:pt x="0" y="10420125"/>
                </a:lnTo>
                <a:lnTo>
                  <a:pt x="0" y="0"/>
                </a:lnTo>
                <a:close/>
              </a:path>
            </a:pathLst>
          </a:custGeom>
          <a:blipFill>
            <a:blip r:embed="rId2"/>
            <a:stretch>
              <a:fillRect l="0" t="0" r="0" b="0"/>
            </a:stretch>
          </a:blipFill>
        </p:spPr>
      </p:sp>
      <p:grpSp>
        <p:nvGrpSpPr>
          <p:cNvPr name="Group 3" id="3"/>
          <p:cNvGrpSpPr>
            <a:grpSpLocks noChangeAspect="true"/>
          </p:cNvGrpSpPr>
          <p:nvPr/>
        </p:nvGrpSpPr>
        <p:grpSpPr>
          <a:xfrm rot="0">
            <a:off x="13221348" y="9277476"/>
            <a:ext cx="4838096" cy="1009524"/>
            <a:chOff x="0" y="0"/>
            <a:chExt cx="6450794" cy="1346032"/>
          </a:xfrm>
        </p:grpSpPr>
        <p:sp>
          <p:nvSpPr>
            <p:cNvPr name="Freeform 4" id="4"/>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3"/>
              <a:stretch>
                <a:fillRect l="0" t="0" r="0" b="3"/>
              </a:stretch>
            </a:blipFill>
          </p:spPr>
        </p:sp>
      </p:grpSp>
      <p:sp>
        <p:nvSpPr>
          <p:cNvPr name="Freeform 5" id="5"/>
          <p:cNvSpPr/>
          <p:nvPr/>
        </p:nvSpPr>
        <p:spPr>
          <a:xfrm flipH="false" flipV="false" rot="0">
            <a:off x="2413817" y="1349068"/>
            <a:ext cx="6409150" cy="4525310"/>
          </a:xfrm>
          <a:custGeom>
            <a:avLst/>
            <a:gdLst/>
            <a:ahLst/>
            <a:cxnLst/>
            <a:rect r="r" b="b" t="t" l="l"/>
            <a:pathLst>
              <a:path h="4525310" w="6409150">
                <a:moveTo>
                  <a:pt x="0" y="0"/>
                </a:moveTo>
                <a:lnTo>
                  <a:pt x="6409150" y="0"/>
                </a:lnTo>
                <a:lnTo>
                  <a:pt x="6409150" y="4525310"/>
                </a:lnTo>
                <a:lnTo>
                  <a:pt x="0" y="4525310"/>
                </a:lnTo>
                <a:lnTo>
                  <a:pt x="0" y="0"/>
                </a:lnTo>
                <a:close/>
              </a:path>
            </a:pathLst>
          </a:custGeom>
          <a:blipFill>
            <a:blip r:embed="rId4"/>
            <a:stretch>
              <a:fillRect l="0" t="0" r="0" b="0"/>
            </a:stretch>
          </a:blipFill>
        </p:spPr>
      </p:sp>
      <p:sp>
        <p:nvSpPr>
          <p:cNvPr name="Freeform 6" id="6"/>
          <p:cNvSpPr/>
          <p:nvPr/>
        </p:nvSpPr>
        <p:spPr>
          <a:xfrm flipH="false" flipV="false" rot="0">
            <a:off x="7940800" y="8441748"/>
            <a:ext cx="5616755" cy="2197555"/>
          </a:xfrm>
          <a:custGeom>
            <a:avLst/>
            <a:gdLst/>
            <a:ahLst/>
            <a:cxnLst/>
            <a:rect r="r" b="b" t="t" l="l"/>
            <a:pathLst>
              <a:path h="2197555" w="5616755">
                <a:moveTo>
                  <a:pt x="0" y="0"/>
                </a:moveTo>
                <a:lnTo>
                  <a:pt x="5616755" y="0"/>
                </a:lnTo>
                <a:lnTo>
                  <a:pt x="5616755" y="2197556"/>
                </a:lnTo>
                <a:lnTo>
                  <a:pt x="0" y="2197556"/>
                </a:lnTo>
                <a:lnTo>
                  <a:pt x="0" y="0"/>
                </a:lnTo>
                <a:close/>
              </a:path>
            </a:pathLst>
          </a:custGeom>
          <a:blipFill>
            <a:blip r:embed="rId5"/>
            <a:stretch>
              <a:fillRect l="0" t="0" r="0" b="0"/>
            </a:stretch>
          </a:blipFill>
        </p:spPr>
      </p:sp>
      <p:sp>
        <p:nvSpPr>
          <p:cNvPr name="Freeform 7" id="7"/>
          <p:cNvSpPr/>
          <p:nvPr/>
        </p:nvSpPr>
        <p:spPr>
          <a:xfrm flipH="false" flipV="false" rot="0">
            <a:off x="12509755" y="839674"/>
            <a:ext cx="5473594" cy="8418626"/>
          </a:xfrm>
          <a:custGeom>
            <a:avLst/>
            <a:gdLst/>
            <a:ahLst/>
            <a:cxnLst/>
            <a:rect r="r" b="b" t="t" l="l"/>
            <a:pathLst>
              <a:path h="8418626" w="5473594">
                <a:moveTo>
                  <a:pt x="0" y="0"/>
                </a:moveTo>
                <a:lnTo>
                  <a:pt x="5473595" y="0"/>
                </a:lnTo>
                <a:lnTo>
                  <a:pt x="5473595" y="8418626"/>
                </a:lnTo>
                <a:lnTo>
                  <a:pt x="0" y="8418626"/>
                </a:lnTo>
                <a:lnTo>
                  <a:pt x="0" y="0"/>
                </a:lnTo>
                <a:close/>
              </a:path>
            </a:pathLst>
          </a:custGeom>
          <a:blipFill>
            <a:blip r:embed="rId6"/>
            <a:stretch>
              <a:fillRect l="0" t="0" r="0" b="0"/>
            </a:stretch>
          </a:blipFill>
        </p:spPr>
      </p:sp>
      <p:sp>
        <p:nvSpPr>
          <p:cNvPr name="TextBox 8" id="8"/>
          <p:cNvSpPr txBox="true"/>
          <p:nvPr/>
        </p:nvSpPr>
        <p:spPr>
          <a:xfrm rot="0">
            <a:off x="392798" y="272651"/>
            <a:ext cx="14853754" cy="1076417"/>
          </a:xfrm>
          <a:prstGeom prst="rect">
            <a:avLst/>
          </a:prstGeom>
        </p:spPr>
        <p:txBody>
          <a:bodyPr anchor="t" rtlCol="false" tIns="0" lIns="0" bIns="0" rIns="0">
            <a:spAutoFit/>
          </a:bodyPr>
          <a:lstStyle/>
          <a:p>
            <a:pPr algn="l">
              <a:lnSpc>
                <a:spcPts val="4048"/>
              </a:lnSpc>
              <a:spcBef>
                <a:spcPct val="0"/>
              </a:spcBef>
            </a:pPr>
            <a:r>
              <a:rPr lang="en-US" sz="3373">
                <a:solidFill>
                  <a:srgbClr val="000000"/>
                </a:solidFill>
                <a:latin typeface="Copperplate Gothic 32 AB Bold"/>
                <a:ea typeface="Copperplate Gothic 32 AB Bold"/>
                <a:cs typeface="Copperplate Gothic 32 AB Bold"/>
                <a:sym typeface="Copperplate Gothic 32 AB Bold"/>
              </a:rPr>
              <a:t>7] H</a:t>
            </a:r>
            <a:r>
              <a:rPr lang="en-US" sz="3373">
                <a:solidFill>
                  <a:srgbClr val="000000"/>
                </a:solidFill>
                <a:latin typeface="Copperplate Gothic 32 AB Bold"/>
                <a:ea typeface="Copperplate Gothic 32 AB Bold"/>
                <a:cs typeface="Copperplate Gothic 32 AB Bold"/>
                <a:sym typeface="Copperplate Gothic 32 AB Bold"/>
              </a:rPr>
              <a:t>ow has population growth affected total emissions in each country?</a:t>
            </a:r>
          </a:p>
        </p:txBody>
      </p:sp>
      <p:sp>
        <p:nvSpPr>
          <p:cNvPr name="TextBox 9" id="9"/>
          <p:cNvSpPr txBox="true"/>
          <p:nvPr/>
        </p:nvSpPr>
        <p:spPr>
          <a:xfrm rot="0">
            <a:off x="392798" y="7014302"/>
            <a:ext cx="10743483" cy="1075142"/>
          </a:xfrm>
          <a:prstGeom prst="rect">
            <a:avLst/>
          </a:prstGeom>
        </p:spPr>
        <p:txBody>
          <a:bodyPr anchor="t" rtlCol="false" tIns="0" lIns="0" bIns="0" rIns="0">
            <a:spAutoFit/>
          </a:bodyPr>
          <a:lstStyle/>
          <a:p>
            <a:pPr algn="l">
              <a:lnSpc>
                <a:spcPts val="2822"/>
              </a:lnSpc>
              <a:spcBef>
                <a:spcPct val="0"/>
              </a:spcBef>
            </a:pPr>
            <a:r>
              <a:rPr lang="en-US" b="true" sz="2352">
                <a:solidFill>
                  <a:srgbClr val="000000"/>
                </a:solidFill>
                <a:latin typeface="Arial Bold"/>
                <a:ea typeface="Arial Bold"/>
                <a:cs typeface="Arial Bold"/>
                <a:sym typeface="Arial Bold"/>
              </a:rPr>
              <a:t>Countries with higher population growth tend to have increased total emissions, showing a clear link between population size and energy-related emissions</a:t>
            </a:r>
          </a:p>
        </p:txBody>
      </p:sp>
      <p:sp>
        <p:nvSpPr>
          <p:cNvPr name="Freeform 10" id="10"/>
          <p:cNvSpPr/>
          <p:nvPr/>
        </p:nvSpPr>
        <p:spPr>
          <a:xfrm flipH="false" flipV="false" rot="0">
            <a:off x="4387640" y="8222569"/>
            <a:ext cx="5616755" cy="2197555"/>
          </a:xfrm>
          <a:custGeom>
            <a:avLst/>
            <a:gdLst/>
            <a:ahLst/>
            <a:cxnLst/>
            <a:rect r="r" b="b" t="t" l="l"/>
            <a:pathLst>
              <a:path h="2197555" w="5616755">
                <a:moveTo>
                  <a:pt x="0" y="0"/>
                </a:moveTo>
                <a:lnTo>
                  <a:pt x="5616755" y="0"/>
                </a:lnTo>
                <a:lnTo>
                  <a:pt x="5616755" y="2197556"/>
                </a:lnTo>
                <a:lnTo>
                  <a:pt x="0" y="2197556"/>
                </a:lnTo>
                <a:lnTo>
                  <a:pt x="0" y="0"/>
                </a:lnTo>
                <a:close/>
              </a:path>
            </a:pathLst>
          </a:custGeom>
          <a:blipFill>
            <a:blip r:embed="rId5"/>
            <a:stretch>
              <a:fillRect l="0" t="0" r="0" b="0"/>
            </a:stretch>
          </a:blipFill>
        </p:spPr>
      </p:sp>
      <p:sp>
        <p:nvSpPr>
          <p:cNvPr name="Freeform 11" id="11"/>
          <p:cNvSpPr/>
          <p:nvPr/>
        </p:nvSpPr>
        <p:spPr>
          <a:xfrm flipH="false" flipV="false" rot="0">
            <a:off x="-394560" y="8089445"/>
            <a:ext cx="5616755" cy="2197555"/>
          </a:xfrm>
          <a:custGeom>
            <a:avLst/>
            <a:gdLst/>
            <a:ahLst/>
            <a:cxnLst/>
            <a:rect r="r" b="b" t="t" l="l"/>
            <a:pathLst>
              <a:path h="2197555" w="5616755">
                <a:moveTo>
                  <a:pt x="0" y="0"/>
                </a:moveTo>
                <a:lnTo>
                  <a:pt x="5616754" y="0"/>
                </a:lnTo>
                <a:lnTo>
                  <a:pt x="5616754" y="2197555"/>
                </a:lnTo>
                <a:lnTo>
                  <a:pt x="0" y="2197555"/>
                </a:lnTo>
                <a:lnTo>
                  <a:pt x="0" y="0"/>
                </a:lnTo>
                <a:close/>
              </a:path>
            </a:pathLst>
          </a:custGeom>
          <a:blipFill>
            <a:blip r:embed="rId5"/>
            <a:stretch>
              <a:fillRect l="0" t="0" r="0" b="0"/>
            </a:stretch>
          </a:blipFill>
        </p:spPr>
      </p:sp>
      <p:sp>
        <p:nvSpPr>
          <p:cNvPr name="TextBox 12" id="12"/>
          <p:cNvSpPr txBox="true"/>
          <p:nvPr/>
        </p:nvSpPr>
        <p:spPr>
          <a:xfrm rot="0">
            <a:off x="392798" y="1363823"/>
            <a:ext cx="2477439" cy="634164"/>
          </a:xfrm>
          <a:prstGeom prst="rect">
            <a:avLst/>
          </a:prstGeom>
        </p:spPr>
        <p:txBody>
          <a:bodyPr anchor="t" rtlCol="false" tIns="0" lIns="0" bIns="0" rIns="0">
            <a:spAutoFit/>
          </a:bodyPr>
          <a:lstStyle/>
          <a:p>
            <a:pPr algn="ctr">
              <a:lnSpc>
                <a:spcPts val="4517"/>
              </a:lnSpc>
            </a:pPr>
            <a:r>
              <a:rPr lang="en-US" sz="3226" b="true">
                <a:solidFill>
                  <a:srgbClr val="FFFFFF"/>
                </a:solidFill>
                <a:latin typeface="Overpass Ultra-Bold"/>
                <a:ea typeface="Overpass Ultra-Bold"/>
                <a:cs typeface="Overpass Ultra-Bold"/>
                <a:sym typeface="Overpass Ultra-Bold"/>
              </a:rPr>
              <a:t>Query</a:t>
            </a:r>
          </a:p>
        </p:txBody>
      </p:sp>
      <p:sp>
        <p:nvSpPr>
          <p:cNvPr name="TextBox 13" id="13"/>
          <p:cNvSpPr txBox="true"/>
          <p:nvPr/>
        </p:nvSpPr>
        <p:spPr>
          <a:xfrm rot="0">
            <a:off x="10507445" y="946147"/>
            <a:ext cx="2202295" cy="560551"/>
          </a:xfrm>
          <a:prstGeom prst="rect">
            <a:avLst/>
          </a:prstGeom>
        </p:spPr>
        <p:txBody>
          <a:bodyPr anchor="t" rtlCol="false" tIns="0" lIns="0" bIns="0" rIns="0">
            <a:spAutoFit/>
          </a:bodyPr>
          <a:lstStyle/>
          <a:p>
            <a:pPr algn="ctr">
              <a:lnSpc>
                <a:spcPts val="4015"/>
              </a:lnSpc>
            </a:pPr>
            <a:r>
              <a:rPr lang="en-US" sz="2868" b="true">
                <a:solidFill>
                  <a:srgbClr val="FFFFFF"/>
                </a:solidFill>
                <a:latin typeface="Overpass Ultra-Bold"/>
                <a:ea typeface="Overpass Ultra-Bold"/>
                <a:cs typeface="Overpass Ultra-Bold"/>
                <a:sym typeface="Overpass Ultra-Bold"/>
              </a:rPr>
              <a:t>Output</a:t>
            </a:r>
          </a:p>
        </p:txBody>
      </p:sp>
      <p:sp>
        <p:nvSpPr>
          <p:cNvPr name="TextBox 14" id="14"/>
          <p:cNvSpPr txBox="true"/>
          <p:nvPr/>
        </p:nvSpPr>
        <p:spPr>
          <a:xfrm rot="0">
            <a:off x="392798" y="6111677"/>
            <a:ext cx="2202295" cy="560551"/>
          </a:xfrm>
          <a:prstGeom prst="rect">
            <a:avLst/>
          </a:prstGeom>
        </p:spPr>
        <p:txBody>
          <a:bodyPr anchor="t" rtlCol="false" tIns="0" lIns="0" bIns="0" rIns="0">
            <a:spAutoFit/>
          </a:bodyPr>
          <a:lstStyle/>
          <a:p>
            <a:pPr algn="ctr">
              <a:lnSpc>
                <a:spcPts val="4015"/>
              </a:lnSpc>
            </a:pPr>
            <a:r>
              <a:rPr lang="en-US" sz="2868" b="true">
                <a:solidFill>
                  <a:srgbClr val="FFFFFF"/>
                </a:solidFill>
                <a:latin typeface="Overpass Ultra-Bold"/>
                <a:ea typeface="Overpass Ultra-Bold"/>
                <a:cs typeface="Overpass Ultra-Bold"/>
                <a:sym typeface="Overpass Ultra-Bold"/>
              </a:rPr>
              <a:t>Observation</a:t>
            </a:r>
          </a:p>
        </p:txBody>
      </p:sp>
    </p:spTree>
  </p:cSld>
  <p:clrMapOvr>
    <a:masterClrMapping/>
  </p:clrMapOvr>
  <p:transition spd="slow">
    <p:push dir="l"/>
  </p:transition>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7AD">
                <a:alpha val="100000"/>
              </a:srgbClr>
            </a:gs>
            <a:gs pos="100000">
              <a:srgbClr val="FFA9F9">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25064" y="0"/>
            <a:ext cx="18538129" cy="10420125"/>
          </a:xfrm>
          <a:custGeom>
            <a:avLst/>
            <a:gdLst/>
            <a:ahLst/>
            <a:cxnLst/>
            <a:rect r="r" b="b" t="t" l="l"/>
            <a:pathLst>
              <a:path h="10420125" w="18538129">
                <a:moveTo>
                  <a:pt x="0" y="0"/>
                </a:moveTo>
                <a:lnTo>
                  <a:pt x="18538128" y="0"/>
                </a:lnTo>
                <a:lnTo>
                  <a:pt x="18538128" y="10420125"/>
                </a:lnTo>
                <a:lnTo>
                  <a:pt x="0" y="10420125"/>
                </a:lnTo>
                <a:lnTo>
                  <a:pt x="0" y="0"/>
                </a:lnTo>
                <a:close/>
              </a:path>
            </a:pathLst>
          </a:custGeom>
          <a:blipFill>
            <a:blip r:embed="rId2"/>
            <a:stretch>
              <a:fillRect l="0" t="0" r="0" b="0"/>
            </a:stretch>
          </a:blipFill>
        </p:spPr>
      </p:sp>
      <p:grpSp>
        <p:nvGrpSpPr>
          <p:cNvPr name="Group 3" id="3"/>
          <p:cNvGrpSpPr>
            <a:grpSpLocks noChangeAspect="true"/>
          </p:cNvGrpSpPr>
          <p:nvPr/>
        </p:nvGrpSpPr>
        <p:grpSpPr>
          <a:xfrm rot="0">
            <a:off x="13221348" y="9277476"/>
            <a:ext cx="4838096" cy="1009524"/>
            <a:chOff x="0" y="0"/>
            <a:chExt cx="6450794" cy="1346032"/>
          </a:xfrm>
        </p:grpSpPr>
        <p:sp>
          <p:nvSpPr>
            <p:cNvPr name="Freeform 4" id="4"/>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3"/>
              <a:stretch>
                <a:fillRect l="0" t="0" r="0" b="3"/>
              </a:stretch>
            </a:blipFill>
          </p:spPr>
        </p:sp>
      </p:grpSp>
      <p:sp>
        <p:nvSpPr>
          <p:cNvPr name="Freeform 5" id="5"/>
          <p:cNvSpPr/>
          <p:nvPr/>
        </p:nvSpPr>
        <p:spPr>
          <a:xfrm flipH="false" flipV="false" rot="0">
            <a:off x="728885" y="2084102"/>
            <a:ext cx="10952172" cy="3945307"/>
          </a:xfrm>
          <a:custGeom>
            <a:avLst/>
            <a:gdLst/>
            <a:ahLst/>
            <a:cxnLst/>
            <a:rect r="r" b="b" t="t" l="l"/>
            <a:pathLst>
              <a:path h="3945307" w="10952172">
                <a:moveTo>
                  <a:pt x="0" y="0"/>
                </a:moveTo>
                <a:lnTo>
                  <a:pt x="10952172" y="0"/>
                </a:lnTo>
                <a:lnTo>
                  <a:pt x="10952172" y="3945307"/>
                </a:lnTo>
                <a:lnTo>
                  <a:pt x="0" y="3945307"/>
                </a:lnTo>
                <a:lnTo>
                  <a:pt x="0" y="0"/>
                </a:lnTo>
                <a:close/>
              </a:path>
            </a:pathLst>
          </a:custGeom>
          <a:blipFill>
            <a:blip r:embed="rId4"/>
            <a:stretch>
              <a:fillRect l="0" t="0" r="0" b="0"/>
            </a:stretch>
          </a:blipFill>
        </p:spPr>
      </p:sp>
      <p:sp>
        <p:nvSpPr>
          <p:cNvPr name="Freeform 6" id="6"/>
          <p:cNvSpPr/>
          <p:nvPr/>
        </p:nvSpPr>
        <p:spPr>
          <a:xfrm flipH="false" flipV="false" rot="0">
            <a:off x="12581640" y="1392408"/>
            <a:ext cx="4950320" cy="7759961"/>
          </a:xfrm>
          <a:custGeom>
            <a:avLst/>
            <a:gdLst/>
            <a:ahLst/>
            <a:cxnLst/>
            <a:rect r="r" b="b" t="t" l="l"/>
            <a:pathLst>
              <a:path h="7759961" w="4950320">
                <a:moveTo>
                  <a:pt x="0" y="0"/>
                </a:moveTo>
                <a:lnTo>
                  <a:pt x="4950320" y="0"/>
                </a:lnTo>
                <a:lnTo>
                  <a:pt x="4950320" y="7759961"/>
                </a:lnTo>
                <a:lnTo>
                  <a:pt x="0" y="7759961"/>
                </a:lnTo>
                <a:lnTo>
                  <a:pt x="0" y="0"/>
                </a:lnTo>
                <a:close/>
              </a:path>
            </a:pathLst>
          </a:custGeom>
          <a:blipFill>
            <a:blip r:embed="rId5"/>
            <a:stretch>
              <a:fillRect l="0" t="0" r="0" b="0"/>
            </a:stretch>
          </a:blipFill>
        </p:spPr>
      </p:sp>
      <p:sp>
        <p:nvSpPr>
          <p:cNvPr name="TextBox 7" id="7"/>
          <p:cNvSpPr txBox="true"/>
          <p:nvPr/>
        </p:nvSpPr>
        <p:spPr>
          <a:xfrm rot="0">
            <a:off x="0" y="190884"/>
            <a:ext cx="16325574" cy="1076417"/>
          </a:xfrm>
          <a:prstGeom prst="rect">
            <a:avLst/>
          </a:prstGeom>
        </p:spPr>
        <p:txBody>
          <a:bodyPr anchor="t" rtlCol="false" tIns="0" lIns="0" bIns="0" rIns="0">
            <a:spAutoFit/>
          </a:bodyPr>
          <a:lstStyle/>
          <a:p>
            <a:pPr algn="ctr">
              <a:lnSpc>
                <a:spcPts val="4048"/>
              </a:lnSpc>
              <a:spcBef>
                <a:spcPct val="0"/>
              </a:spcBef>
            </a:pPr>
            <a:r>
              <a:rPr lang="en-US" sz="3373">
                <a:solidFill>
                  <a:srgbClr val="000000"/>
                </a:solidFill>
                <a:latin typeface="Copperplate Gothic 32 AB Bold"/>
                <a:ea typeface="Copperplate Gothic 32 AB Bold"/>
                <a:cs typeface="Copperplate Gothic 32 AB Bold"/>
                <a:sym typeface="Copperplate Gothic 32 AB Bold"/>
              </a:rPr>
              <a:t>8] Has energy c</a:t>
            </a:r>
            <a:r>
              <a:rPr lang="en-US" sz="3373">
                <a:solidFill>
                  <a:srgbClr val="000000"/>
                </a:solidFill>
                <a:latin typeface="Copperplate Gothic 32 AB Bold"/>
                <a:ea typeface="Copperplate Gothic 32 AB Bold"/>
                <a:cs typeface="Copperplate Gothic 32 AB Bold"/>
                <a:sym typeface="Copperplate Gothic 32 AB Bold"/>
              </a:rPr>
              <a:t>onsumption increased or decreased over the years for major economies?</a:t>
            </a:r>
          </a:p>
        </p:txBody>
      </p:sp>
      <p:sp>
        <p:nvSpPr>
          <p:cNvPr name="TextBox 8" id="8"/>
          <p:cNvSpPr txBox="true"/>
          <p:nvPr/>
        </p:nvSpPr>
        <p:spPr>
          <a:xfrm rot="0">
            <a:off x="728885" y="6827161"/>
            <a:ext cx="11570721" cy="1395409"/>
          </a:xfrm>
          <a:prstGeom prst="rect">
            <a:avLst/>
          </a:prstGeom>
        </p:spPr>
        <p:txBody>
          <a:bodyPr anchor="t" rtlCol="false" tIns="0" lIns="0" bIns="0" rIns="0">
            <a:spAutoFit/>
          </a:bodyPr>
          <a:lstStyle/>
          <a:p>
            <a:pPr algn="l">
              <a:lnSpc>
                <a:spcPts val="3679"/>
              </a:lnSpc>
              <a:spcBef>
                <a:spcPct val="0"/>
              </a:spcBef>
            </a:pPr>
            <a:r>
              <a:rPr lang="en-US" b="true" sz="3065">
                <a:solidFill>
                  <a:srgbClr val="000000"/>
                </a:solidFill>
                <a:latin typeface="Arial Bold"/>
                <a:ea typeface="Arial Bold"/>
                <a:cs typeface="Arial Bold"/>
                <a:sym typeface="Arial Bold"/>
              </a:rPr>
              <a:t>Energy consumption in major economies has generally increased over the years, reflecting industrial growth and rising demand for electricity and fuel.</a:t>
            </a:r>
          </a:p>
        </p:txBody>
      </p:sp>
      <p:sp>
        <p:nvSpPr>
          <p:cNvPr name="Freeform 9" id="9"/>
          <p:cNvSpPr/>
          <p:nvPr/>
        </p:nvSpPr>
        <p:spPr>
          <a:xfrm flipH="false" flipV="false" rot="0">
            <a:off x="0" y="8089445"/>
            <a:ext cx="5616755" cy="2197555"/>
          </a:xfrm>
          <a:custGeom>
            <a:avLst/>
            <a:gdLst/>
            <a:ahLst/>
            <a:cxnLst/>
            <a:rect r="r" b="b" t="t" l="l"/>
            <a:pathLst>
              <a:path h="2197555" w="5616755">
                <a:moveTo>
                  <a:pt x="0" y="0"/>
                </a:moveTo>
                <a:lnTo>
                  <a:pt x="5616755" y="0"/>
                </a:lnTo>
                <a:lnTo>
                  <a:pt x="5616755" y="2197555"/>
                </a:lnTo>
                <a:lnTo>
                  <a:pt x="0" y="2197555"/>
                </a:lnTo>
                <a:lnTo>
                  <a:pt x="0" y="0"/>
                </a:lnTo>
                <a:close/>
              </a:path>
            </a:pathLst>
          </a:custGeom>
          <a:blipFill>
            <a:blip r:embed="rId6"/>
            <a:stretch>
              <a:fillRect l="0" t="0" r="0" b="0"/>
            </a:stretch>
          </a:blipFill>
        </p:spPr>
      </p:sp>
      <p:sp>
        <p:nvSpPr>
          <p:cNvPr name="Freeform 10" id="10"/>
          <p:cNvSpPr/>
          <p:nvPr/>
        </p:nvSpPr>
        <p:spPr>
          <a:xfrm flipH="false" flipV="false" rot="0">
            <a:off x="5354410" y="8222569"/>
            <a:ext cx="5616755" cy="2197555"/>
          </a:xfrm>
          <a:custGeom>
            <a:avLst/>
            <a:gdLst/>
            <a:ahLst/>
            <a:cxnLst/>
            <a:rect r="r" b="b" t="t" l="l"/>
            <a:pathLst>
              <a:path h="2197555" w="5616755">
                <a:moveTo>
                  <a:pt x="0" y="0"/>
                </a:moveTo>
                <a:lnTo>
                  <a:pt x="5616754" y="0"/>
                </a:lnTo>
                <a:lnTo>
                  <a:pt x="5616754" y="2197556"/>
                </a:lnTo>
                <a:lnTo>
                  <a:pt x="0" y="2197556"/>
                </a:lnTo>
                <a:lnTo>
                  <a:pt x="0" y="0"/>
                </a:lnTo>
                <a:close/>
              </a:path>
            </a:pathLst>
          </a:custGeom>
          <a:blipFill>
            <a:blip r:embed="rId6"/>
            <a:stretch>
              <a:fillRect l="0" t="0" r="0" b="0"/>
            </a:stretch>
          </a:blipFill>
        </p:spPr>
      </p:sp>
      <p:sp>
        <p:nvSpPr>
          <p:cNvPr name="Freeform 11" id="11"/>
          <p:cNvSpPr/>
          <p:nvPr/>
        </p:nvSpPr>
        <p:spPr>
          <a:xfrm flipH="false" flipV="false" rot="0">
            <a:off x="8862542" y="8929547"/>
            <a:ext cx="4358806" cy="1705383"/>
          </a:xfrm>
          <a:custGeom>
            <a:avLst/>
            <a:gdLst/>
            <a:ahLst/>
            <a:cxnLst/>
            <a:rect r="r" b="b" t="t" l="l"/>
            <a:pathLst>
              <a:path h="1705383" w="4358806">
                <a:moveTo>
                  <a:pt x="0" y="0"/>
                </a:moveTo>
                <a:lnTo>
                  <a:pt x="4358806" y="0"/>
                </a:lnTo>
                <a:lnTo>
                  <a:pt x="4358806" y="1705382"/>
                </a:lnTo>
                <a:lnTo>
                  <a:pt x="0" y="1705382"/>
                </a:lnTo>
                <a:lnTo>
                  <a:pt x="0" y="0"/>
                </a:lnTo>
                <a:close/>
              </a:path>
            </a:pathLst>
          </a:custGeom>
          <a:blipFill>
            <a:blip r:embed="rId6"/>
            <a:stretch>
              <a:fillRect l="0" t="0" r="0" b="0"/>
            </a:stretch>
          </a:blipFill>
        </p:spPr>
      </p:sp>
      <p:sp>
        <p:nvSpPr>
          <p:cNvPr name="TextBox 12" id="12"/>
          <p:cNvSpPr txBox="true"/>
          <p:nvPr/>
        </p:nvSpPr>
        <p:spPr>
          <a:xfrm rot="0">
            <a:off x="330939" y="1287182"/>
            <a:ext cx="2477439" cy="634164"/>
          </a:xfrm>
          <a:prstGeom prst="rect">
            <a:avLst/>
          </a:prstGeom>
        </p:spPr>
        <p:txBody>
          <a:bodyPr anchor="t" rtlCol="false" tIns="0" lIns="0" bIns="0" rIns="0">
            <a:spAutoFit/>
          </a:bodyPr>
          <a:lstStyle/>
          <a:p>
            <a:pPr algn="ctr">
              <a:lnSpc>
                <a:spcPts val="4517"/>
              </a:lnSpc>
            </a:pPr>
            <a:r>
              <a:rPr lang="en-US" sz="3226" b="true">
                <a:solidFill>
                  <a:srgbClr val="FFFFFF"/>
                </a:solidFill>
                <a:latin typeface="Overpass Ultra-Bold"/>
                <a:ea typeface="Overpass Ultra-Bold"/>
                <a:cs typeface="Overpass Ultra-Bold"/>
                <a:sym typeface="Overpass Ultra-Bold"/>
              </a:rPr>
              <a:t>Query</a:t>
            </a:r>
          </a:p>
        </p:txBody>
      </p:sp>
      <p:sp>
        <p:nvSpPr>
          <p:cNvPr name="TextBox 13" id="13"/>
          <p:cNvSpPr txBox="true"/>
          <p:nvPr/>
        </p:nvSpPr>
        <p:spPr>
          <a:xfrm rot="0">
            <a:off x="10755684" y="1306232"/>
            <a:ext cx="2202295" cy="560551"/>
          </a:xfrm>
          <a:prstGeom prst="rect">
            <a:avLst/>
          </a:prstGeom>
        </p:spPr>
        <p:txBody>
          <a:bodyPr anchor="t" rtlCol="false" tIns="0" lIns="0" bIns="0" rIns="0">
            <a:spAutoFit/>
          </a:bodyPr>
          <a:lstStyle/>
          <a:p>
            <a:pPr algn="ctr">
              <a:lnSpc>
                <a:spcPts val="4015"/>
              </a:lnSpc>
            </a:pPr>
            <a:r>
              <a:rPr lang="en-US" sz="2868" b="true">
                <a:solidFill>
                  <a:srgbClr val="FFFFFF"/>
                </a:solidFill>
                <a:latin typeface="Overpass Ultra-Bold"/>
                <a:ea typeface="Overpass Ultra-Bold"/>
                <a:cs typeface="Overpass Ultra-Bold"/>
                <a:sym typeface="Overpass Ultra-Bold"/>
              </a:rPr>
              <a:t>Output</a:t>
            </a:r>
          </a:p>
        </p:txBody>
      </p:sp>
      <p:sp>
        <p:nvSpPr>
          <p:cNvPr name="TextBox 14" id="14"/>
          <p:cNvSpPr txBox="true"/>
          <p:nvPr/>
        </p:nvSpPr>
        <p:spPr>
          <a:xfrm rot="0">
            <a:off x="468510" y="6095622"/>
            <a:ext cx="2202295" cy="560551"/>
          </a:xfrm>
          <a:prstGeom prst="rect">
            <a:avLst/>
          </a:prstGeom>
        </p:spPr>
        <p:txBody>
          <a:bodyPr anchor="t" rtlCol="false" tIns="0" lIns="0" bIns="0" rIns="0">
            <a:spAutoFit/>
          </a:bodyPr>
          <a:lstStyle/>
          <a:p>
            <a:pPr algn="ctr">
              <a:lnSpc>
                <a:spcPts val="4015"/>
              </a:lnSpc>
            </a:pPr>
            <a:r>
              <a:rPr lang="en-US" sz="2868" b="true">
                <a:solidFill>
                  <a:srgbClr val="FFFFFF"/>
                </a:solidFill>
                <a:latin typeface="Overpass Ultra-Bold"/>
                <a:ea typeface="Overpass Ultra-Bold"/>
                <a:cs typeface="Overpass Ultra-Bold"/>
                <a:sym typeface="Overpass Ultra-Bold"/>
              </a:rPr>
              <a:t>Observation</a:t>
            </a:r>
          </a:p>
        </p:txBody>
      </p:sp>
    </p:spTree>
  </p:cSld>
  <p:clrMapOvr>
    <a:masterClrMapping/>
  </p:clrMapOvr>
  <p:transition spd="slow">
    <p:push dir="l"/>
  </p:transition>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7AD">
                <a:alpha val="100000"/>
              </a:srgbClr>
            </a:gs>
            <a:gs pos="100000">
              <a:srgbClr val="FFA9F9">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25064" y="0"/>
            <a:ext cx="18538129" cy="10420125"/>
          </a:xfrm>
          <a:custGeom>
            <a:avLst/>
            <a:gdLst/>
            <a:ahLst/>
            <a:cxnLst/>
            <a:rect r="r" b="b" t="t" l="l"/>
            <a:pathLst>
              <a:path h="10420125" w="18538129">
                <a:moveTo>
                  <a:pt x="0" y="0"/>
                </a:moveTo>
                <a:lnTo>
                  <a:pt x="18538128" y="0"/>
                </a:lnTo>
                <a:lnTo>
                  <a:pt x="18538128" y="10420125"/>
                </a:lnTo>
                <a:lnTo>
                  <a:pt x="0" y="10420125"/>
                </a:lnTo>
                <a:lnTo>
                  <a:pt x="0" y="0"/>
                </a:lnTo>
                <a:close/>
              </a:path>
            </a:pathLst>
          </a:custGeom>
          <a:blipFill>
            <a:blip r:embed="rId2"/>
            <a:stretch>
              <a:fillRect l="0" t="0" r="0" b="0"/>
            </a:stretch>
          </a:blipFill>
        </p:spPr>
      </p:sp>
      <p:grpSp>
        <p:nvGrpSpPr>
          <p:cNvPr name="Group 3" id="3"/>
          <p:cNvGrpSpPr>
            <a:grpSpLocks noChangeAspect="true"/>
          </p:cNvGrpSpPr>
          <p:nvPr/>
        </p:nvGrpSpPr>
        <p:grpSpPr>
          <a:xfrm rot="0">
            <a:off x="13221348" y="9277476"/>
            <a:ext cx="4838096" cy="1009524"/>
            <a:chOff x="0" y="0"/>
            <a:chExt cx="6450794" cy="1346032"/>
          </a:xfrm>
        </p:grpSpPr>
        <p:sp>
          <p:nvSpPr>
            <p:cNvPr name="Freeform 4" id="4"/>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3"/>
              <a:stretch>
                <a:fillRect l="0" t="0" r="0" b="3"/>
              </a:stretch>
            </a:blipFill>
          </p:spPr>
        </p:sp>
      </p:grpSp>
      <p:sp>
        <p:nvSpPr>
          <p:cNvPr name="Freeform 5" id="5"/>
          <p:cNvSpPr/>
          <p:nvPr/>
        </p:nvSpPr>
        <p:spPr>
          <a:xfrm flipH="false" flipV="false" rot="0">
            <a:off x="1466348" y="1997496"/>
            <a:ext cx="10383977" cy="4268968"/>
          </a:xfrm>
          <a:custGeom>
            <a:avLst/>
            <a:gdLst/>
            <a:ahLst/>
            <a:cxnLst/>
            <a:rect r="r" b="b" t="t" l="l"/>
            <a:pathLst>
              <a:path h="4268968" w="10383977">
                <a:moveTo>
                  <a:pt x="0" y="0"/>
                </a:moveTo>
                <a:lnTo>
                  <a:pt x="10383977" y="0"/>
                </a:lnTo>
                <a:lnTo>
                  <a:pt x="10383977" y="4268969"/>
                </a:lnTo>
                <a:lnTo>
                  <a:pt x="0" y="4268969"/>
                </a:lnTo>
                <a:lnTo>
                  <a:pt x="0" y="0"/>
                </a:lnTo>
                <a:close/>
              </a:path>
            </a:pathLst>
          </a:custGeom>
          <a:blipFill>
            <a:blip r:embed="rId4"/>
            <a:stretch>
              <a:fillRect l="0" t="0" r="0" b="0"/>
            </a:stretch>
          </a:blipFill>
        </p:spPr>
      </p:sp>
      <p:sp>
        <p:nvSpPr>
          <p:cNvPr name="Freeform 6" id="6"/>
          <p:cNvSpPr/>
          <p:nvPr/>
        </p:nvSpPr>
        <p:spPr>
          <a:xfrm flipH="false" flipV="false" rot="0">
            <a:off x="12546229" y="1178646"/>
            <a:ext cx="4713071" cy="7929708"/>
          </a:xfrm>
          <a:custGeom>
            <a:avLst/>
            <a:gdLst/>
            <a:ahLst/>
            <a:cxnLst/>
            <a:rect r="r" b="b" t="t" l="l"/>
            <a:pathLst>
              <a:path h="7929708" w="4713071">
                <a:moveTo>
                  <a:pt x="0" y="0"/>
                </a:moveTo>
                <a:lnTo>
                  <a:pt x="4713071" y="0"/>
                </a:lnTo>
                <a:lnTo>
                  <a:pt x="4713071" y="7929708"/>
                </a:lnTo>
                <a:lnTo>
                  <a:pt x="0" y="7929708"/>
                </a:lnTo>
                <a:lnTo>
                  <a:pt x="0" y="0"/>
                </a:lnTo>
                <a:close/>
              </a:path>
            </a:pathLst>
          </a:custGeom>
          <a:blipFill>
            <a:blip r:embed="rId5"/>
            <a:stretch>
              <a:fillRect l="0" t="0" r="0" b="0"/>
            </a:stretch>
          </a:blipFill>
        </p:spPr>
      </p:sp>
      <p:sp>
        <p:nvSpPr>
          <p:cNvPr name="TextBox 7" id="7"/>
          <p:cNvSpPr txBox="true"/>
          <p:nvPr/>
        </p:nvSpPr>
        <p:spPr>
          <a:xfrm rot="0">
            <a:off x="381583" y="457154"/>
            <a:ext cx="14662963" cy="1076417"/>
          </a:xfrm>
          <a:prstGeom prst="rect">
            <a:avLst/>
          </a:prstGeom>
        </p:spPr>
        <p:txBody>
          <a:bodyPr anchor="t" rtlCol="false" tIns="0" lIns="0" bIns="0" rIns="0">
            <a:spAutoFit/>
          </a:bodyPr>
          <a:lstStyle/>
          <a:p>
            <a:pPr algn="l">
              <a:lnSpc>
                <a:spcPts val="4048"/>
              </a:lnSpc>
              <a:spcBef>
                <a:spcPct val="0"/>
              </a:spcBef>
            </a:pPr>
            <a:r>
              <a:rPr lang="en-US" sz="3373">
                <a:solidFill>
                  <a:srgbClr val="000000"/>
                </a:solidFill>
                <a:latin typeface="Copperplate Gothic 32 AB Bold"/>
                <a:ea typeface="Copperplate Gothic 32 AB Bold"/>
                <a:cs typeface="Copperplate Gothic 32 AB Bold"/>
                <a:sym typeface="Copperplate Gothic 32 AB Bold"/>
              </a:rPr>
              <a:t>9] What is the ave</a:t>
            </a:r>
            <a:r>
              <a:rPr lang="en-US" sz="3373">
                <a:solidFill>
                  <a:srgbClr val="000000"/>
                </a:solidFill>
                <a:latin typeface="Copperplate Gothic 32 AB Bold"/>
                <a:ea typeface="Copperplate Gothic 32 AB Bold"/>
                <a:cs typeface="Copperplate Gothic 32 AB Bold"/>
                <a:sym typeface="Copperplate Gothic 32 AB Bold"/>
              </a:rPr>
              <a:t>rage yearly change in emissions per capita for each country?</a:t>
            </a:r>
          </a:p>
        </p:txBody>
      </p:sp>
      <p:sp>
        <p:nvSpPr>
          <p:cNvPr name="TextBox 8" id="8"/>
          <p:cNvSpPr txBox="true"/>
          <p:nvPr/>
        </p:nvSpPr>
        <p:spPr>
          <a:xfrm rot="0">
            <a:off x="562012" y="7109402"/>
            <a:ext cx="12192648" cy="1028792"/>
          </a:xfrm>
          <a:prstGeom prst="rect">
            <a:avLst/>
          </a:prstGeom>
        </p:spPr>
        <p:txBody>
          <a:bodyPr anchor="t" rtlCol="false" tIns="0" lIns="0" bIns="0" rIns="0">
            <a:spAutoFit/>
          </a:bodyPr>
          <a:lstStyle/>
          <a:p>
            <a:pPr algn="l">
              <a:lnSpc>
                <a:spcPts val="4048"/>
              </a:lnSpc>
              <a:spcBef>
                <a:spcPct val="0"/>
              </a:spcBef>
            </a:pPr>
            <a:r>
              <a:rPr lang="en-US" b="true" sz="3373">
                <a:solidFill>
                  <a:srgbClr val="000000"/>
                </a:solidFill>
                <a:latin typeface="Arial Bold"/>
                <a:ea typeface="Arial Bold"/>
                <a:cs typeface="Arial Bold"/>
                <a:sym typeface="Arial Bold"/>
              </a:rPr>
              <a:t>Emissions per person increase in some countries, stay stable in others, and slightly decrease in a few.</a:t>
            </a:r>
          </a:p>
        </p:txBody>
      </p:sp>
      <p:sp>
        <p:nvSpPr>
          <p:cNvPr name="Freeform 9" id="9"/>
          <p:cNvSpPr/>
          <p:nvPr/>
        </p:nvSpPr>
        <p:spPr>
          <a:xfrm flipH="false" flipV="false" rot="0">
            <a:off x="7940800" y="8441748"/>
            <a:ext cx="5616755" cy="2197555"/>
          </a:xfrm>
          <a:custGeom>
            <a:avLst/>
            <a:gdLst/>
            <a:ahLst/>
            <a:cxnLst/>
            <a:rect r="r" b="b" t="t" l="l"/>
            <a:pathLst>
              <a:path h="2197555" w="5616755">
                <a:moveTo>
                  <a:pt x="0" y="0"/>
                </a:moveTo>
                <a:lnTo>
                  <a:pt x="5616755" y="0"/>
                </a:lnTo>
                <a:lnTo>
                  <a:pt x="5616755" y="2197556"/>
                </a:lnTo>
                <a:lnTo>
                  <a:pt x="0" y="2197556"/>
                </a:lnTo>
                <a:lnTo>
                  <a:pt x="0" y="0"/>
                </a:lnTo>
                <a:close/>
              </a:path>
            </a:pathLst>
          </a:custGeom>
          <a:blipFill>
            <a:blip r:embed="rId6"/>
            <a:stretch>
              <a:fillRect l="0" t="0" r="0" b="0"/>
            </a:stretch>
          </a:blipFill>
        </p:spPr>
      </p:sp>
      <p:sp>
        <p:nvSpPr>
          <p:cNvPr name="Freeform 10" id="10"/>
          <p:cNvSpPr/>
          <p:nvPr/>
        </p:nvSpPr>
        <p:spPr>
          <a:xfrm flipH="false" flipV="false" rot="0">
            <a:off x="8093200" y="8594148"/>
            <a:ext cx="5616755" cy="2197555"/>
          </a:xfrm>
          <a:custGeom>
            <a:avLst/>
            <a:gdLst/>
            <a:ahLst/>
            <a:cxnLst/>
            <a:rect r="r" b="b" t="t" l="l"/>
            <a:pathLst>
              <a:path h="2197555" w="5616755">
                <a:moveTo>
                  <a:pt x="0" y="0"/>
                </a:moveTo>
                <a:lnTo>
                  <a:pt x="5616755" y="0"/>
                </a:lnTo>
                <a:lnTo>
                  <a:pt x="5616755" y="2197556"/>
                </a:lnTo>
                <a:lnTo>
                  <a:pt x="0" y="2197556"/>
                </a:lnTo>
                <a:lnTo>
                  <a:pt x="0" y="0"/>
                </a:lnTo>
                <a:close/>
              </a:path>
            </a:pathLst>
          </a:custGeom>
          <a:blipFill>
            <a:blip r:embed="rId6"/>
            <a:stretch>
              <a:fillRect l="0" t="0" r="0" b="0"/>
            </a:stretch>
          </a:blipFill>
        </p:spPr>
      </p:sp>
      <p:sp>
        <p:nvSpPr>
          <p:cNvPr name="Freeform 11" id="11"/>
          <p:cNvSpPr/>
          <p:nvPr/>
        </p:nvSpPr>
        <p:spPr>
          <a:xfrm flipH="false" flipV="false" rot="0">
            <a:off x="4208200" y="7933431"/>
            <a:ext cx="5616755" cy="2197555"/>
          </a:xfrm>
          <a:custGeom>
            <a:avLst/>
            <a:gdLst/>
            <a:ahLst/>
            <a:cxnLst/>
            <a:rect r="r" b="b" t="t" l="l"/>
            <a:pathLst>
              <a:path h="2197555" w="5616755">
                <a:moveTo>
                  <a:pt x="0" y="0"/>
                </a:moveTo>
                <a:lnTo>
                  <a:pt x="5616755" y="0"/>
                </a:lnTo>
                <a:lnTo>
                  <a:pt x="5616755" y="2197556"/>
                </a:lnTo>
                <a:lnTo>
                  <a:pt x="0" y="2197556"/>
                </a:lnTo>
                <a:lnTo>
                  <a:pt x="0" y="0"/>
                </a:lnTo>
                <a:close/>
              </a:path>
            </a:pathLst>
          </a:custGeom>
          <a:blipFill>
            <a:blip r:embed="rId6"/>
            <a:stretch>
              <a:fillRect l="0" t="0" r="0" b="0"/>
            </a:stretch>
          </a:blipFill>
        </p:spPr>
      </p:sp>
      <p:sp>
        <p:nvSpPr>
          <p:cNvPr name="Freeform 12" id="12"/>
          <p:cNvSpPr/>
          <p:nvPr/>
        </p:nvSpPr>
        <p:spPr>
          <a:xfrm flipH="false" flipV="false" rot="0">
            <a:off x="3766638" y="8594148"/>
            <a:ext cx="5616755" cy="2197555"/>
          </a:xfrm>
          <a:custGeom>
            <a:avLst/>
            <a:gdLst/>
            <a:ahLst/>
            <a:cxnLst/>
            <a:rect r="r" b="b" t="t" l="l"/>
            <a:pathLst>
              <a:path h="2197555" w="5616755">
                <a:moveTo>
                  <a:pt x="0" y="0"/>
                </a:moveTo>
                <a:lnTo>
                  <a:pt x="5616755" y="0"/>
                </a:lnTo>
                <a:lnTo>
                  <a:pt x="5616755" y="2197556"/>
                </a:lnTo>
                <a:lnTo>
                  <a:pt x="0" y="2197556"/>
                </a:lnTo>
                <a:lnTo>
                  <a:pt x="0" y="0"/>
                </a:lnTo>
                <a:close/>
              </a:path>
            </a:pathLst>
          </a:custGeom>
          <a:blipFill>
            <a:blip r:embed="rId6"/>
            <a:stretch>
              <a:fillRect l="0" t="0" r="0" b="0"/>
            </a:stretch>
          </a:blipFill>
        </p:spPr>
      </p:sp>
      <p:sp>
        <p:nvSpPr>
          <p:cNvPr name="Freeform 13" id="13"/>
          <p:cNvSpPr/>
          <p:nvPr/>
        </p:nvSpPr>
        <p:spPr>
          <a:xfrm flipH="false" flipV="false" rot="0">
            <a:off x="-959920" y="8441748"/>
            <a:ext cx="5616755" cy="2197555"/>
          </a:xfrm>
          <a:custGeom>
            <a:avLst/>
            <a:gdLst/>
            <a:ahLst/>
            <a:cxnLst/>
            <a:rect r="r" b="b" t="t" l="l"/>
            <a:pathLst>
              <a:path h="2197555" w="5616755">
                <a:moveTo>
                  <a:pt x="0" y="0"/>
                </a:moveTo>
                <a:lnTo>
                  <a:pt x="5616754" y="0"/>
                </a:lnTo>
                <a:lnTo>
                  <a:pt x="5616754" y="2197556"/>
                </a:lnTo>
                <a:lnTo>
                  <a:pt x="0" y="2197556"/>
                </a:lnTo>
                <a:lnTo>
                  <a:pt x="0" y="0"/>
                </a:lnTo>
                <a:close/>
              </a:path>
            </a:pathLst>
          </a:custGeom>
          <a:blipFill>
            <a:blip r:embed="rId6"/>
            <a:stretch>
              <a:fillRect l="0" t="0" r="0" b="0"/>
            </a:stretch>
          </a:blipFill>
        </p:spPr>
      </p:sp>
      <p:sp>
        <p:nvSpPr>
          <p:cNvPr name="TextBox 14" id="14"/>
          <p:cNvSpPr txBox="true"/>
          <p:nvPr/>
        </p:nvSpPr>
        <p:spPr>
          <a:xfrm rot="0">
            <a:off x="381583" y="1390696"/>
            <a:ext cx="2477439" cy="634164"/>
          </a:xfrm>
          <a:prstGeom prst="rect">
            <a:avLst/>
          </a:prstGeom>
        </p:spPr>
        <p:txBody>
          <a:bodyPr anchor="t" rtlCol="false" tIns="0" lIns="0" bIns="0" rIns="0">
            <a:spAutoFit/>
          </a:bodyPr>
          <a:lstStyle/>
          <a:p>
            <a:pPr algn="ctr">
              <a:lnSpc>
                <a:spcPts val="4517"/>
              </a:lnSpc>
            </a:pPr>
            <a:r>
              <a:rPr lang="en-US" sz="3226" b="true">
                <a:solidFill>
                  <a:srgbClr val="FFFFFF"/>
                </a:solidFill>
                <a:latin typeface="Overpass Ultra-Bold"/>
                <a:ea typeface="Overpass Ultra-Bold"/>
                <a:cs typeface="Overpass Ultra-Bold"/>
                <a:sym typeface="Overpass Ultra-Bold"/>
              </a:rPr>
              <a:t>Query</a:t>
            </a:r>
          </a:p>
        </p:txBody>
      </p:sp>
      <p:sp>
        <p:nvSpPr>
          <p:cNvPr name="TextBox 15" id="15"/>
          <p:cNvSpPr txBox="true"/>
          <p:nvPr/>
        </p:nvSpPr>
        <p:spPr>
          <a:xfrm rot="0">
            <a:off x="10749177" y="1084520"/>
            <a:ext cx="2202295" cy="560551"/>
          </a:xfrm>
          <a:prstGeom prst="rect">
            <a:avLst/>
          </a:prstGeom>
        </p:spPr>
        <p:txBody>
          <a:bodyPr anchor="t" rtlCol="false" tIns="0" lIns="0" bIns="0" rIns="0">
            <a:spAutoFit/>
          </a:bodyPr>
          <a:lstStyle/>
          <a:p>
            <a:pPr algn="ctr">
              <a:lnSpc>
                <a:spcPts val="4015"/>
              </a:lnSpc>
            </a:pPr>
            <a:r>
              <a:rPr lang="en-US" sz="2868" b="true">
                <a:solidFill>
                  <a:srgbClr val="FFFFFF"/>
                </a:solidFill>
                <a:latin typeface="Overpass Ultra-Bold"/>
                <a:ea typeface="Overpass Ultra-Bold"/>
                <a:cs typeface="Overpass Ultra-Bold"/>
                <a:sym typeface="Overpass Ultra-Bold"/>
              </a:rPr>
              <a:t>Output</a:t>
            </a:r>
          </a:p>
        </p:txBody>
      </p:sp>
      <p:sp>
        <p:nvSpPr>
          <p:cNvPr name="TextBox 16" id="16"/>
          <p:cNvSpPr txBox="true"/>
          <p:nvPr/>
        </p:nvSpPr>
        <p:spPr>
          <a:xfrm rot="0">
            <a:off x="365200" y="6355270"/>
            <a:ext cx="2202295" cy="560551"/>
          </a:xfrm>
          <a:prstGeom prst="rect">
            <a:avLst/>
          </a:prstGeom>
        </p:spPr>
        <p:txBody>
          <a:bodyPr anchor="t" rtlCol="false" tIns="0" lIns="0" bIns="0" rIns="0">
            <a:spAutoFit/>
          </a:bodyPr>
          <a:lstStyle/>
          <a:p>
            <a:pPr algn="ctr">
              <a:lnSpc>
                <a:spcPts val="4015"/>
              </a:lnSpc>
            </a:pPr>
            <a:r>
              <a:rPr lang="en-US" sz="2868" b="true">
                <a:solidFill>
                  <a:srgbClr val="FFFFFF"/>
                </a:solidFill>
                <a:latin typeface="Overpass Ultra-Bold"/>
                <a:ea typeface="Overpass Ultra-Bold"/>
                <a:cs typeface="Overpass Ultra-Bold"/>
                <a:sym typeface="Overpass Ultra-Bold"/>
              </a:rPr>
              <a:t>Observation</a:t>
            </a:r>
          </a:p>
        </p:txBody>
      </p:sp>
    </p:spTree>
  </p:cSld>
  <p:clrMapOvr>
    <a:masterClrMapping/>
  </p:clrMapOvr>
  <p:transition spd="slow">
    <p:push dir="l"/>
  </p:transition>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7AD">
                <a:alpha val="100000"/>
              </a:srgbClr>
            </a:gs>
            <a:gs pos="100000">
              <a:srgbClr val="FFA9F9">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25064" y="0"/>
            <a:ext cx="18538129" cy="10420125"/>
          </a:xfrm>
          <a:custGeom>
            <a:avLst/>
            <a:gdLst/>
            <a:ahLst/>
            <a:cxnLst/>
            <a:rect r="r" b="b" t="t" l="l"/>
            <a:pathLst>
              <a:path h="10420125" w="18538129">
                <a:moveTo>
                  <a:pt x="0" y="0"/>
                </a:moveTo>
                <a:lnTo>
                  <a:pt x="18538128" y="0"/>
                </a:lnTo>
                <a:lnTo>
                  <a:pt x="18538128" y="10420125"/>
                </a:lnTo>
                <a:lnTo>
                  <a:pt x="0" y="10420125"/>
                </a:lnTo>
                <a:lnTo>
                  <a:pt x="0" y="0"/>
                </a:lnTo>
                <a:close/>
              </a:path>
            </a:pathLst>
          </a:custGeom>
          <a:blipFill>
            <a:blip r:embed="rId2"/>
            <a:stretch>
              <a:fillRect l="0" t="0" r="0" b="0"/>
            </a:stretch>
          </a:blipFill>
        </p:spPr>
      </p:sp>
      <p:grpSp>
        <p:nvGrpSpPr>
          <p:cNvPr name="Group 3" id="3"/>
          <p:cNvGrpSpPr>
            <a:grpSpLocks noChangeAspect="true"/>
          </p:cNvGrpSpPr>
          <p:nvPr/>
        </p:nvGrpSpPr>
        <p:grpSpPr>
          <a:xfrm rot="0">
            <a:off x="13221348" y="9277476"/>
            <a:ext cx="4838096" cy="1009524"/>
            <a:chOff x="0" y="0"/>
            <a:chExt cx="6450794" cy="1346032"/>
          </a:xfrm>
        </p:grpSpPr>
        <p:sp>
          <p:nvSpPr>
            <p:cNvPr name="Freeform 4" id="4"/>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3"/>
              <a:stretch>
                <a:fillRect l="0" t="0" r="0" b="3"/>
              </a:stretch>
            </a:blipFill>
          </p:spPr>
        </p:sp>
      </p:grpSp>
      <p:sp>
        <p:nvSpPr>
          <p:cNvPr name="Freeform 5" id="5"/>
          <p:cNvSpPr/>
          <p:nvPr/>
        </p:nvSpPr>
        <p:spPr>
          <a:xfrm flipH="false" flipV="false" rot="0">
            <a:off x="848676" y="2576123"/>
            <a:ext cx="10550440" cy="3890814"/>
          </a:xfrm>
          <a:custGeom>
            <a:avLst/>
            <a:gdLst/>
            <a:ahLst/>
            <a:cxnLst/>
            <a:rect r="r" b="b" t="t" l="l"/>
            <a:pathLst>
              <a:path h="3890814" w="10550440">
                <a:moveTo>
                  <a:pt x="0" y="0"/>
                </a:moveTo>
                <a:lnTo>
                  <a:pt x="10550440" y="0"/>
                </a:lnTo>
                <a:lnTo>
                  <a:pt x="10550440" y="3890813"/>
                </a:lnTo>
                <a:lnTo>
                  <a:pt x="0" y="3890813"/>
                </a:lnTo>
                <a:lnTo>
                  <a:pt x="0" y="0"/>
                </a:lnTo>
                <a:close/>
              </a:path>
            </a:pathLst>
          </a:custGeom>
          <a:blipFill>
            <a:blip r:embed="rId4"/>
            <a:stretch>
              <a:fillRect l="0" t="0" r="0" b="0"/>
            </a:stretch>
          </a:blipFill>
        </p:spPr>
      </p:sp>
      <p:sp>
        <p:nvSpPr>
          <p:cNvPr name="Freeform 6" id="6"/>
          <p:cNvSpPr/>
          <p:nvPr/>
        </p:nvSpPr>
        <p:spPr>
          <a:xfrm flipH="false" flipV="false" rot="0">
            <a:off x="12327089" y="1192674"/>
            <a:ext cx="4444770" cy="8034777"/>
          </a:xfrm>
          <a:custGeom>
            <a:avLst/>
            <a:gdLst/>
            <a:ahLst/>
            <a:cxnLst/>
            <a:rect r="r" b="b" t="t" l="l"/>
            <a:pathLst>
              <a:path h="8034777" w="4444770">
                <a:moveTo>
                  <a:pt x="0" y="0"/>
                </a:moveTo>
                <a:lnTo>
                  <a:pt x="4444770" y="0"/>
                </a:lnTo>
                <a:lnTo>
                  <a:pt x="4444770" y="8034777"/>
                </a:lnTo>
                <a:lnTo>
                  <a:pt x="0" y="8034777"/>
                </a:lnTo>
                <a:lnTo>
                  <a:pt x="0" y="0"/>
                </a:lnTo>
                <a:close/>
              </a:path>
            </a:pathLst>
          </a:custGeom>
          <a:blipFill>
            <a:blip r:embed="rId5"/>
            <a:stretch>
              <a:fillRect l="0" t="0" r="0" b="0"/>
            </a:stretch>
          </a:blipFill>
        </p:spPr>
      </p:sp>
      <p:sp>
        <p:nvSpPr>
          <p:cNvPr name="TextBox 7" id="7"/>
          <p:cNvSpPr txBox="true"/>
          <p:nvPr/>
        </p:nvSpPr>
        <p:spPr>
          <a:xfrm rot="0">
            <a:off x="368099" y="457154"/>
            <a:ext cx="13872253" cy="1076417"/>
          </a:xfrm>
          <a:prstGeom prst="rect">
            <a:avLst/>
          </a:prstGeom>
        </p:spPr>
        <p:txBody>
          <a:bodyPr anchor="t" rtlCol="false" tIns="0" lIns="0" bIns="0" rIns="0">
            <a:spAutoFit/>
          </a:bodyPr>
          <a:lstStyle/>
          <a:p>
            <a:pPr algn="l">
              <a:lnSpc>
                <a:spcPts val="4048"/>
              </a:lnSpc>
              <a:spcBef>
                <a:spcPct val="0"/>
              </a:spcBef>
            </a:pPr>
            <a:r>
              <a:rPr lang="en-US" sz="3373">
                <a:solidFill>
                  <a:srgbClr val="000000"/>
                </a:solidFill>
                <a:latin typeface="Copperplate Gothic 32 AB Bold"/>
                <a:ea typeface="Copperplate Gothic 32 AB Bold"/>
                <a:cs typeface="Copperplate Gothic 32 AB Bold"/>
                <a:sym typeface="Copperplate Gothic 32 AB Bold"/>
              </a:rPr>
              <a:t>10]</a:t>
            </a:r>
            <a:r>
              <a:rPr lang="en-US" sz="3373">
                <a:solidFill>
                  <a:srgbClr val="000000"/>
                </a:solidFill>
                <a:latin typeface="Copperplate Gothic 32 AB Bold"/>
                <a:ea typeface="Copperplate Gothic 32 AB Bold"/>
                <a:cs typeface="Copperplate Gothic 32 AB Bold"/>
                <a:sym typeface="Copperplate Gothic 32 AB Bold"/>
              </a:rPr>
              <a:t> What is the emission-to-GDP ratio for each country by year?</a:t>
            </a:r>
          </a:p>
        </p:txBody>
      </p:sp>
      <p:sp>
        <p:nvSpPr>
          <p:cNvPr name="TextBox 8" id="8"/>
          <p:cNvSpPr txBox="true"/>
          <p:nvPr/>
        </p:nvSpPr>
        <p:spPr>
          <a:xfrm rot="0">
            <a:off x="1028700" y="7335138"/>
            <a:ext cx="9464512" cy="1106610"/>
          </a:xfrm>
          <a:prstGeom prst="rect">
            <a:avLst/>
          </a:prstGeom>
        </p:spPr>
        <p:txBody>
          <a:bodyPr anchor="t" rtlCol="false" tIns="0" lIns="0" bIns="0" rIns="0">
            <a:spAutoFit/>
          </a:bodyPr>
          <a:lstStyle/>
          <a:p>
            <a:pPr algn="l">
              <a:lnSpc>
                <a:spcPts val="2932"/>
              </a:lnSpc>
              <a:spcBef>
                <a:spcPct val="0"/>
              </a:spcBef>
            </a:pPr>
            <a:r>
              <a:rPr lang="en-US" b="true" sz="2443">
                <a:solidFill>
                  <a:srgbClr val="000000"/>
                </a:solidFill>
                <a:latin typeface="Arial Bold"/>
                <a:ea typeface="Arial Bold"/>
                <a:cs typeface="Arial Bold"/>
                <a:sym typeface="Arial Bold"/>
              </a:rPr>
              <a:t>Countries with efficient energy use emition less per unit of GDP, while carbon-intensive economies have higher emission-to-GDP ratios.</a:t>
            </a:r>
          </a:p>
        </p:txBody>
      </p:sp>
      <p:sp>
        <p:nvSpPr>
          <p:cNvPr name="Freeform 9" id="9"/>
          <p:cNvSpPr/>
          <p:nvPr/>
        </p:nvSpPr>
        <p:spPr>
          <a:xfrm flipH="false" flipV="false" rot="0">
            <a:off x="-125064" y="8178698"/>
            <a:ext cx="5616755" cy="2197555"/>
          </a:xfrm>
          <a:custGeom>
            <a:avLst/>
            <a:gdLst/>
            <a:ahLst/>
            <a:cxnLst/>
            <a:rect r="r" b="b" t="t" l="l"/>
            <a:pathLst>
              <a:path h="2197555" w="5616755">
                <a:moveTo>
                  <a:pt x="0" y="0"/>
                </a:moveTo>
                <a:lnTo>
                  <a:pt x="5616754" y="0"/>
                </a:lnTo>
                <a:lnTo>
                  <a:pt x="5616754" y="2197556"/>
                </a:lnTo>
                <a:lnTo>
                  <a:pt x="0" y="2197556"/>
                </a:lnTo>
                <a:lnTo>
                  <a:pt x="0" y="0"/>
                </a:lnTo>
                <a:close/>
              </a:path>
            </a:pathLst>
          </a:custGeom>
          <a:blipFill>
            <a:blip r:embed="rId6"/>
            <a:stretch>
              <a:fillRect l="0" t="0" r="0" b="0"/>
            </a:stretch>
          </a:blipFill>
        </p:spPr>
      </p:sp>
      <p:sp>
        <p:nvSpPr>
          <p:cNvPr name="Freeform 10" id="10"/>
          <p:cNvSpPr/>
          <p:nvPr/>
        </p:nvSpPr>
        <p:spPr>
          <a:xfrm flipH="false" flipV="false" rot="0">
            <a:off x="6335623" y="8128673"/>
            <a:ext cx="5616755" cy="2197555"/>
          </a:xfrm>
          <a:custGeom>
            <a:avLst/>
            <a:gdLst/>
            <a:ahLst/>
            <a:cxnLst/>
            <a:rect r="r" b="b" t="t" l="l"/>
            <a:pathLst>
              <a:path h="2197555" w="5616755">
                <a:moveTo>
                  <a:pt x="0" y="0"/>
                </a:moveTo>
                <a:lnTo>
                  <a:pt x="5616754" y="0"/>
                </a:lnTo>
                <a:lnTo>
                  <a:pt x="5616754" y="2197556"/>
                </a:lnTo>
                <a:lnTo>
                  <a:pt x="0" y="2197556"/>
                </a:lnTo>
                <a:lnTo>
                  <a:pt x="0" y="0"/>
                </a:lnTo>
                <a:close/>
              </a:path>
            </a:pathLst>
          </a:custGeom>
          <a:blipFill>
            <a:blip r:embed="rId6"/>
            <a:stretch>
              <a:fillRect l="0" t="0" r="0" b="0"/>
            </a:stretch>
          </a:blipFill>
        </p:spPr>
      </p:sp>
      <p:sp>
        <p:nvSpPr>
          <p:cNvPr name="Freeform 11" id="11"/>
          <p:cNvSpPr/>
          <p:nvPr/>
        </p:nvSpPr>
        <p:spPr>
          <a:xfrm flipH="false" flipV="false" rot="0">
            <a:off x="3527245" y="8441748"/>
            <a:ext cx="5616755" cy="2197555"/>
          </a:xfrm>
          <a:custGeom>
            <a:avLst/>
            <a:gdLst/>
            <a:ahLst/>
            <a:cxnLst/>
            <a:rect r="r" b="b" t="t" l="l"/>
            <a:pathLst>
              <a:path h="2197555" w="5616755">
                <a:moveTo>
                  <a:pt x="0" y="0"/>
                </a:moveTo>
                <a:lnTo>
                  <a:pt x="5616755" y="0"/>
                </a:lnTo>
                <a:lnTo>
                  <a:pt x="5616755" y="2197556"/>
                </a:lnTo>
                <a:lnTo>
                  <a:pt x="0" y="2197556"/>
                </a:lnTo>
                <a:lnTo>
                  <a:pt x="0" y="0"/>
                </a:lnTo>
                <a:close/>
              </a:path>
            </a:pathLst>
          </a:custGeom>
          <a:blipFill>
            <a:blip r:embed="rId6"/>
            <a:stretch>
              <a:fillRect l="0" t="0" r="0" b="0"/>
            </a:stretch>
          </a:blipFill>
        </p:spPr>
      </p:sp>
      <p:sp>
        <p:nvSpPr>
          <p:cNvPr name="TextBox 12" id="12"/>
          <p:cNvSpPr txBox="true"/>
          <p:nvPr/>
        </p:nvSpPr>
        <p:spPr>
          <a:xfrm rot="0">
            <a:off x="368099" y="1666327"/>
            <a:ext cx="2477439" cy="634164"/>
          </a:xfrm>
          <a:prstGeom prst="rect">
            <a:avLst/>
          </a:prstGeom>
        </p:spPr>
        <p:txBody>
          <a:bodyPr anchor="t" rtlCol="false" tIns="0" lIns="0" bIns="0" rIns="0">
            <a:spAutoFit/>
          </a:bodyPr>
          <a:lstStyle/>
          <a:p>
            <a:pPr algn="ctr">
              <a:lnSpc>
                <a:spcPts val="4517"/>
              </a:lnSpc>
            </a:pPr>
            <a:r>
              <a:rPr lang="en-US" sz="3226" b="true">
                <a:solidFill>
                  <a:srgbClr val="FFFFFF"/>
                </a:solidFill>
                <a:latin typeface="Overpass Ultra-Bold"/>
                <a:ea typeface="Overpass Ultra-Bold"/>
                <a:cs typeface="Overpass Ultra-Bold"/>
                <a:sym typeface="Overpass Ultra-Bold"/>
              </a:rPr>
              <a:t>Query</a:t>
            </a:r>
          </a:p>
        </p:txBody>
      </p:sp>
      <p:sp>
        <p:nvSpPr>
          <p:cNvPr name="TextBox 13" id="13"/>
          <p:cNvSpPr txBox="true"/>
          <p:nvPr/>
        </p:nvSpPr>
        <p:spPr>
          <a:xfrm rot="0">
            <a:off x="10297968" y="1248651"/>
            <a:ext cx="2202295" cy="560551"/>
          </a:xfrm>
          <a:prstGeom prst="rect">
            <a:avLst/>
          </a:prstGeom>
        </p:spPr>
        <p:txBody>
          <a:bodyPr anchor="t" rtlCol="false" tIns="0" lIns="0" bIns="0" rIns="0">
            <a:spAutoFit/>
          </a:bodyPr>
          <a:lstStyle/>
          <a:p>
            <a:pPr algn="ctr">
              <a:lnSpc>
                <a:spcPts val="4015"/>
              </a:lnSpc>
            </a:pPr>
            <a:r>
              <a:rPr lang="en-US" sz="2868" b="true">
                <a:solidFill>
                  <a:srgbClr val="FFFFFF"/>
                </a:solidFill>
                <a:latin typeface="Overpass Ultra-Bold"/>
                <a:ea typeface="Overpass Ultra-Bold"/>
                <a:cs typeface="Overpass Ultra-Bold"/>
                <a:sym typeface="Overpass Ultra-Bold"/>
              </a:rPr>
              <a:t>Output</a:t>
            </a:r>
          </a:p>
        </p:txBody>
      </p:sp>
      <p:sp>
        <p:nvSpPr>
          <p:cNvPr name="TextBox 14" id="14"/>
          <p:cNvSpPr txBox="true"/>
          <p:nvPr/>
        </p:nvSpPr>
        <p:spPr>
          <a:xfrm rot="0">
            <a:off x="368099" y="6619336"/>
            <a:ext cx="2202295" cy="560551"/>
          </a:xfrm>
          <a:prstGeom prst="rect">
            <a:avLst/>
          </a:prstGeom>
        </p:spPr>
        <p:txBody>
          <a:bodyPr anchor="t" rtlCol="false" tIns="0" lIns="0" bIns="0" rIns="0">
            <a:spAutoFit/>
          </a:bodyPr>
          <a:lstStyle/>
          <a:p>
            <a:pPr algn="ctr">
              <a:lnSpc>
                <a:spcPts val="4015"/>
              </a:lnSpc>
            </a:pPr>
            <a:r>
              <a:rPr lang="en-US" sz="2868" b="true">
                <a:solidFill>
                  <a:srgbClr val="FFFFFF"/>
                </a:solidFill>
                <a:latin typeface="Overpass Ultra-Bold"/>
                <a:ea typeface="Overpass Ultra-Bold"/>
                <a:cs typeface="Overpass Ultra-Bold"/>
                <a:sym typeface="Overpass Ultra-Bold"/>
              </a:rPr>
              <a:t>Observation</a:t>
            </a:r>
          </a:p>
        </p:txBody>
      </p:sp>
    </p:spTree>
  </p:cSld>
  <p:clrMapOvr>
    <a:masterClrMapping/>
  </p:clrMapOvr>
  <p:transition spd="slow">
    <p:push dir="l"/>
  </p:transition>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7AD">
                <a:alpha val="100000"/>
              </a:srgbClr>
            </a:gs>
            <a:gs pos="100000">
              <a:srgbClr val="FFA9F9">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25064" y="0"/>
            <a:ext cx="18538129" cy="10420125"/>
          </a:xfrm>
          <a:custGeom>
            <a:avLst/>
            <a:gdLst/>
            <a:ahLst/>
            <a:cxnLst/>
            <a:rect r="r" b="b" t="t" l="l"/>
            <a:pathLst>
              <a:path h="10420125" w="18538129">
                <a:moveTo>
                  <a:pt x="0" y="0"/>
                </a:moveTo>
                <a:lnTo>
                  <a:pt x="18538128" y="0"/>
                </a:lnTo>
                <a:lnTo>
                  <a:pt x="18538128" y="10420125"/>
                </a:lnTo>
                <a:lnTo>
                  <a:pt x="0" y="10420125"/>
                </a:lnTo>
                <a:lnTo>
                  <a:pt x="0" y="0"/>
                </a:lnTo>
                <a:close/>
              </a:path>
            </a:pathLst>
          </a:custGeom>
          <a:blipFill>
            <a:blip r:embed="rId2"/>
            <a:stretch>
              <a:fillRect l="0" t="0" r="0" b="0"/>
            </a:stretch>
          </a:blipFill>
        </p:spPr>
      </p:sp>
      <p:grpSp>
        <p:nvGrpSpPr>
          <p:cNvPr name="Group 3" id="3"/>
          <p:cNvGrpSpPr>
            <a:grpSpLocks noChangeAspect="true"/>
          </p:cNvGrpSpPr>
          <p:nvPr/>
        </p:nvGrpSpPr>
        <p:grpSpPr>
          <a:xfrm rot="0">
            <a:off x="13221348" y="9277476"/>
            <a:ext cx="4838096" cy="1009524"/>
            <a:chOff x="0" y="0"/>
            <a:chExt cx="6450794" cy="1346032"/>
          </a:xfrm>
        </p:grpSpPr>
        <p:sp>
          <p:nvSpPr>
            <p:cNvPr name="Freeform 4" id="4"/>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3"/>
              <a:stretch>
                <a:fillRect l="0" t="0" r="0" b="3"/>
              </a:stretch>
            </a:blipFill>
          </p:spPr>
        </p:sp>
      </p:grpSp>
      <p:sp>
        <p:nvSpPr>
          <p:cNvPr name="Freeform 5" id="5"/>
          <p:cNvSpPr/>
          <p:nvPr/>
        </p:nvSpPr>
        <p:spPr>
          <a:xfrm flipH="false" flipV="false" rot="0">
            <a:off x="2092130" y="1855505"/>
            <a:ext cx="8567383" cy="4486902"/>
          </a:xfrm>
          <a:custGeom>
            <a:avLst/>
            <a:gdLst/>
            <a:ahLst/>
            <a:cxnLst/>
            <a:rect r="r" b="b" t="t" l="l"/>
            <a:pathLst>
              <a:path h="4486902" w="8567383">
                <a:moveTo>
                  <a:pt x="0" y="0"/>
                </a:moveTo>
                <a:lnTo>
                  <a:pt x="8567382" y="0"/>
                </a:lnTo>
                <a:lnTo>
                  <a:pt x="8567382" y="4486902"/>
                </a:lnTo>
                <a:lnTo>
                  <a:pt x="0" y="4486902"/>
                </a:lnTo>
                <a:lnTo>
                  <a:pt x="0" y="0"/>
                </a:lnTo>
                <a:close/>
              </a:path>
            </a:pathLst>
          </a:custGeom>
          <a:blipFill>
            <a:blip r:embed="rId4"/>
            <a:stretch>
              <a:fillRect l="0" t="0" r="0" b="0"/>
            </a:stretch>
          </a:blipFill>
        </p:spPr>
      </p:sp>
      <p:sp>
        <p:nvSpPr>
          <p:cNvPr name="Freeform 6" id="6"/>
          <p:cNvSpPr/>
          <p:nvPr/>
        </p:nvSpPr>
        <p:spPr>
          <a:xfrm flipH="false" flipV="false" rot="0">
            <a:off x="12784191" y="808861"/>
            <a:ext cx="5034606" cy="8468615"/>
          </a:xfrm>
          <a:custGeom>
            <a:avLst/>
            <a:gdLst/>
            <a:ahLst/>
            <a:cxnLst/>
            <a:rect r="r" b="b" t="t" l="l"/>
            <a:pathLst>
              <a:path h="8468615" w="5034606">
                <a:moveTo>
                  <a:pt x="0" y="0"/>
                </a:moveTo>
                <a:lnTo>
                  <a:pt x="5034606" y="0"/>
                </a:lnTo>
                <a:lnTo>
                  <a:pt x="5034606" y="8468615"/>
                </a:lnTo>
                <a:lnTo>
                  <a:pt x="0" y="8468615"/>
                </a:lnTo>
                <a:lnTo>
                  <a:pt x="0" y="0"/>
                </a:lnTo>
                <a:close/>
              </a:path>
            </a:pathLst>
          </a:custGeom>
          <a:blipFill>
            <a:blip r:embed="rId5"/>
            <a:stretch>
              <a:fillRect l="0" t="0" r="0" b="0"/>
            </a:stretch>
          </a:blipFill>
        </p:spPr>
      </p:sp>
      <p:sp>
        <p:nvSpPr>
          <p:cNvPr name="Freeform 7" id="7"/>
          <p:cNvSpPr/>
          <p:nvPr/>
        </p:nvSpPr>
        <p:spPr>
          <a:xfrm flipH="false" flipV="false" rot="0">
            <a:off x="-125064" y="8089445"/>
            <a:ext cx="5616755" cy="2197555"/>
          </a:xfrm>
          <a:custGeom>
            <a:avLst/>
            <a:gdLst/>
            <a:ahLst/>
            <a:cxnLst/>
            <a:rect r="r" b="b" t="t" l="l"/>
            <a:pathLst>
              <a:path h="2197555" w="5616755">
                <a:moveTo>
                  <a:pt x="0" y="0"/>
                </a:moveTo>
                <a:lnTo>
                  <a:pt x="5616754" y="0"/>
                </a:lnTo>
                <a:lnTo>
                  <a:pt x="5616754" y="2197555"/>
                </a:lnTo>
                <a:lnTo>
                  <a:pt x="0" y="2197555"/>
                </a:lnTo>
                <a:lnTo>
                  <a:pt x="0" y="0"/>
                </a:lnTo>
                <a:close/>
              </a:path>
            </a:pathLst>
          </a:custGeom>
          <a:blipFill>
            <a:blip r:embed="rId6"/>
            <a:stretch>
              <a:fillRect l="0" t="0" r="0" b="0"/>
            </a:stretch>
          </a:blipFill>
        </p:spPr>
      </p:sp>
      <p:sp>
        <p:nvSpPr>
          <p:cNvPr name="Freeform 8" id="8"/>
          <p:cNvSpPr/>
          <p:nvPr/>
        </p:nvSpPr>
        <p:spPr>
          <a:xfrm flipH="false" flipV="false" rot="0">
            <a:off x="5240125" y="8222569"/>
            <a:ext cx="5616755" cy="2197555"/>
          </a:xfrm>
          <a:custGeom>
            <a:avLst/>
            <a:gdLst/>
            <a:ahLst/>
            <a:cxnLst/>
            <a:rect r="r" b="b" t="t" l="l"/>
            <a:pathLst>
              <a:path h="2197555" w="5616755">
                <a:moveTo>
                  <a:pt x="0" y="0"/>
                </a:moveTo>
                <a:lnTo>
                  <a:pt x="5616755" y="0"/>
                </a:lnTo>
                <a:lnTo>
                  <a:pt x="5616755" y="2197556"/>
                </a:lnTo>
                <a:lnTo>
                  <a:pt x="0" y="2197556"/>
                </a:lnTo>
                <a:lnTo>
                  <a:pt x="0" y="0"/>
                </a:lnTo>
                <a:close/>
              </a:path>
            </a:pathLst>
          </a:custGeom>
          <a:blipFill>
            <a:blip r:embed="rId6"/>
            <a:stretch>
              <a:fillRect l="0" t="0" r="0" b="0"/>
            </a:stretch>
          </a:blipFill>
        </p:spPr>
      </p:sp>
      <p:sp>
        <p:nvSpPr>
          <p:cNvPr name="Freeform 9" id="9"/>
          <p:cNvSpPr/>
          <p:nvPr/>
        </p:nvSpPr>
        <p:spPr>
          <a:xfrm flipH="false" flipV="false" rot="0">
            <a:off x="7137538" y="7838647"/>
            <a:ext cx="2019462" cy="841869"/>
          </a:xfrm>
          <a:custGeom>
            <a:avLst/>
            <a:gdLst/>
            <a:ahLst/>
            <a:cxnLst/>
            <a:rect r="r" b="b" t="t" l="l"/>
            <a:pathLst>
              <a:path h="841869" w="2019462">
                <a:moveTo>
                  <a:pt x="0" y="0"/>
                </a:moveTo>
                <a:lnTo>
                  <a:pt x="2019462" y="0"/>
                </a:lnTo>
                <a:lnTo>
                  <a:pt x="2019462" y="841868"/>
                </a:lnTo>
                <a:lnTo>
                  <a:pt x="0" y="84186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0" id="10"/>
          <p:cNvSpPr txBox="true"/>
          <p:nvPr/>
        </p:nvSpPr>
        <p:spPr>
          <a:xfrm rot="0">
            <a:off x="327071" y="218140"/>
            <a:ext cx="15640396" cy="1076417"/>
          </a:xfrm>
          <a:prstGeom prst="rect">
            <a:avLst/>
          </a:prstGeom>
        </p:spPr>
        <p:txBody>
          <a:bodyPr anchor="t" rtlCol="false" tIns="0" lIns="0" bIns="0" rIns="0">
            <a:spAutoFit/>
          </a:bodyPr>
          <a:lstStyle/>
          <a:p>
            <a:pPr algn="l">
              <a:lnSpc>
                <a:spcPts val="4048"/>
              </a:lnSpc>
              <a:spcBef>
                <a:spcPct val="0"/>
              </a:spcBef>
            </a:pPr>
            <a:r>
              <a:rPr lang="en-US" sz="3373">
                <a:solidFill>
                  <a:srgbClr val="000000"/>
                </a:solidFill>
                <a:latin typeface="Copperplate Gothic 32 AB Bold"/>
                <a:ea typeface="Copperplate Gothic 32 AB Bold"/>
                <a:cs typeface="Copperplate Gothic 32 AB Bold"/>
                <a:sym typeface="Copperplate Gothic 32 AB Bold"/>
              </a:rPr>
              <a:t>11] What is the energy c</a:t>
            </a:r>
            <a:r>
              <a:rPr lang="en-US" sz="3373">
                <a:solidFill>
                  <a:srgbClr val="000000"/>
                </a:solidFill>
                <a:latin typeface="Copperplate Gothic 32 AB Bold"/>
                <a:ea typeface="Copperplate Gothic 32 AB Bold"/>
                <a:cs typeface="Copperplate Gothic 32 AB Bold"/>
                <a:sym typeface="Copperplate Gothic 32 AB Bold"/>
              </a:rPr>
              <a:t>onsumption per capita for each country over the last decade?</a:t>
            </a:r>
          </a:p>
        </p:txBody>
      </p:sp>
      <p:sp>
        <p:nvSpPr>
          <p:cNvPr name="TextBox 11" id="11"/>
          <p:cNvSpPr txBox="true"/>
          <p:nvPr/>
        </p:nvSpPr>
        <p:spPr>
          <a:xfrm rot="0">
            <a:off x="608619" y="7084645"/>
            <a:ext cx="11943928" cy="754001"/>
          </a:xfrm>
          <a:prstGeom prst="rect">
            <a:avLst/>
          </a:prstGeom>
        </p:spPr>
        <p:txBody>
          <a:bodyPr anchor="t" rtlCol="false" tIns="0" lIns="0" bIns="0" rIns="0">
            <a:spAutoFit/>
          </a:bodyPr>
          <a:lstStyle/>
          <a:p>
            <a:pPr algn="l">
              <a:lnSpc>
                <a:spcPts val="2984"/>
              </a:lnSpc>
              <a:spcBef>
                <a:spcPct val="0"/>
              </a:spcBef>
            </a:pPr>
            <a:r>
              <a:rPr lang="en-US" b="true" sz="2487">
                <a:solidFill>
                  <a:srgbClr val="000000"/>
                </a:solidFill>
                <a:latin typeface="Arial Bold"/>
                <a:ea typeface="Arial Bold"/>
                <a:cs typeface="Arial Bold"/>
                <a:sym typeface="Arial Bold"/>
              </a:rPr>
              <a:t>Energy consumption per person has generally increased over the last decade in most countries, reflecting rising living standards and industrial activity</a:t>
            </a:r>
          </a:p>
        </p:txBody>
      </p:sp>
      <p:sp>
        <p:nvSpPr>
          <p:cNvPr name="TextBox 12" id="12"/>
          <p:cNvSpPr txBox="true"/>
          <p:nvPr/>
        </p:nvSpPr>
        <p:spPr>
          <a:xfrm rot="0">
            <a:off x="327071" y="1276643"/>
            <a:ext cx="2477439" cy="634164"/>
          </a:xfrm>
          <a:prstGeom prst="rect">
            <a:avLst/>
          </a:prstGeom>
        </p:spPr>
        <p:txBody>
          <a:bodyPr anchor="t" rtlCol="false" tIns="0" lIns="0" bIns="0" rIns="0">
            <a:spAutoFit/>
          </a:bodyPr>
          <a:lstStyle/>
          <a:p>
            <a:pPr algn="ctr">
              <a:lnSpc>
                <a:spcPts val="4517"/>
              </a:lnSpc>
            </a:pPr>
            <a:r>
              <a:rPr lang="en-US" sz="3226" b="true">
                <a:solidFill>
                  <a:srgbClr val="FFFFFF"/>
                </a:solidFill>
                <a:latin typeface="Overpass Ultra-Bold"/>
                <a:ea typeface="Overpass Ultra-Bold"/>
                <a:cs typeface="Overpass Ultra-Bold"/>
                <a:sym typeface="Overpass Ultra-Bold"/>
              </a:rPr>
              <a:t>Query</a:t>
            </a:r>
          </a:p>
        </p:txBody>
      </p:sp>
      <p:sp>
        <p:nvSpPr>
          <p:cNvPr name="TextBox 13" id="13"/>
          <p:cNvSpPr txBox="true"/>
          <p:nvPr/>
        </p:nvSpPr>
        <p:spPr>
          <a:xfrm rot="0">
            <a:off x="10856880" y="904875"/>
            <a:ext cx="2202295" cy="560551"/>
          </a:xfrm>
          <a:prstGeom prst="rect">
            <a:avLst/>
          </a:prstGeom>
        </p:spPr>
        <p:txBody>
          <a:bodyPr anchor="t" rtlCol="false" tIns="0" lIns="0" bIns="0" rIns="0">
            <a:spAutoFit/>
          </a:bodyPr>
          <a:lstStyle/>
          <a:p>
            <a:pPr algn="ctr">
              <a:lnSpc>
                <a:spcPts val="4015"/>
              </a:lnSpc>
            </a:pPr>
            <a:r>
              <a:rPr lang="en-US" sz="2868" b="true">
                <a:solidFill>
                  <a:srgbClr val="FFFFFF"/>
                </a:solidFill>
                <a:latin typeface="Overpass Ultra-Bold"/>
                <a:ea typeface="Overpass Ultra-Bold"/>
                <a:cs typeface="Overpass Ultra-Bold"/>
                <a:sym typeface="Overpass Ultra-Bold"/>
              </a:rPr>
              <a:t>Output</a:t>
            </a:r>
          </a:p>
        </p:txBody>
      </p:sp>
      <p:sp>
        <p:nvSpPr>
          <p:cNvPr name="TextBox 14" id="14"/>
          <p:cNvSpPr txBox="true"/>
          <p:nvPr/>
        </p:nvSpPr>
        <p:spPr>
          <a:xfrm rot="0">
            <a:off x="327071" y="6466232"/>
            <a:ext cx="2202295" cy="560551"/>
          </a:xfrm>
          <a:prstGeom prst="rect">
            <a:avLst/>
          </a:prstGeom>
        </p:spPr>
        <p:txBody>
          <a:bodyPr anchor="t" rtlCol="false" tIns="0" lIns="0" bIns="0" rIns="0">
            <a:spAutoFit/>
          </a:bodyPr>
          <a:lstStyle/>
          <a:p>
            <a:pPr algn="ctr">
              <a:lnSpc>
                <a:spcPts val="4015"/>
              </a:lnSpc>
            </a:pPr>
            <a:r>
              <a:rPr lang="en-US" sz="2868" b="true">
                <a:solidFill>
                  <a:srgbClr val="FFFFFF"/>
                </a:solidFill>
                <a:latin typeface="Overpass Ultra-Bold"/>
                <a:ea typeface="Overpass Ultra-Bold"/>
                <a:cs typeface="Overpass Ultra-Bold"/>
                <a:sym typeface="Overpass Ultra-Bold"/>
              </a:rPr>
              <a:t>Observation</a:t>
            </a:r>
          </a:p>
        </p:txBody>
      </p:sp>
    </p:spTree>
  </p:cSld>
  <p:clrMapOvr>
    <a:masterClrMapping/>
  </p:clrMapOvr>
  <p:transition spd="slow">
    <p:push dir="l"/>
  </p:transition>
</p:sld>
</file>

<file path=ppt/slides/slide1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7AD">
                <a:alpha val="100000"/>
              </a:srgbClr>
            </a:gs>
            <a:gs pos="100000">
              <a:srgbClr val="FFA9F9">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25064" y="0"/>
            <a:ext cx="18538129" cy="10420125"/>
          </a:xfrm>
          <a:custGeom>
            <a:avLst/>
            <a:gdLst/>
            <a:ahLst/>
            <a:cxnLst/>
            <a:rect r="r" b="b" t="t" l="l"/>
            <a:pathLst>
              <a:path h="10420125" w="18538129">
                <a:moveTo>
                  <a:pt x="0" y="0"/>
                </a:moveTo>
                <a:lnTo>
                  <a:pt x="18538128" y="0"/>
                </a:lnTo>
                <a:lnTo>
                  <a:pt x="18538128" y="10420125"/>
                </a:lnTo>
                <a:lnTo>
                  <a:pt x="0" y="10420125"/>
                </a:lnTo>
                <a:lnTo>
                  <a:pt x="0" y="0"/>
                </a:lnTo>
                <a:close/>
              </a:path>
            </a:pathLst>
          </a:custGeom>
          <a:blipFill>
            <a:blip r:embed="rId2"/>
            <a:stretch>
              <a:fillRect l="0" t="0" r="0" b="0"/>
            </a:stretch>
          </a:blipFill>
        </p:spPr>
      </p:sp>
      <p:grpSp>
        <p:nvGrpSpPr>
          <p:cNvPr name="Group 3" id="3"/>
          <p:cNvGrpSpPr>
            <a:grpSpLocks noChangeAspect="true"/>
          </p:cNvGrpSpPr>
          <p:nvPr/>
        </p:nvGrpSpPr>
        <p:grpSpPr>
          <a:xfrm rot="0">
            <a:off x="13221348" y="9277476"/>
            <a:ext cx="4838096" cy="1009524"/>
            <a:chOff x="0" y="0"/>
            <a:chExt cx="6450794" cy="1346032"/>
          </a:xfrm>
        </p:grpSpPr>
        <p:sp>
          <p:nvSpPr>
            <p:cNvPr name="Freeform 4" id="4"/>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3"/>
              <a:stretch>
                <a:fillRect l="0" t="0" r="0" b="3"/>
              </a:stretch>
            </a:blipFill>
          </p:spPr>
        </p:sp>
      </p:grpSp>
      <p:sp>
        <p:nvSpPr>
          <p:cNvPr name="Freeform 5" id="5"/>
          <p:cNvSpPr/>
          <p:nvPr/>
        </p:nvSpPr>
        <p:spPr>
          <a:xfrm flipH="false" flipV="false" rot="0">
            <a:off x="1028700" y="2332669"/>
            <a:ext cx="10387921" cy="4224293"/>
          </a:xfrm>
          <a:custGeom>
            <a:avLst/>
            <a:gdLst/>
            <a:ahLst/>
            <a:cxnLst/>
            <a:rect r="r" b="b" t="t" l="l"/>
            <a:pathLst>
              <a:path h="4224293" w="10387921">
                <a:moveTo>
                  <a:pt x="0" y="0"/>
                </a:moveTo>
                <a:lnTo>
                  <a:pt x="10387921" y="0"/>
                </a:lnTo>
                <a:lnTo>
                  <a:pt x="10387921" y="4224293"/>
                </a:lnTo>
                <a:lnTo>
                  <a:pt x="0" y="4224293"/>
                </a:lnTo>
                <a:lnTo>
                  <a:pt x="0" y="0"/>
                </a:lnTo>
                <a:close/>
              </a:path>
            </a:pathLst>
          </a:custGeom>
          <a:blipFill>
            <a:blip r:embed="rId4"/>
            <a:stretch>
              <a:fillRect l="0" t="0" r="0" b="0"/>
            </a:stretch>
          </a:blipFill>
        </p:spPr>
      </p:sp>
      <p:sp>
        <p:nvSpPr>
          <p:cNvPr name="Freeform 6" id="6"/>
          <p:cNvSpPr/>
          <p:nvPr/>
        </p:nvSpPr>
        <p:spPr>
          <a:xfrm flipH="false" flipV="false" rot="0">
            <a:off x="12835811" y="722802"/>
            <a:ext cx="4634415" cy="8554674"/>
          </a:xfrm>
          <a:custGeom>
            <a:avLst/>
            <a:gdLst/>
            <a:ahLst/>
            <a:cxnLst/>
            <a:rect r="r" b="b" t="t" l="l"/>
            <a:pathLst>
              <a:path h="8554674" w="4634415">
                <a:moveTo>
                  <a:pt x="0" y="0"/>
                </a:moveTo>
                <a:lnTo>
                  <a:pt x="4634415" y="0"/>
                </a:lnTo>
                <a:lnTo>
                  <a:pt x="4634415" y="8554674"/>
                </a:lnTo>
                <a:lnTo>
                  <a:pt x="0" y="8554674"/>
                </a:lnTo>
                <a:lnTo>
                  <a:pt x="0" y="0"/>
                </a:lnTo>
                <a:close/>
              </a:path>
            </a:pathLst>
          </a:custGeom>
          <a:blipFill>
            <a:blip r:embed="rId5"/>
            <a:stretch>
              <a:fillRect l="0" t="0" r="0" b="0"/>
            </a:stretch>
          </a:blipFill>
        </p:spPr>
      </p:sp>
      <p:sp>
        <p:nvSpPr>
          <p:cNvPr name="TextBox 7" id="7"/>
          <p:cNvSpPr txBox="true"/>
          <p:nvPr/>
        </p:nvSpPr>
        <p:spPr>
          <a:xfrm rot="0">
            <a:off x="241523" y="184595"/>
            <a:ext cx="15398873" cy="1076417"/>
          </a:xfrm>
          <a:prstGeom prst="rect">
            <a:avLst/>
          </a:prstGeom>
        </p:spPr>
        <p:txBody>
          <a:bodyPr anchor="t" rtlCol="false" tIns="0" lIns="0" bIns="0" rIns="0">
            <a:spAutoFit/>
          </a:bodyPr>
          <a:lstStyle/>
          <a:p>
            <a:pPr algn="l">
              <a:lnSpc>
                <a:spcPts val="4048"/>
              </a:lnSpc>
              <a:spcBef>
                <a:spcPct val="0"/>
              </a:spcBef>
            </a:pPr>
            <a:r>
              <a:rPr lang="en-US" sz="3373">
                <a:solidFill>
                  <a:srgbClr val="000000"/>
                </a:solidFill>
                <a:latin typeface="Copperplate Gothic 32 AB Bold"/>
                <a:ea typeface="Copperplate Gothic 32 AB Bold"/>
                <a:cs typeface="Copperplate Gothic 32 AB Bold"/>
                <a:sym typeface="Copperplate Gothic 32 AB Bold"/>
              </a:rPr>
              <a:t>12]  How d</a:t>
            </a:r>
            <a:r>
              <a:rPr lang="en-US" sz="3373">
                <a:solidFill>
                  <a:srgbClr val="000000"/>
                </a:solidFill>
                <a:latin typeface="Copperplate Gothic 32 AB Bold"/>
                <a:ea typeface="Copperplate Gothic 32 AB Bold"/>
                <a:cs typeface="Copperplate Gothic 32 AB Bold"/>
                <a:sym typeface="Copperplate Gothic 32 AB Bold"/>
              </a:rPr>
              <a:t>oes energy production per capita vary across countries?</a:t>
            </a:r>
          </a:p>
        </p:txBody>
      </p:sp>
      <p:sp>
        <p:nvSpPr>
          <p:cNvPr name="TextBox 8" id="8"/>
          <p:cNvSpPr txBox="true"/>
          <p:nvPr/>
        </p:nvSpPr>
        <p:spPr>
          <a:xfrm rot="0">
            <a:off x="477471" y="7343401"/>
            <a:ext cx="12208945" cy="746044"/>
          </a:xfrm>
          <a:prstGeom prst="rect">
            <a:avLst/>
          </a:prstGeom>
        </p:spPr>
        <p:txBody>
          <a:bodyPr anchor="t" rtlCol="false" tIns="0" lIns="0" bIns="0" rIns="0">
            <a:spAutoFit/>
          </a:bodyPr>
          <a:lstStyle/>
          <a:p>
            <a:pPr algn="l">
              <a:lnSpc>
                <a:spcPts val="2914"/>
              </a:lnSpc>
              <a:spcBef>
                <a:spcPct val="0"/>
              </a:spcBef>
            </a:pPr>
            <a:r>
              <a:rPr lang="en-US" b="true" sz="2429">
                <a:solidFill>
                  <a:srgbClr val="000000"/>
                </a:solidFill>
                <a:latin typeface="Arial Bold"/>
                <a:ea typeface="Arial Bold"/>
                <a:cs typeface="Arial Bold"/>
                <a:sym typeface="Arial Bold"/>
              </a:rPr>
              <a:t>Energy production per person varies widely across countries, with some producing far more than they consume and others relying heavily on imports.</a:t>
            </a:r>
          </a:p>
        </p:txBody>
      </p:sp>
      <p:sp>
        <p:nvSpPr>
          <p:cNvPr name="Freeform 9" id="9"/>
          <p:cNvSpPr/>
          <p:nvPr/>
        </p:nvSpPr>
        <p:spPr>
          <a:xfrm flipH="false" flipV="false" rot="0">
            <a:off x="7940800" y="8441748"/>
            <a:ext cx="5616755" cy="2197555"/>
          </a:xfrm>
          <a:custGeom>
            <a:avLst/>
            <a:gdLst/>
            <a:ahLst/>
            <a:cxnLst/>
            <a:rect r="r" b="b" t="t" l="l"/>
            <a:pathLst>
              <a:path h="2197555" w="5616755">
                <a:moveTo>
                  <a:pt x="0" y="0"/>
                </a:moveTo>
                <a:lnTo>
                  <a:pt x="5616755" y="0"/>
                </a:lnTo>
                <a:lnTo>
                  <a:pt x="5616755" y="2197556"/>
                </a:lnTo>
                <a:lnTo>
                  <a:pt x="0" y="2197556"/>
                </a:lnTo>
                <a:lnTo>
                  <a:pt x="0" y="0"/>
                </a:lnTo>
                <a:close/>
              </a:path>
            </a:pathLst>
          </a:custGeom>
          <a:blipFill>
            <a:blip r:embed="rId6"/>
            <a:stretch>
              <a:fillRect l="0" t="0" r="0" b="0"/>
            </a:stretch>
          </a:blipFill>
        </p:spPr>
      </p:sp>
      <p:sp>
        <p:nvSpPr>
          <p:cNvPr name="Freeform 10" id="10"/>
          <p:cNvSpPr/>
          <p:nvPr/>
        </p:nvSpPr>
        <p:spPr>
          <a:xfrm flipH="false" flipV="false" rot="0">
            <a:off x="5132423" y="8089445"/>
            <a:ext cx="5616755" cy="2197555"/>
          </a:xfrm>
          <a:custGeom>
            <a:avLst/>
            <a:gdLst/>
            <a:ahLst/>
            <a:cxnLst/>
            <a:rect r="r" b="b" t="t" l="l"/>
            <a:pathLst>
              <a:path h="2197555" w="5616755">
                <a:moveTo>
                  <a:pt x="0" y="0"/>
                </a:moveTo>
                <a:lnTo>
                  <a:pt x="5616754" y="0"/>
                </a:lnTo>
                <a:lnTo>
                  <a:pt x="5616754" y="2197555"/>
                </a:lnTo>
                <a:lnTo>
                  <a:pt x="0" y="2197555"/>
                </a:lnTo>
                <a:lnTo>
                  <a:pt x="0" y="0"/>
                </a:lnTo>
                <a:close/>
              </a:path>
            </a:pathLst>
          </a:custGeom>
          <a:blipFill>
            <a:blip r:embed="rId6"/>
            <a:stretch>
              <a:fillRect l="0" t="0" r="0" b="0"/>
            </a:stretch>
          </a:blipFill>
        </p:spPr>
      </p:sp>
      <p:sp>
        <p:nvSpPr>
          <p:cNvPr name="Freeform 11" id="11"/>
          <p:cNvSpPr/>
          <p:nvPr/>
        </p:nvSpPr>
        <p:spPr>
          <a:xfrm flipH="false" flipV="false" rot="0">
            <a:off x="-337614" y="8178698"/>
            <a:ext cx="5616755" cy="2197555"/>
          </a:xfrm>
          <a:custGeom>
            <a:avLst/>
            <a:gdLst/>
            <a:ahLst/>
            <a:cxnLst/>
            <a:rect r="r" b="b" t="t" l="l"/>
            <a:pathLst>
              <a:path h="2197555" w="5616755">
                <a:moveTo>
                  <a:pt x="0" y="0"/>
                </a:moveTo>
                <a:lnTo>
                  <a:pt x="5616755" y="0"/>
                </a:lnTo>
                <a:lnTo>
                  <a:pt x="5616755" y="2197556"/>
                </a:lnTo>
                <a:lnTo>
                  <a:pt x="0" y="2197556"/>
                </a:lnTo>
                <a:lnTo>
                  <a:pt x="0" y="0"/>
                </a:lnTo>
                <a:close/>
              </a:path>
            </a:pathLst>
          </a:custGeom>
          <a:blipFill>
            <a:blip r:embed="rId6"/>
            <a:stretch>
              <a:fillRect l="0" t="0" r="0" b="0"/>
            </a:stretch>
          </a:blipFill>
        </p:spPr>
      </p:sp>
      <p:sp>
        <p:nvSpPr>
          <p:cNvPr name="TextBox 12" id="12"/>
          <p:cNvSpPr txBox="true"/>
          <p:nvPr/>
        </p:nvSpPr>
        <p:spPr>
          <a:xfrm rot="0">
            <a:off x="477471" y="1698505"/>
            <a:ext cx="2477439" cy="634164"/>
          </a:xfrm>
          <a:prstGeom prst="rect">
            <a:avLst/>
          </a:prstGeom>
        </p:spPr>
        <p:txBody>
          <a:bodyPr anchor="t" rtlCol="false" tIns="0" lIns="0" bIns="0" rIns="0">
            <a:spAutoFit/>
          </a:bodyPr>
          <a:lstStyle/>
          <a:p>
            <a:pPr algn="ctr">
              <a:lnSpc>
                <a:spcPts val="4517"/>
              </a:lnSpc>
            </a:pPr>
            <a:r>
              <a:rPr lang="en-US" sz="3226" b="true">
                <a:solidFill>
                  <a:srgbClr val="FFFFFF"/>
                </a:solidFill>
                <a:latin typeface="Overpass Ultra-Bold"/>
                <a:ea typeface="Overpass Ultra-Bold"/>
                <a:cs typeface="Overpass Ultra-Bold"/>
                <a:sym typeface="Overpass Ultra-Bold"/>
              </a:rPr>
              <a:t>Query</a:t>
            </a:r>
          </a:p>
        </p:txBody>
      </p:sp>
      <p:sp>
        <p:nvSpPr>
          <p:cNvPr name="TextBox 13" id="13"/>
          <p:cNvSpPr txBox="true"/>
          <p:nvPr/>
        </p:nvSpPr>
        <p:spPr>
          <a:xfrm rot="0">
            <a:off x="10749177" y="1280829"/>
            <a:ext cx="2202295" cy="560551"/>
          </a:xfrm>
          <a:prstGeom prst="rect">
            <a:avLst/>
          </a:prstGeom>
        </p:spPr>
        <p:txBody>
          <a:bodyPr anchor="t" rtlCol="false" tIns="0" lIns="0" bIns="0" rIns="0">
            <a:spAutoFit/>
          </a:bodyPr>
          <a:lstStyle/>
          <a:p>
            <a:pPr algn="ctr">
              <a:lnSpc>
                <a:spcPts val="4015"/>
              </a:lnSpc>
            </a:pPr>
            <a:r>
              <a:rPr lang="en-US" sz="2868" b="true">
                <a:solidFill>
                  <a:srgbClr val="FFFFFF"/>
                </a:solidFill>
                <a:latin typeface="Overpass Ultra-Bold"/>
                <a:ea typeface="Overpass Ultra-Bold"/>
                <a:cs typeface="Overpass Ultra-Bold"/>
                <a:sym typeface="Overpass Ultra-Bold"/>
              </a:rPr>
              <a:t>Output</a:t>
            </a:r>
          </a:p>
        </p:txBody>
      </p:sp>
      <p:sp>
        <p:nvSpPr>
          <p:cNvPr name="TextBox 14" id="14"/>
          <p:cNvSpPr txBox="true"/>
          <p:nvPr/>
        </p:nvSpPr>
        <p:spPr>
          <a:xfrm rot="0">
            <a:off x="241523" y="6617518"/>
            <a:ext cx="2202295" cy="560551"/>
          </a:xfrm>
          <a:prstGeom prst="rect">
            <a:avLst/>
          </a:prstGeom>
        </p:spPr>
        <p:txBody>
          <a:bodyPr anchor="t" rtlCol="false" tIns="0" lIns="0" bIns="0" rIns="0">
            <a:spAutoFit/>
          </a:bodyPr>
          <a:lstStyle/>
          <a:p>
            <a:pPr algn="ctr">
              <a:lnSpc>
                <a:spcPts val="4015"/>
              </a:lnSpc>
            </a:pPr>
            <a:r>
              <a:rPr lang="en-US" sz="2868" b="true">
                <a:solidFill>
                  <a:srgbClr val="FFFFFF"/>
                </a:solidFill>
                <a:latin typeface="Overpass Ultra-Bold"/>
                <a:ea typeface="Overpass Ultra-Bold"/>
                <a:cs typeface="Overpass Ultra-Bold"/>
                <a:sym typeface="Overpass Ultra-Bold"/>
              </a:rPr>
              <a:t>Observation</a:t>
            </a:r>
          </a:p>
        </p:txBody>
      </p:sp>
    </p:spTree>
  </p:cSld>
  <p:clrMapOvr>
    <a:masterClrMapping/>
  </p:clrMapOvr>
  <p:transition spd="slow">
    <p:push dir="l"/>
  </p:transition>
</p:sld>
</file>

<file path=ppt/slides/slide1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7AD">
                <a:alpha val="100000"/>
              </a:srgbClr>
            </a:gs>
            <a:gs pos="100000">
              <a:srgbClr val="FFA9F9">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25064" y="0"/>
            <a:ext cx="18538129" cy="10420125"/>
          </a:xfrm>
          <a:custGeom>
            <a:avLst/>
            <a:gdLst/>
            <a:ahLst/>
            <a:cxnLst/>
            <a:rect r="r" b="b" t="t" l="l"/>
            <a:pathLst>
              <a:path h="10420125" w="18538129">
                <a:moveTo>
                  <a:pt x="0" y="0"/>
                </a:moveTo>
                <a:lnTo>
                  <a:pt x="18538128" y="0"/>
                </a:lnTo>
                <a:lnTo>
                  <a:pt x="18538128" y="10420125"/>
                </a:lnTo>
                <a:lnTo>
                  <a:pt x="0" y="10420125"/>
                </a:lnTo>
                <a:lnTo>
                  <a:pt x="0" y="0"/>
                </a:lnTo>
                <a:close/>
              </a:path>
            </a:pathLst>
          </a:custGeom>
          <a:blipFill>
            <a:blip r:embed="rId2"/>
            <a:stretch>
              <a:fillRect l="0" t="0" r="0" b="0"/>
            </a:stretch>
          </a:blipFill>
        </p:spPr>
      </p:sp>
      <p:grpSp>
        <p:nvGrpSpPr>
          <p:cNvPr name="Group 3" id="3"/>
          <p:cNvGrpSpPr>
            <a:grpSpLocks noChangeAspect="true"/>
          </p:cNvGrpSpPr>
          <p:nvPr/>
        </p:nvGrpSpPr>
        <p:grpSpPr>
          <a:xfrm rot="0">
            <a:off x="13221348" y="9277476"/>
            <a:ext cx="4838096" cy="1009524"/>
            <a:chOff x="0" y="0"/>
            <a:chExt cx="6450794" cy="1346032"/>
          </a:xfrm>
        </p:grpSpPr>
        <p:sp>
          <p:nvSpPr>
            <p:cNvPr name="Freeform 4" id="4"/>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3"/>
              <a:stretch>
                <a:fillRect l="0" t="0" r="0" b="3"/>
              </a:stretch>
            </a:blipFill>
          </p:spPr>
        </p:sp>
      </p:grpSp>
      <p:sp>
        <p:nvSpPr>
          <p:cNvPr name="Freeform 5" id="5"/>
          <p:cNvSpPr/>
          <p:nvPr/>
        </p:nvSpPr>
        <p:spPr>
          <a:xfrm flipH="false" flipV="false" rot="0">
            <a:off x="1028700" y="2223575"/>
            <a:ext cx="10403661" cy="4314179"/>
          </a:xfrm>
          <a:custGeom>
            <a:avLst/>
            <a:gdLst/>
            <a:ahLst/>
            <a:cxnLst/>
            <a:rect r="r" b="b" t="t" l="l"/>
            <a:pathLst>
              <a:path h="4314179" w="10403661">
                <a:moveTo>
                  <a:pt x="0" y="0"/>
                </a:moveTo>
                <a:lnTo>
                  <a:pt x="10403661" y="0"/>
                </a:lnTo>
                <a:lnTo>
                  <a:pt x="10403661" y="4314179"/>
                </a:lnTo>
                <a:lnTo>
                  <a:pt x="0" y="4314179"/>
                </a:lnTo>
                <a:lnTo>
                  <a:pt x="0" y="0"/>
                </a:lnTo>
                <a:close/>
              </a:path>
            </a:pathLst>
          </a:custGeom>
          <a:blipFill>
            <a:blip r:embed="rId4"/>
            <a:stretch>
              <a:fillRect l="0" t="0" r="0" b="0"/>
            </a:stretch>
          </a:blipFill>
        </p:spPr>
      </p:sp>
      <p:sp>
        <p:nvSpPr>
          <p:cNvPr name="Freeform 6" id="6"/>
          <p:cNvSpPr/>
          <p:nvPr/>
        </p:nvSpPr>
        <p:spPr>
          <a:xfrm flipH="false" flipV="false" rot="0">
            <a:off x="11852639" y="1028700"/>
            <a:ext cx="5406661" cy="8095763"/>
          </a:xfrm>
          <a:custGeom>
            <a:avLst/>
            <a:gdLst/>
            <a:ahLst/>
            <a:cxnLst/>
            <a:rect r="r" b="b" t="t" l="l"/>
            <a:pathLst>
              <a:path h="8095763" w="5406661">
                <a:moveTo>
                  <a:pt x="0" y="0"/>
                </a:moveTo>
                <a:lnTo>
                  <a:pt x="5406661" y="0"/>
                </a:lnTo>
                <a:lnTo>
                  <a:pt x="5406661" y="8095763"/>
                </a:lnTo>
                <a:lnTo>
                  <a:pt x="0" y="8095763"/>
                </a:lnTo>
                <a:lnTo>
                  <a:pt x="0" y="0"/>
                </a:lnTo>
                <a:close/>
              </a:path>
            </a:pathLst>
          </a:custGeom>
          <a:blipFill>
            <a:blip r:embed="rId5"/>
            <a:stretch>
              <a:fillRect l="0" t="0" r="0" b="0"/>
            </a:stretch>
          </a:blipFill>
        </p:spPr>
      </p:sp>
      <p:sp>
        <p:nvSpPr>
          <p:cNvPr name="TextBox 7" id="7"/>
          <p:cNvSpPr txBox="true"/>
          <p:nvPr/>
        </p:nvSpPr>
        <p:spPr>
          <a:xfrm rot="0">
            <a:off x="432314" y="272651"/>
            <a:ext cx="12789034" cy="1076417"/>
          </a:xfrm>
          <a:prstGeom prst="rect">
            <a:avLst/>
          </a:prstGeom>
        </p:spPr>
        <p:txBody>
          <a:bodyPr anchor="t" rtlCol="false" tIns="0" lIns="0" bIns="0" rIns="0">
            <a:spAutoFit/>
          </a:bodyPr>
          <a:lstStyle/>
          <a:p>
            <a:pPr algn="l">
              <a:lnSpc>
                <a:spcPts val="4048"/>
              </a:lnSpc>
              <a:spcBef>
                <a:spcPct val="0"/>
              </a:spcBef>
            </a:pPr>
            <a:r>
              <a:rPr lang="en-US" sz="3373">
                <a:solidFill>
                  <a:srgbClr val="000000"/>
                </a:solidFill>
                <a:latin typeface="Copperplate Gothic 32 AB Bold"/>
                <a:ea typeface="Copperplate Gothic 32 AB Bold"/>
                <a:cs typeface="Copperplate Gothic 32 AB Bold"/>
                <a:sym typeface="Copperplate Gothic 32 AB Bold"/>
              </a:rPr>
              <a:t>13] Which c</a:t>
            </a:r>
            <a:r>
              <a:rPr lang="en-US" sz="3373">
                <a:solidFill>
                  <a:srgbClr val="000000"/>
                </a:solidFill>
                <a:latin typeface="Copperplate Gothic 32 AB Bold"/>
                <a:ea typeface="Copperplate Gothic 32 AB Bold"/>
                <a:cs typeface="Copperplate Gothic 32 AB Bold"/>
                <a:sym typeface="Copperplate Gothic 32 AB Bold"/>
              </a:rPr>
              <a:t>ountries have the highest energy consumption relative to GDP?</a:t>
            </a:r>
          </a:p>
        </p:txBody>
      </p:sp>
      <p:sp>
        <p:nvSpPr>
          <p:cNvPr name="TextBox 8" id="8"/>
          <p:cNvSpPr txBox="true"/>
          <p:nvPr/>
        </p:nvSpPr>
        <p:spPr>
          <a:xfrm rot="0">
            <a:off x="578842" y="7194985"/>
            <a:ext cx="10853519" cy="1367311"/>
          </a:xfrm>
          <a:prstGeom prst="rect">
            <a:avLst/>
          </a:prstGeom>
        </p:spPr>
        <p:txBody>
          <a:bodyPr anchor="t" rtlCol="false" tIns="0" lIns="0" bIns="0" rIns="0">
            <a:spAutoFit/>
          </a:bodyPr>
          <a:lstStyle/>
          <a:p>
            <a:pPr algn="l">
              <a:lnSpc>
                <a:spcPts val="3603"/>
              </a:lnSpc>
              <a:spcBef>
                <a:spcPct val="0"/>
              </a:spcBef>
            </a:pPr>
            <a:r>
              <a:rPr lang="en-US" b="true" sz="3003">
                <a:solidFill>
                  <a:srgbClr val="000000"/>
                </a:solidFill>
                <a:latin typeface="Arial Bold"/>
                <a:ea typeface="Arial Bold"/>
                <a:cs typeface="Arial Bold"/>
                <a:sym typeface="Arial Bold"/>
              </a:rPr>
              <a:t>Some countries use a lot of energy to produce their economy (GDP), while others use less, showing they are more energy-efficient</a:t>
            </a:r>
          </a:p>
        </p:txBody>
      </p:sp>
      <p:sp>
        <p:nvSpPr>
          <p:cNvPr name="Freeform 9" id="9"/>
          <p:cNvSpPr/>
          <p:nvPr/>
        </p:nvSpPr>
        <p:spPr>
          <a:xfrm flipH="false" flipV="false" rot="0">
            <a:off x="-337614" y="8178698"/>
            <a:ext cx="5616755" cy="2197555"/>
          </a:xfrm>
          <a:custGeom>
            <a:avLst/>
            <a:gdLst/>
            <a:ahLst/>
            <a:cxnLst/>
            <a:rect r="r" b="b" t="t" l="l"/>
            <a:pathLst>
              <a:path h="2197555" w="5616755">
                <a:moveTo>
                  <a:pt x="0" y="0"/>
                </a:moveTo>
                <a:lnTo>
                  <a:pt x="5616755" y="0"/>
                </a:lnTo>
                <a:lnTo>
                  <a:pt x="5616755" y="2197556"/>
                </a:lnTo>
                <a:lnTo>
                  <a:pt x="0" y="2197556"/>
                </a:lnTo>
                <a:lnTo>
                  <a:pt x="0" y="0"/>
                </a:lnTo>
                <a:close/>
              </a:path>
            </a:pathLst>
          </a:custGeom>
          <a:blipFill>
            <a:blip r:embed="rId6"/>
            <a:stretch>
              <a:fillRect l="0" t="0" r="0" b="0"/>
            </a:stretch>
          </a:blipFill>
        </p:spPr>
      </p:sp>
      <p:sp>
        <p:nvSpPr>
          <p:cNvPr name="Freeform 10" id="10"/>
          <p:cNvSpPr/>
          <p:nvPr/>
        </p:nvSpPr>
        <p:spPr>
          <a:xfrm flipH="false" flipV="false" rot="0">
            <a:off x="1028700" y="8222569"/>
            <a:ext cx="5616755" cy="2197555"/>
          </a:xfrm>
          <a:custGeom>
            <a:avLst/>
            <a:gdLst/>
            <a:ahLst/>
            <a:cxnLst/>
            <a:rect r="r" b="b" t="t" l="l"/>
            <a:pathLst>
              <a:path h="2197555" w="5616755">
                <a:moveTo>
                  <a:pt x="0" y="0"/>
                </a:moveTo>
                <a:lnTo>
                  <a:pt x="5616755" y="0"/>
                </a:lnTo>
                <a:lnTo>
                  <a:pt x="5616755" y="2197556"/>
                </a:lnTo>
                <a:lnTo>
                  <a:pt x="0" y="2197556"/>
                </a:lnTo>
                <a:lnTo>
                  <a:pt x="0" y="0"/>
                </a:lnTo>
                <a:close/>
              </a:path>
            </a:pathLst>
          </a:custGeom>
          <a:blipFill>
            <a:blip r:embed="rId6"/>
            <a:stretch>
              <a:fillRect l="0" t="0" r="0" b="0"/>
            </a:stretch>
          </a:blipFill>
        </p:spPr>
      </p:sp>
      <p:sp>
        <p:nvSpPr>
          <p:cNvPr name="Freeform 11" id="11"/>
          <p:cNvSpPr/>
          <p:nvPr/>
        </p:nvSpPr>
        <p:spPr>
          <a:xfrm flipH="false" flipV="false" rot="0">
            <a:off x="4662533" y="8178698"/>
            <a:ext cx="5616755" cy="2197555"/>
          </a:xfrm>
          <a:custGeom>
            <a:avLst/>
            <a:gdLst/>
            <a:ahLst/>
            <a:cxnLst/>
            <a:rect r="r" b="b" t="t" l="l"/>
            <a:pathLst>
              <a:path h="2197555" w="5616755">
                <a:moveTo>
                  <a:pt x="0" y="0"/>
                </a:moveTo>
                <a:lnTo>
                  <a:pt x="5616755" y="0"/>
                </a:lnTo>
                <a:lnTo>
                  <a:pt x="5616755" y="2197556"/>
                </a:lnTo>
                <a:lnTo>
                  <a:pt x="0" y="2197556"/>
                </a:lnTo>
                <a:lnTo>
                  <a:pt x="0" y="0"/>
                </a:lnTo>
                <a:close/>
              </a:path>
            </a:pathLst>
          </a:custGeom>
          <a:blipFill>
            <a:blip r:embed="rId6"/>
            <a:stretch>
              <a:fillRect l="0" t="0" r="0" b="0"/>
            </a:stretch>
          </a:blipFill>
        </p:spPr>
      </p:sp>
      <p:sp>
        <p:nvSpPr>
          <p:cNvPr name="Freeform 12" id="12"/>
          <p:cNvSpPr/>
          <p:nvPr/>
        </p:nvSpPr>
        <p:spPr>
          <a:xfrm flipH="false" flipV="false" rot="0">
            <a:off x="8194387" y="8717702"/>
            <a:ext cx="5616755" cy="2197555"/>
          </a:xfrm>
          <a:custGeom>
            <a:avLst/>
            <a:gdLst/>
            <a:ahLst/>
            <a:cxnLst/>
            <a:rect r="r" b="b" t="t" l="l"/>
            <a:pathLst>
              <a:path h="2197555" w="5616755">
                <a:moveTo>
                  <a:pt x="0" y="0"/>
                </a:moveTo>
                <a:lnTo>
                  <a:pt x="5616754" y="0"/>
                </a:lnTo>
                <a:lnTo>
                  <a:pt x="5616754" y="2197555"/>
                </a:lnTo>
                <a:lnTo>
                  <a:pt x="0" y="2197555"/>
                </a:lnTo>
                <a:lnTo>
                  <a:pt x="0" y="0"/>
                </a:lnTo>
                <a:close/>
              </a:path>
            </a:pathLst>
          </a:custGeom>
          <a:blipFill>
            <a:blip r:embed="rId6"/>
            <a:stretch>
              <a:fillRect l="0" t="0" r="0" b="0"/>
            </a:stretch>
          </a:blipFill>
        </p:spPr>
      </p:sp>
      <p:sp>
        <p:nvSpPr>
          <p:cNvPr name="TextBox 13" id="13"/>
          <p:cNvSpPr txBox="true"/>
          <p:nvPr/>
        </p:nvSpPr>
        <p:spPr>
          <a:xfrm rot="0">
            <a:off x="432314" y="1589412"/>
            <a:ext cx="2477439" cy="634164"/>
          </a:xfrm>
          <a:prstGeom prst="rect">
            <a:avLst/>
          </a:prstGeom>
        </p:spPr>
        <p:txBody>
          <a:bodyPr anchor="t" rtlCol="false" tIns="0" lIns="0" bIns="0" rIns="0">
            <a:spAutoFit/>
          </a:bodyPr>
          <a:lstStyle/>
          <a:p>
            <a:pPr algn="ctr">
              <a:lnSpc>
                <a:spcPts val="4517"/>
              </a:lnSpc>
            </a:pPr>
            <a:r>
              <a:rPr lang="en-US" sz="3226" b="true">
                <a:solidFill>
                  <a:srgbClr val="FFFFFF"/>
                </a:solidFill>
                <a:latin typeface="Overpass Ultra-Bold"/>
                <a:ea typeface="Overpass Ultra-Bold"/>
                <a:cs typeface="Overpass Ultra-Bold"/>
                <a:sym typeface="Overpass Ultra-Bold"/>
              </a:rPr>
              <a:t>Query</a:t>
            </a:r>
          </a:p>
        </p:txBody>
      </p:sp>
      <p:sp>
        <p:nvSpPr>
          <p:cNvPr name="TextBox 14" id="14"/>
          <p:cNvSpPr txBox="true"/>
          <p:nvPr/>
        </p:nvSpPr>
        <p:spPr>
          <a:xfrm rot="0">
            <a:off x="9901616" y="1225243"/>
            <a:ext cx="2202295" cy="560551"/>
          </a:xfrm>
          <a:prstGeom prst="rect">
            <a:avLst/>
          </a:prstGeom>
        </p:spPr>
        <p:txBody>
          <a:bodyPr anchor="t" rtlCol="false" tIns="0" lIns="0" bIns="0" rIns="0">
            <a:spAutoFit/>
          </a:bodyPr>
          <a:lstStyle/>
          <a:p>
            <a:pPr algn="ctr">
              <a:lnSpc>
                <a:spcPts val="4015"/>
              </a:lnSpc>
            </a:pPr>
            <a:r>
              <a:rPr lang="en-US" sz="2868" b="true">
                <a:solidFill>
                  <a:srgbClr val="FFFFFF"/>
                </a:solidFill>
                <a:latin typeface="Overpass Ultra-Bold"/>
                <a:ea typeface="Overpass Ultra-Bold"/>
                <a:cs typeface="Overpass Ultra-Bold"/>
                <a:sym typeface="Overpass Ultra-Bold"/>
              </a:rPr>
              <a:t>Output</a:t>
            </a:r>
          </a:p>
        </p:txBody>
      </p:sp>
      <p:sp>
        <p:nvSpPr>
          <p:cNvPr name="TextBox 15" id="15"/>
          <p:cNvSpPr txBox="true"/>
          <p:nvPr/>
        </p:nvSpPr>
        <p:spPr>
          <a:xfrm rot="0">
            <a:off x="268468" y="6653484"/>
            <a:ext cx="2202295" cy="560551"/>
          </a:xfrm>
          <a:prstGeom prst="rect">
            <a:avLst/>
          </a:prstGeom>
        </p:spPr>
        <p:txBody>
          <a:bodyPr anchor="t" rtlCol="false" tIns="0" lIns="0" bIns="0" rIns="0">
            <a:spAutoFit/>
          </a:bodyPr>
          <a:lstStyle/>
          <a:p>
            <a:pPr algn="ctr">
              <a:lnSpc>
                <a:spcPts val="4015"/>
              </a:lnSpc>
            </a:pPr>
            <a:r>
              <a:rPr lang="en-US" sz="2868" b="true">
                <a:solidFill>
                  <a:srgbClr val="FFFFFF"/>
                </a:solidFill>
                <a:latin typeface="Overpass Ultra-Bold"/>
                <a:ea typeface="Overpass Ultra-Bold"/>
                <a:cs typeface="Overpass Ultra-Bold"/>
                <a:sym typeface="Overpass Ultra-Bold"/>
              </a:rPr>
              <a:t>Observation</a:t>
            </a:r>
          </a:p>
        </p:txBody>
      </p:sp>
    </p:spTree>
  </p:cSld>
  <p:clrMapOvr>
    <a:masterClrMapping/>
  </p:clrMapOvr>
  <p:transition spd="slow">
    <p:push dir="l"/>
  </p:transition>
</p:sld>
</file>

<file path=ppt/slides/slide1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7AD">
                <a:alpha val="100000"/>
              </a:srgbClr>
            </a:gs>
            <a:gs pos="100000">
              <a:srgbClr val="FFA9F9">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25064" y="0"/>
            <a:ext cx="18538129" cy="10420125"/>
          </a:xfrm>
          <a:custGeom>
            <a:avLst/>
            <a:gdLst/>
            <a:ahLst/>
            <a:cxnLst/>
            <a:rect r="r" b="b" t="t" l="l"/>
            <a:pathLst>
              <a:path h="10420125" w="18538129">
                <a:moveTo>
                  <a:pt x="0" y="0"/>
                </a:moveTo>
                <a:lnTo>
                  <a:pt x="18538128" y="0"/>
                </a:lnTo>
                <a:lnTo>
                  <a:pt x="18538128" y="10420125"/>
                </a:lnTo>
                <a:lnTo>
                  <a:pt x="0" y="10420125"/>
                </a:lnTo>
                <a:lnTo>
                  <a:pt x="0" y="0"/>
                </a:lnTo>
                <a:close/>
              </a:path>
            </a:pathLst>
          </a:custGeom>
          <a:blipFill>
            <a:blip r:embed="rId2"/>
            <a:stretch>
              <a:fillRect l="0" t="0" r="0" b="0"/>
            </a:stretch>
          </a:blipFill>
        </p:spPr>
      </p:sp>
      <p:grpSp>
        <p:nvGrpSpPr>
          <p:cNvPr name="Group 3" id="3"/>
          <p:cNvGrpSpPr>
            <a:grpSpLocks noChangeAspect="true"/>
          </p:cNvGrpSpPr>
          <p:nvPr/>
        </p:nvGrpSpPr>
        <p:grpSpPr>
          <a:xfrm rot="0">
            <a:off x="13221348" y="9277476"/>
            <a:ext cx="4838096" cy="1009524"/>
            <a:chOff x="0" y="0"/>
            <a:chExt cx="6450794" cy="1346032"/>
          </a:xfrm>
        </p:grpSpPr>
        <p:sp>
          <p:nvSpPr>
            <p:cNvPr name="Freeform 4" id="4"/>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3"/>
              <a:stretch>
                <a:fillRect l="0" t="0" r="0" b="3"/>
              </a:stretch>
            </a:blipFill>
          </p:spPr>
        </p:sp>
      </p:grpSp>
      <p:sp>
        <p:nvSpPr>
          <p:cNvPr name="Freeform 5" id="5"/>
          <p:cNvSpPr/>
          <p:nvPr/>
        </p:nvSpPr>
        <p:spPr>
          <a:xfrm flipH="false" flipV="false" rot="0">
            <a:off x="694456" y="2015310"/>
            <a:ext cx="7686587" cy="5117702"/>
          </a:xfrm>
          <a:custGeom>
            <a:avLst/>
            <a:gdLst/>
            <a:ahLst/>
            <a:cxnLst/>
            <a:rect r="r" b="b" t="t" l="l"/>
            <a:pathLst>
              <a:path h="5117702" w="7686587">
                <a:moveTo>
                  <a:pt x="0" y="0"/>
                </a:moveTo>
                <a:lnTo>
                  <a:pt x="7686588" y="0"/>
                </a:lnTo>
                <a:lnTo>
                  <a:pt x="7686588" y="5117701"/>
                </a:lnTo>
                <a:lnTo>
                  <a:pt x="0" y="5117701"/>
                </a:lnTo>
                <a:lnTo>
                  <a:pt x="0" y="0"/>
                </a:lnTo>
                <a:close/>
              </a:path>
            </a:pathLst>
          </a:custGeom>
          <a:blipFill>
            <a:blip r:embed="rId4"/>
            <a:stretch>
              <a:fillRect l="0" t="0" r="0" b="0"/>
            </a:stretch>
          </a:blipFill>
        </p:spPr>
      </p:sp>
      <p:sp>
        <p:nvSpPr>
          <p:cNvPr name="Freeform 6" id="6"/>
          <p:cNvSpPr/>
          <p:nvPr/>
        </p:nvSpPr>
        <p:spPr>
          <a:xfrm flipH="false" flipV="false" rot="0">
            <a:off x="9144000" y="1368966"/>
            <a:ext cx="8384882" cy="5905481"/>
          </a:xfrm>
          <a:custGeom>
            <a:avLst/>
            <a:gdLst/>
            <a:ahLst/>
            <a:cxnLst/>
            <a:rect r="r" b="b" t="t" l="l"/>
            <a:pathLst>
              <a:path h="5905481" w="8384882">
                <a:moveTo>
                  <a:pt x="0" y="0"/>
                </a:moveTo>
                <a:lnTo>
                  <a:pt x="8384882" y="0"/>
                </a:lnTo>
                <a:lnTo>
                  <a:pt x="8384882" y="5905482"/>
                </a:lnTo>
                <a:lnTo>
                  <a:pt x="0" y="5905482"/>
                </a:lnTo>
                <a:lnTo>
                  <a:pt x="0" y="0"/>
                </a:lnTo>
                <a:close/>
              </a:path>
            </a:pathLst>
          </a:custGeom>
          <a:blipFill>
            <a:blip r:embed="rId5"/>
            <a:stretch>
              <a:fillRect l="0" t="0" r="0" b="0"/>
            </a:stretch>
          </a:blipFill>
        </p:spPr>
      </p:sp>
      <p:sp>
        <p:nvSpPr>
          <p:cNvPr name="Freeform 7" id="7"/>
          <p:cNvSpPr/>
          <p:nvPr/>
        </p:nvSpPr>
        <p:spPr>
          <a:xfrm flipH="false" flipV="false" rot="0">
            <a:off x="0" y="8813385"/>
            <a:ext cx="3293868" cy="1692225"/>
          </a:xfrm>
          <a:custGeom>
            <a:avLst/>
            <a:gdLst/>
            <a:ahLst/>
            <a:cxnLst/>
            <a:rect r="r" b="b" t="t" l="l"/>
            <a:pathLst>
              <a:path h="1692225" w="3293868">
                <a:moveTo>
                  <a:pt x="0" y="0"/>
                </a:moveTo>
                <a:lnTo>
                  <a:pt x="3293868" y="0"/>
                </a:lnTo>
                <a:lnTo>
                  <a:pt x="3293868" y="1692224"/>
                </a:lnTo>
                <a:lnTo>
                  <a:pt x="0" y="1692224"/>
                </a:lnTo>
                <a:lnTo>
                  <a:pt x="0" y="0"/>
                </a:lnTo>
                <a:close/>
              </a:path>
            </a:pathLst>
          </a:custGeom>
          <a:blipFill>
            <a:blip r:embed="rId6"/>
            <a:stretch>
              <a:fillRect l="0" t="0" r="0" b="0"/>
            </a:stretch>
          </a:blipFill>
        </p:spPr>
      </p:sp>
      <p:sp>
        <p:nvSpPr>
          <p:cNvPr name="TextBox 8" id="8"/>
          <p:cNvSpPr txBox="true"/>
          <p:nvPr/>
        </p:nvSpPr>
        <p:spPr>
          <a:xfrm rot="0">
            <a:off x="163536" y="163628"/>
            <a:ext cx="17259300" cy="1076417"/>
          </a:xfrm>
          <a:prstGeom prst="rect">
            <a:avLst/>
          </a:prstGeom>
        </p:spPr>
        <p:txBody>
          <a:bodyPr anchor="t" rtlCol="false" tIns="0" lIns="0" bIns="0" rIns="0">
            <a:spAutoFit/>
          </a:bodyPr>
          <a:lstStyle/>
          <a:p>
            <a:pPr algn="l">
              <a:lnSpc>
                <a:spcPts val="4048"/>
              </a:lnSpc>
              <a:spcBef>
                <a:spcPct val="0"/>
              </a:spcBef>
            </a:pPr>
            <a:r>
              <a:rPr lang="en-US" sz="3373">
                <a:solidFill>
                  <a:srgbClr val="000000"/>
                </a:solidFill>
                <a:latin typeface="Copperplate Gothic 32 AB Bold"/>
                <a:ea typeface="Copperplate Gothic 32 AB Bold"/>
                <a:cs typeface="Copperplate Gothic 32 AB Bold"/>
                <a:sym typeface="Copperplate Gothic 32 AB Bold"/>
              </a:rPr>
              <a:t>14]  What are the top 10 c</a:t>
            </a:r>
            <a:r>
              <a:rPr lang="en-US" sz="3373">
                <a:solidFill>
                  <a:srgbClr val="000000"/>
                </a:solidFill>
                <a:latin typeface="Copperplate Gothic 32 AB Bold"/>
                <a:ea typeface="Copperplate Gothic 32 AB Bold"/>
                <a:cs typeface="Copperplate Gothic 32 AB Bold"/>
                <a:sym typeface="Copperplate Gothic 32 AB Bold"/>
              </a:rPr>
              <a:t>ountries by population and how do their emissions compare?</a:t>
            </a:r>
          </a:p>
        </p:txBody>
      </p:sp>
      <p:sp>
        <p:nvSpPr>
          <p:cNvPr name="TextBox 9" id="9"/>
          <p:cNvSpPr txBox="true"/>
          <p:nvPr/>
        </p:nvSpPr>
        <p:spPr>
          <a:xfrm rot="0">
            <a:off x="642694" y="7903098"/>
            <a:ext cx="16300983" cy="962458"/>
          </a:xfrm>
          <a:prstGeom prst="rect">
            <a:avLst/>
          </a:prstGeom>
        </p:spPr>
        <p:txBody>
          <a:bodyPr anchor="t" rtlCol="false" tIns="0" lIns="0" bIns="0" rIns="0">
            <a:spAutoFit/>
          </a:bodyPr>
          <a:lstStyle/>
          <a:p>
            <a:pPr algn="l">
              <a:lnSpc>
                <a:spcPts val="3782"/>
              </a:lnSpc>
              <a:spcBef>
                <a:spcPct val="0"/>
              </a:spcBef>
            </a:pPr>
            <a:r>
              <a:rPr lang="en-US" b="true" sz="3152">
                <a:solidFill>
                  <a:srgbClr val="000000"/>
                </a:solidFill>
                <a:latin typeface="Arial Bold"/>
                <a:ea typeface="Arial Bold"/>
                <a:cs typeface="Arial Bold"/>
                <a:sym typeface="Arial Bold"/>
              </a:rPr>
              <a:t>The 10 countries with the largest populations usually produce the most total emissions, but some have fewer emissions per person than smaller countries</a:t>
            </a:r>
          </a:p>
        </p:txBody>
      </p:sp>
      <p:sp>
        <p:nvSpPr>
          <p:cNvPr name="Freeform 10" id="10"/>
          <p:cNvSpPr/>
          <p:nvPr/>
        </p:nvSpPr>
        <p:spPr>
          <a:xfrm flipH="false" flipV="false" rot="0">
            <a:off x="2359792" y="8727900"/>
            <a:ext cx="3293868" cy="1692225"/>
          </a:xfrm>
          <a:custGeom>
            <a:avLst/>
            <a:gdLst/>
            <a:ahLst/>
            <a:cxnLst/>
            <a:rect r="r" b="b" t="t" l="l"/>
            <a:pathLst>
              <a:path h="1692225" w="3293868">
                <a:moveTo>
                  <a:pt x="0" y="0"/>
                </a:moveTo>
                <a:lnTo>
                  <a:pt x="3293869" y="0"/>
                </a:lnTo>
                <a:lnTo>
                  <a:pt x="3293869" y="1692225"/>
                </a:lnTo>
                <a:lnTo>
                  <a:pt x="0" y="1692225"/>
                </a:lnTo>
                <a:lnTo>
                  <a:pt x="0" y="0"/>
                </a:lnTo>
                <a:close/>
              </a:path>
            </a:pathLst>
          </a:custGeom>
          <a:blipFill>
            <a:blip r:embed="rId6"/>
            <a:stretch>
              <a:fillRect l="0" t="0" r="0" b="0"/>
            </a:stretch>
          </a:blipFill>
        </p:spPr>
      </p:sp>
      <p:sp>
        <p:nvSpPr>
          <p:cNvPr name="Freeform 11" id="11"/>
          <p:cNvSpPr/>
          <p:nvPr/>
        </p:nvSpPr>
        <p:spPr>
          <a:xfrm flipH="false" flipV="false" rot="0">
            <a:off x="9927480" y="8936126"/>
            <a:ext cx="3293868" cy="1692225"/>
          </a:xfrm>
          <a:custGeom>
            <a:avLst/>
            <a:gdLst/>
            <a:ahLst/>
            <a:cxnLst/>
            <a:rect r="r" b="b" t="t" l="l"/>
            <a:pathLst>
              <a:path h="1692225" w="3293868">
                <a:moveTo>
                  <a:pt x="0" y="0"/>
                </a:moveTo>
                <a:lnTo>
                  <a:pt x="3293868" y="0"/>
                </a:lnTo>
                <a:lnTo>
                  <a:pt x="3293868" y="1692224"/>
                </a:lnTo>
                <a:lnTo>
                  <a:pt x="0" y="1692224"/>
                </a:lnTo>
                <a:lnTo>
                  <a:pt x="0" y="0"/>
                </a:lnTo>
                <a:close/>
              </a:path>
            </a:pathLst>
          </a:custGeom>
          <a:blipFill>
            <a:blip r:embed="rId6"/>
            <a:stretch>
              <a:fillRect l="0" t="0" r="0" b="0"/>
            </a:stretch>
          </a:blipFill>
        </p:spPr>
      </p:sp>
      <p:sp>
        <p:nvSpPr>
          <p:cNvPr name="Freeform 12" id="12"/>
          <p:cNvSpPr/>
          <p:nvPr/>
        </p:nvSpPr>
        <p:spPr>
          <a:xfrm flipH="false" flipV="false" rot="0">
            <a:off x="6610674" y="8727900"/>
            <a:ext cx="3293868" cy="1692225"/>
          </a:xfrm>
          <a:custGeom>
            <a:avLst/>
            <a:gdLst/>
            <a:ahLst/>
            <a:cxnLst/>
            <a:rect r="r" b="b" t="t" l="l"/>
            <a:pathLst>
              <a:path h="1692225" w="3293868">
                <a:moveTo>
                  <a:pt x="0" y="0"/>
                </a:moveTo>
                <a:lnTo>
                  <a:pt x="3293868" y="0"/>
                </a:lnTo>
                <a:lnTo>
                  <a:pt x="3293868" y="1692225"/>
                </a:lnTo>
                <a:lnTo>
                  <a:pt x="0" y="1692225"/>
                </a:lnTo>
                <a:lnTo>
                  <a:pt x="0" y="0"/>
                </a:lnTo>
                <a:close/>
              </a:path>
            </a:pathLst>
          </a:custGeom>
          <a:blipFill>
            <a:blip r:embed="rId6"/>
            <a:stretch>
              <a:fillRect l="0" t="0" r="0" b="0"/>
            </a:stretch>
          </a:blipFill>
        </p:spPr>
      </p:sp>
      <p:sp>
        <p:nvSpPr>
          <p:cNvPr name="Freeform 13" id="13"/>
          <p:cNvSpPr/>
          <p:nvPr/>
        </p:nvSpPr>
        <p:spPr>
          <a:xfrm flipH="false" flipV="false" rot="0">
            <a:off x="4963740" y="8727900"/>
            <a:ext cx="3293868" cy="1692225"/>
          </a:xfrm>
          <a:custGeom>
            <a:avLst/>
            <a:gdLst/>
            <a:ahLst/>
            <a:cxnLst/>
            <a:rect r="r" b="b" t="t" l="l"/>
            <a:pathLst>
              <a:path h="1692225" w="3293868">
                <a:moveTo>
                  <a:pt x="0" y="0"/>
                </a:moveTo>
                <a:lnTo>
                  <a:pt x="3293868" y="0"/>
                </a:lnTo>
                <a:lnTo>
                  <a:pt x="3293868" y="1692225"/>
                </a:lnTo>
                <a:lnTo>
                  <a:pt x="0" y="1692225"/>
                </a:lnTo>
                <a:lnTo>
                  <a:pt x="0" y="0"/>
                </a:lnTo>
                <a:close/>
              </a:path>
            </a:pathLst>
          </a:custGeom>
          <a:blipFill>
            <a:blip r:embed="rId6"/>
            <a:stretch>
              <a:fillRect l="0" t="0" r="0" b="0"/>
            </a:stretch>
          </a:blipFill>
        </p:spPr>
      </p:sp>
      <p:sp>
        <p:nvSpPr>
          <p:cNvPr name="Freeform 14" id="14"/>
          <p:cNvSpPr/>
          <p:nvPr/>
        </p:nvSpPr>
        <p:spPr>
          <a:xfrm flipH="false" flipV="false" rot="0">
            <a:off x="8793186" y="8727900"/>
            <a:ext cx="3293868" cy="1692225"/>
          </a:xfrm>
          <a:custGeom>
            <a:avLst/>
            <a:gdLst/>
            <a:ahLst/>
            <a:cxnLst/>
            <a:rect r="r" b="b" t="t" l="l"/>
            <a:pathLst>
              <a:path h="1692225" w="3293868">
                <a:moveTo>
                  <a:pt x="0" y="0"/>
                </a:moveTo>
                <a:lnTo>
                  <a:pt x="3293868" y="0"/>
                </a:lnTo>
                <a:lnTo>
                  <a:pt x="3293868" y="1692225"/>
                </a:lnTo>
                <a:lnTo>
                  <a:pt x="0" y="1692225"/>
                </a:lnTo>
                <a:lnTo>
                  <a:pt x="0" y="0"/>
                </a:lnTo>
                <a:close/>
              </a:path>
            </a:pathLst>
          </a:custGeom>
          <a:blipFill>
            <a:blip r:embed="rId6"/>
            <a:stretch>
              <a:fillRect l="0" t="0" r="0" b="0"/>
            </a:stretch>
          </a:blipFill>
        </p:spPr>
      </p:sp>
      <p:sp>
        <p:nvSpPr>
          <p:cNvPr name="TextBox 15" id="15"/>
          <p:cNvSpPr txBox="true"/>
          <p:nvPr/>
        </p:nvSpPr>
        <p:spPr>
          <a:xfrm rot="0">
            <a:off x="163536" y="1381146"/>
            <a:ext cx="2477439" cy="634164"/>
          </a:xfrm>
          <a:prstGeom prst="rect">
            <a:avLst/>
          </a:prstGeom>
        </p:spPr>
        <p:txBody>
          <a:bodyPr anchor="t" rtlCol="false" tIns="0" lIns="0" bIns="0" rIns="0">
            <a:spAutoFit/>
          </a:bodyPr>
          <a:lstStyle/>
          <a:p>
            <a:pPr algn="ctr">
              <a:lnSpc>
                <a:spcPts val="4517"/>
              </a:lnSpc>
            </a:pPr>
            <a:r>
              <a:rPr lang="en-US" sz="3226" b="true">
                <a:solidFill>
                  <a:srgbClr val="FFFFFF"/>
                </a:solidFill>
                <a:latin typeface="Overpass Ultra-Bold"/>
                <a:ea typeface="Overpass Ultra-Bold"/>
                <a:cs typeface="Overpass Ultra-Bold"/>
                <a:sym typeface="Overpass Ultra-Bold"/>
              </a:rPr>
              <a:t>Query</a:t>
            </a:r>
          </a:p>
        </p:txBody>
      </p:sp>
      <p:sp>
        <p:nvSpPr>
          <p:cNvPr name="TextBox 16" id="16"/>
          <p:cNvSpPr txBox="true"/>
          <p:nvPr/>
        </p:nvSpPr>
        <p:spPr>
          <a:xfrm rot="0">
            <a:off x="8793186" y="808415"/>
            <a:ext cx="2202295" cy="560551"/>
          </a:xfrm>
          <a:prstGeom prst="rect">
            <a:avLst/>
          </a:prstGeom>
        </p:spPr>
        <p:txBody>
          <a:bodyPr anchor="t" rtlCol="false" tIns="0" lIns="0" bIns="0" rIns="0">
            <a:spAutoFit/>
          </a:bodyPr>
          <a:lstStyle/>
          <a:p>
            <a:pPr algn="ctr">
              <a:lnSpc>
                <a:spcPts val="4015"/>
              </a:lnSpc>
            </a:pPr>
            <a:r>
              <a:rPr lang="en-US" sz="2868" b="true">
                <a:solidFill>
                  <a:srgbClr val="FFFFFF"/>
                </a:solidFill>
                <a:latin typeface="Overpass Ultra-Bold"/>
                <a:ea typeface="Overpass Ultra-Bold"/>
                <a:cs typeface="Overpass Ultra-Bold"/>
                <a:sym typeface="Overpass Ultra-Bold"/>
              </a:rPr>
              <a:t>Output</a:t>
            </a:r>
          </a:p>
        </p:txBody>
      </p:sp>
      <p:sp>
        <p:nvSpPr>
          <p:cNvPr name="TextBox 17" id="17"/>
          <p:cNvSpPr txBox="true"/>
          <p:nvPr/>
        </p:nvSpPr>
        <p:spPr>
          <a:xfrm rot="0">
            <a:off x="438679" y="7294936"/>
            <a:ext cx="2202295" cy="560551"/>
          </a:xfrm>
          <a:prstGeom prst="rect">
            <a:avLst/>
          </a:prstGeom>
        </p:spPr>
        <p:txBody>
          <a:bodyPr anchor="t" rtlCol="false" tIns="0" lIns="0" bIns="0" rIns="0">
            <a:spAutoFit/>
          </a:bodyPr>
          <a:lstStyle/>
          <a:p>
            <a:pPr algn="ctr">
              <a:lnSpc>
                <a:spcPts val="4015"/>
              </a:lnSpc>
            </a:pPr>
            <a:r>
              <a:rPr lang="en-US" sz="2868" b="true">
                <a:solidFill>
                  <a:srgbClr val="FFFFFF"/>
                </a:solidFill>
                <a:latin typeface="Overpass Ultra-Bold"/>
                <a:ea typeface="Overpass Ultra-Bold"/>
                <a:cs typeface="Overpass Ultra-Bold"/>
                <a:sym typeface="Overpass Ultra-Bold"/>
              </a:rPr>
              <a:t>Observation</a:t>
            </a:r>
          </a:p>
        </p:txBody>
      </p:sp>
    </p:spTree>
  </p:cSld>
  <p:clrMapOvr>
    <a:masterClrMapping/>
  </p:clrMapOvr>
  <p:transition spd="slow">
    <p:push dir="l"/>
  </p:transition>
</p:sld>
</file>

<file path=ppt/slides/slide1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7AD">
                <a:alpha val="100000"/>
              </a:srgbClr>
            </a:gs>
            <a:gs pos="100000">
              <a:srgbClr val="FFA9F9">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25064" y="0"/>
            <a:ext cx="18538129" cy="10420125"/>
          </a:xfrm>
          <a:custGeom>
            <a:avLst/>
            <a:gdLst/>
            <a:ahLst/>
            <a:cxnLst/>
            <a:rect r="r" b="b" t="t" l="l"/>
            <a:pathLst>
              <a:path h="10420125" w="18538129">
                <a:moveTo>
                  <a:pt x="0" y="0"/>
                </a:moveTo>
                <a:lnTo>
                  <a:pt x="18538128" y="0"/>
                </a:lnTo>
                <a:lnTo>
                  <a:pt x="18538128" y="10420125"/>
                </a:lnTo>
                <a:lnTo>
                  <a:pt x="0" y="10420125"/>
                </a:lnTo>
                <a:lnTo>
                  <a:pt x="0" y="0"/>
                </a:lnTo>
                <a:close/>
              </a:path>
            </a:pathLst>
          </a:custGeom>
          <a:blipFill>
            <a:blip r:embed="rId2"/>
            <a:stretch>
              <a:fillRect l="0" t="0" r="0" b="0"/>
            </a:stretch>
          </a:blipFill>
        </p:spPr>
      </p:sp>
      <p:sp>
        <p:nvSpPr>
          <p:cNvPr name="Freeform 3" id="3"/>
          <p:cNvSpPr/>
          <p:nvPr/>
        </p:nvSpPr>
        <p:spPr>
          <a:xfrm flipH="false" flipV="false" rot="0">
            <a:off x="6058763" y="6198651"/>
            <a:ext cx="8774702" cy="4961363"/>
          </a:xfrm>
          <a:custGeom>
            <a:avLst/>
            <a:gdLst/>
            <a:ahLst/>
            <a:cxnLst/>
            <a:rect r="r" b="b" t="t" l="l"/>
            <a:pathLst>
              <a:path h="4961363" w="8774702">
                <a:moveTo>
                  <a:pt x="0" y="0"/>
                </a:moveTo>
                <a:lnTo>
                  <a:pt x="8774702" y="0"/>
                </a:lnTo>
                <a:lnTo>
                  <a:pt x="8774702" y="4961363"/>
                </a:lnTo>
                <a:lnTo>
                  <a:pt x="0" y="4961363"/>
                </a:lnTo>
                <a:lnTo>
                  <a:pt x="0" y="0"/>
                </a:lnTo>
                <a:close/>
              </a:path>
            </a:pathLst>
          </a:custGeom>
          <a:blipFill>
            <a:blip r:embed="rId3"/>
            <a:stretch>
              <a:fillRect l="0" t="0" r="0" b="0"/>
            </a:stretch>
          </a:blipFill>
        </p:spPr>
      </p:sp>
      <p:grpSp>
        <p:nvGrpSpPr>
          <p:cNvPr name="Group 4" id="4"/>
          <p:cNvGrpSpPr>
            <a:grpSpLocks noChangeAspect="true"/>
          </p:cNvGrpSpPr>
          <p:nvPr/>
        </p:nvGrpSpPr>
        <p:grpSpPr>
          <a:xfrm rot="0">
            <a:off x="13221348" y="9277476"/>
            <a:ext cx="4838096" cy="1009524"/>
            <a:chOff x="0" y="0"/>
            <a:chExt cx="6450794" cy="1346032"/>
          </a:xfrm>
        </p:grpSpPr>
        <p:sp>
          <p:nvSpPr>
            <p:cNvPr name="Freeform 5" id="5"/>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4"/>
              <a:stretch>
                <a:fillRect l="0" t="0" r="0" b="3"/>
              </a:stretch>
            </a:blipFill>
          </p:spPr>
        </p:sp>
      </p:grpSp>
      <p:sp>
        <p:nvSpPr>
          <p:cNvPr name="Freeform 6" id="6"/>
          <p:cNvSpPr/>
          <p:nvPr/>
        </p:nvSpPr>
        <p:spPr>
          <a:xfrm flipH="false" flipV="false" rot="0">
            <a:off x="1223006" y="816941"/>
            <a:ext cx="16627801" cy="1953767"/>
          </a:xfrm>
          <a:custGeom>
            <a:avLst/>
            <a:gdLst/>
            <a:ahLst/>
            <a:cxnLst/>
            <a:rect r="r" b="b" t="t" l="l"/>
            <a:pathLst>
              <a:path h="1953767" w="16627801">
                <a:moveTo>
                  <a:pt x="0" y="0"/>
                </a:moveTo>
                <a:lnTo>
                  <a:pt x="16627801" y="0"/>
                </a:lnTo>
                <a:lnTo>
                  <a:pt x="16627801" y="1953767"/>
                </a:lnTo>
                <a:lnTo>
                  <a:pt x="0" y="1953767"/>
                </a:lnTo>
                <a:lnTo>
                  <a:pt x="0" y="0"/>
                </a:lnTo>
                <a:close/>
              </a:path>
            </a:pathLst>
          </a:custGeom>
          <a:blipFill>
            <a:blip r:embed="rId5"/>
            <a:stretch>
              <a:fillRect l="0" t="0" r="0" b="0"/>
            </a:stretch>
          </a:blipFill>
        </p:spPr>
      </p:sp>
      <p:sp>
        <p:nvSpPr>
          <p:cNvPr name="Freeform 7" id="7"/>
          <p:cNvSpPr/>
          <p:nvPr/>
        </p:nvSpPr>
        <p:spPr>
          <a:xfrm flipH="false" flipV="false" rot="0">
            <a:off x="133047" y="2770708"/>
            <a:ext cx="5427264" cy="7497855"/>
          </a:xfrm>
          <a:custGeom>
            <a:avLst/>
            <a:gdLst/>
            <a:ahLst/>
            <a:cxnLst/>
            <a:rect r="r" b="b" t="t" l="l"/>
            <a:pathLst>
              <a:path h="7497855" w="5427264">
                <a:moveTo>
                  <a:pt x="0" y="0"/>
                </a:moveTo>
                <a:lnTo>
                  <a:pt x="5427264" y="0"/>
                </a:lnTo>
                <a:lnTo>
                  <a:pt x="5427264" y="7497855"/>
                </a:lnTo>
                <a:lnTo>
                  <a:pt x="0" y="7497855"/>
                </a:lnTo>
                <a:lnTo>
                  <a:pt x="0" y="0"/>
                </a:lnTo>
                <a:close/>
              </a:path>
            </a:pathLst>
          </a:custGeom>
          <a:blipFill>
            <a:blip r:embed="rId6"/>
            <a:stretch>
              <a:fillRect l="0" t="0" r="0" b="0"/>
            </a:stretch>
          </a:blipFill>
        </p:spPr>
      </p:sp>
      <p:sp>
        <p:nvSpPr>
          <p:cNvPr name="Freeform 8" id="8"/>
          <p:cNvSpPr/>
          <p:nvPr/>
        </p:nvSpPr>
        <p:spPr>
          <a:xfrm flipH="false" flipV="false" rot="0">
            <a:off x="10589657" y="6519636"/>
            <a:ext cx="4243808" cy="1826606"/>
          </a:xfrm>
          <a:custGeom>
            <a:avLst/>
            <a:gdLst/>
            <a:ahLst/>
            <a:cxnLst/>
            <a:rect r="r" b="b" t="t" l="l"/>
            <a:pathLst>
              <a:path h="1826606" w="4243808">
                <a:moveTo>
                  <a:pt x="0" y="0"/>
                </a:moveTo>
                <a:lnTo>
                  <a:pt x="4243808" y="0"/>
                </a:lnTo>
                <a:lnTo>
                  <a:pt x="4243808" y="1826605"/>
                </a:lnTo>
                <a:lnTo>
                  <a:pt x="0" y="1826605"/>
                </a:lnTo>
                <a:lnTo>
                  <a:pt x="0" y="0"/>
                </a:lnTo>
                <a:close/>
              </a:path>
            </a:pathLst>
          </a:custGeom>
          <a:blipFill>
            <a:blip r:embed="rId7"/>
            <a:stretch>
              <a:fillRect l="0" t="0" r="0" b="0"/>
            </a:stretch>
          </a:blipFill>
        </p:spPr>
      </p:sp>
      <p:sp>
        <p:nvSpPr>
          <p:cNvPr name="Freeform 9" id="9"/>
          <p:cNvSpPr/>
          <p:nvPr/>
        </p:nvSpPr>
        <p:spPr>
          <a:xfrm flipH="false" flipV="false" rot="0">
            <a:off x="12747151" y="6198651"/>
            <a:ext cx="5786489" cy="1220013"/>
          </a:xfrm>
          <a:custGeom>
            <a:avLst/>
            <a:gdLst/>
            <a:ahLst/>
            <a:cxnLst/>
            <a:rect r="r" b="b" t="t" l="l"/>
            <a:pathLst>
              <a:path h="1220013" w="5786489">
                <a:moveTo>
                  <a:pt x="0" y="0"/>
                </a:moveTo>
                <a:lnTo>
                  <a:pt x="5786489" y="0"/>
                </a:lnTo>
                <a:lnTo>
                  <a:pt x="5786489" y="1220014"/>
                </a:lnTo>
                <a:lnTo>
                  <a:pt x="0" y="1220014"/>
                </a:lnTo>
                <a:lnTo>
                  <a:pt x="0" y="0"/>
                </a:lnTo>
                <a:close/>
              </a:path>
            </a:pathLst>
          </a:custGeom>
          <a:blipFill>
            <a:blip r:embed="rId8"/>
            <a:stretch>
              <a:fillRect l="0" t="0" r="0" b="0"/>
            </a:stretch>
          </a:blipFill>
        </p:spPr>
      </p:sp>
      <p:sp>
        <p:nvSpPr>
          <p:cNvPr name="TextBox 10" id="10"/>
          <p:cNvSpPr txBox="true"/>
          <p:nvPr/>
        </p:nvSpPr>
        <p:spPr>
          <a:xfrm rot="0">
            <a:off x="0" y="245396"/>
            <a:ext cx="16128733" cy="571546"/>
          </a:xfrm>
          <a:prstGeom prst="rect">
            <a:avLst/>
          </a:prstGeom>
        </p:spPr>
        <p:txBody>
          <a:bodyPr anchor="t" rtlCol="false" tIns="0" lIns="0" bIns="0" rIns="0">
            <a:spAutoFit/>
          </a:bodyPr>
          <a:lstStyle/>
          <a:p>
            <a:pPr algn="ctr">
              <a:lnSpc>
                <a:spcPts val="4048"/>
              </a:lnSpc>
              <a:spcBef>
                <a:spcPct val="0"/>
              </a:spcBef>
            </a:pPr>
            <a:r>
              <a:rPr lang="en-US" sz="3373">
                <a:solidFill>
                  <a:srgbClr val="000000"/>
                </a:solidFill>
                <a:latin typeface="Copperplate Gothic 32 AB Bold"/>
                <a:ea typeface="Copperplate Gothic 32 AB Bold"/>
                <a:cs typeface="Copperplate Gothic 32 AB Bold"/>
                <a:sym typeface="Copperplate Gothic 32 AB Bold"/>
              </a:rPr>
              <a:t> 15] What is the global share (%) of emissions by country?</a:t>
            </a:r>
          </a:p>
        </p:txBody>
      </p:sp>
      <p:sp>
        <p:nvSpPr>
          <p:cNvPr name="TextBox 11" id="11"/>
          <p:cNvSpPr txBox="true"/>
          <p:nvPr/>
        </p:nvSpPr>
        <p:spPr>
          <a:xfrm rot="0">
            <a:off x="6815189" y="4773885"/>
            <a:ext cx="9764816" cy="1424766"/>
          </a:xfrm>
          <a:prstGeom prst="rect">
            <a:avLst/>
          </a:prstGeom>
        </p:spPr>
        <p:txBody>
          <a:bodyPr anchor="t" rtlCol="false" tIns="0" lIns="0" bIns="0" rIns="0">
            <a:spAutoFit/>
          </a:bodyPr>
          <a:lstStyle/>
          <a:p>
            <a:pPr algn="l">
              <a:lnSpc>
                <a:spcPts val="3757"/>
              </a:lnSpc>
              <a:spcBef>
                <a:spcPct val="0"/>
              </a:spcBef>
            </a:pPr>
            <a:r>
              <a:rPr lang="en-US" b="true" sz="3131">
                <a:solidFill>
                  <a:srgbClr val="000000"/>
                </a:solidFill>
                <a:latin typeface="Arial Bold"/>
                <a:ea typeface="Arial Bold"/>
                <a:cs typeface="Arial Bold"/>
                <a:sym typeface="Arial Bold"/>
              </a:rPr>
              <a:t>A few countries produce most of the world’s emissions, while many countries contribute only a small share</a:t>
            </a:r>
          </a:p>
        </p:txBody>
      </p:sp>
      <p:sp>
        <p:nvSpPr>
          <p:cNvPr name="TextBox 12" id="12"/>
          <p:cNvSpPr txBox="true"/>
          <p:nvPr/>
        </p:nvSpPr>
        <p:spPr>
          <a:xfrm rot="0">
            <a:off x="-330806" y="914400"/>
            <a:ext cx="1829172" cy="477034"/>
          </a:xfrm>
          <a:prstGeom prst="rect">
            <a:avLst/>
          </a:prstGeom>
        </p:spPr>
        <p:txBody>
          <a:bodyPr anchor="t" rtlCol="false" tIns="0" lIns="0" bIns="0" rIns="0">
            <a:spAutoFit/>
          </a:bodyPr>
          <a:lstStyle/>
          <a:p>
            <a:pPr algn="ctr">
              <a:lnSpc>
                <a:spcPts val="3335"/>
              </a:lnSpc>
            </a:pPr>
            <a:r>
              <a:rPr lang="en-US" sz="2382" b="true">
                <a:solidFill>
                  <a:srgbClr val="FFFFFF"/>
                </a:solidFill>
                <a:latin typeface="Overpass Ultra-Bold"/>
                <a:ea typeface="Overpass Ultra-Bold"/>
                <a:cs typeface="Overpass Ultra-Bold"/>
                <a:sym typeface="Overpass Ultra-Bold"/>
              </a:rPr>
              <a:t>Query</a:t>
            </a:r>
          </a:p>
        </p:txBody>
      </p:sp>
      <p:sp>
        <p:nvSpPr>
          <p:cNvPr name="TextBox 13" id="13"/>
          <p:cNvSpPr txBox="true"/>
          <p:nvPr/>
        </p:nvSpPr>
        <p:spPr>
          <a:xfrm rot="0">
            <a:off x="4957615" y="3165608"/>
            <a:ext cx="2202295" cy="560551"/>
          </a:xfrm>
          <a:prstGeom prst="rect">
            <a:avLst/>
          </a:prstGeom>
        </p:spPr>
        <p:txBody>
          <a:bodyPr anchor="t" rtlCol="false" tIns="0" lIns="0" bIns="0" rIns="0">
            <a:spAutoFit/>
          </a:bodyPr>
          <a:lstStyle/>
          <a:p>
            <a:pPr algn="ctr">
              <a:lnSpc>
                <a:spcPts val="4015"/>
              </a:lnSpc>
            </a:pPr>
            <a:r>
              <a:rPr lang="en-US" sz="2868" b="true">
                <a:solidFill>
                  <a:srgbClr val="FFFFFF"/>
                </a:solidFill>
                <a:latin typeface="Overpass Ultra-Bold"/>
                <a:ea typeface="Overpass Ultra-Bold"/>
                <a:cs typeface="Overpass Ultra-Bold"/>
                <a:sym typeface="Overpass Ultra-Bold"/>
              </a:rPr>
              <a:t>Output</a:t>
            </a:r>
          </a:p>
        </p:txBody>
      </p:sp>
      <p:sp>
        <p:nvSpPr>
          <p:cNvPr name="TextBox 14" id="14"/>
          <p:cNvSpPr txBox="true"/>
          <p:nvPr/>
        </p:nvSpPr>
        <p:spPr>
          <a:xfrm rot="0">
            <a:off x="6941705" y="4142492"/>
            <a:ext cx="2202295" cy="560551"/>
          </a:xfrm>
          <a:prstGeom prst="rect">
            <a:avLst/>
          </a:prstGeom>
        </p:spPr>
        <p:txBody>
          <a:bodyPr anchor="t" rtlCol="false" tIns="0" lIns="0" bIns="0" rIns="0">
            <a:spAutoFit/>
          </a:bodyPr>
          <a:lstStyle/>
          <a:p>
            <a:pPr algn="ctr">
              <a:lnSpc>
                <a:spcPts val="4015"/>
              </a:lnSpc>
            </a:pPr>
            <a:r>
              <a:rPr lang="en-US" sz="2868" b="true">
                <a:solidFill>
                  <a:srgbClr val="FFFFFF"/>
                </a:solidFill>
                <a:latin typeface="Overpass Ultra-Bold"/>
                <a:ea typeface="Overpass Ultra-Bold"/>
                <a:cs typeface="Overpass Ultra-Bold"/>
                <a:sym typeface="Overpass Ultra-Bold"/>
              </a:rPr>
              <a:t>Observation</a:t>
            </a:r>
          </a:p>
        </p:txBody>
      </p:sp>
    </p:spTree>
  </p:cSld>
  <p:clrMapOvr>
    <a:masterClrMapping/>
  </p:clrMapOvr>
  <p:transition spd="slow">
    <p:push dir="l"/>
  </p:transition>
</p:sld>
</file>

<file path=ppt/slides/slide2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7AD">
                <a:alpha val="100000"/>
              </a:srgbClr>
            </a:gs>
            <a:gs pos="100000">
              <a:srgbClr val="FFA9F9">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25064" y="0"/>
            <a:ext cx="18538129" cy="10420125"/>
          </a:xfrm>
          <a:custGeom>
            <a:avLst/>
            <a:gdLst/>
            <a:ahLst/>
            <a:cxnLst/>
            <a:rect r="r" b="b" t="t" l="l"/>
            <a:pathLst>
              <a:path h="10420125" w="18538129">
                <a:moveTo>
                  <a:pt x="0" y="0"/>
                </a:moveTo>
                <a:lnTo>
                  <a:pt x="18538128" y="0"/>
                </a:lnTo>
                <a:lnTo>
                  <a:pt x="18538128" y="10420125"/>
                </a:lnTo>
                <a:lnTo>
                  <a:pt x="0" y="10420125"/>
                </a:lnTo>
                <a:lnTo>
                  <a:pt x="0" y="0"/>
                </a:lnTo>
                <a:close/>
              </a:path>
            </a:pathLst>
          </a:custGeom>
          <a:blipFill>
            <a:blip r:embed="rId2"/>
            <a:stretch>
              <a:fillRect l="0" t="0" r="0" b="0"/>
            </a:stretch>
          </a:blipFill>
        </p:spPr>
      </p:sp>
      <p:grpSp>
        <p:nvGrpSpPr>
          <p:cNvPr name="Group 3" id="3"/>
          <p:cNvGrpSpPr>
            <a:grpSpLocks noChangeAspect="true"/>
          </p:cNvGrpSpPr>
          <p:nvPr/>
        </p:nvGrpSpPr>
        <p:grpSpPr>
          <a:xfrm rot="0">
            <a:off x="13221348" y="9277476"/>
            <a:ext cx="4838096" cy="1009524"/>
            <a:chOff x="0" y="0"/>
            <a:chExt cx="6450794" cy="1346032"/>
          </a:xfrm>
        </p:grpSpPr>
        <p:sp>
          <p:nvSpPr>
            <p:cNvPr name="Freeform 4" id="4"/>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3"/>
              <a:stretch>
                <a:fillRect l="0" t="0" r="0" b="3"/>
              </a:stretch>
            </a:blipFill>
          </p:spPr>
        </p:sp>
      </p:grpSp>
      <p:sp>
        <p:nvSpPr>
          <p:cNvPr name="Freeform 5" id="5"/>
          <p:cNvSpPr/>
          <p:nvPr/>
        </p:nvSpPr>
        <p:spPr>
          <a:xfrm flipH="false" flipV="false" rot="0">
            <a:off x="169365" y="1240044"/>
            <a:ext cx="6186122" cy="5591611"/>
          </a:xfrm>
          <a:custGeom>
            <a:avLst/>
            <a:gdLst/>
            <a:ahLst/>
            <a:cxnLst/>
            <a:rect r="r" b="b" t="t" l="l"/>
            <a:pathLst>
              <a:path h="5591611" w="6186122">
                <a:moveTo>
                  <a:pt x="0" y="0"/>
                </a:moveTo>
                <a:lnTo>
                  <a:pt x="6186122" y="0"/>
                </a:lnTo>
                <a:lnTo>
                  <a:pt x="6186122" y="5591612"/>
                </a:lnTo>
                <a:lnTo>
                  <a:pt x="0" y="5591612"/>
                </a:lnTo>
                <a:lnTo>
                  <a:pt x="0" y="0"/>
                </a:lnTo>
                <a:close/>
              </a:path>
            </a:pathLst>
          </a:custGeom>
          <a:blipFill>
            <a:blip r:embed="rId4"/>
            <a:stretch>
              <a:fillRect l="0" t="0" r="0" b="0"/>
            </a:stretch>
          </a:blipFill>
        </p:spPr>
      </p:sp>
      <p:sp>
        <p:nvSpPr>
          <p:cNvPr name="Freeform 6" id="6"/>
          <p:cNvSpPr/>
          <p:nvPr/>
        </p:nvSpPr>
        <p:spPr>
          <a:xfrm flipH="false" flipV="false" rot="0">
            <a:off x="11417529" y="3161818"/>
            <a:ext cx="1613028" cy="6096482"/>
          </a:xfrm>
          <a:custGeom>
            <a:avLst/>
            <a:gdLst/>
            <a:ahLst/>
            <a:cxnLst/>
            <a:rect r="r" b="b" t="t" l="l"/>
            <a:pathLst>
              <a:path h="6096482" w="1613028">
                <a:moveTo>
                  <a:pt x="0" y="0"/>
                </a:moveTo>
                <a:lnTo>
                  <a:pt x="1613028" y="0"/>
                </a:lnTo>
                <a:lnTo>
                  <a:pt x="1613028" y="6096482"/>
                </a:lnTo>
                <a:lnTo>
                  <a:pt x="0" y="6096482"/>
                </a:lnTo>
                <a:lnTo>
                  <a:pt x="0" y="0"/>
                </a:lnTo>
                <a:close/>
              </a:path>
            </a:pathLst>
          </a:custGeom>
          <a:blipFill>
            <a:blip r:embed="rId5"/>
            <a:stretch>
              <a:fillRect l="0" t="0" r="0" b="0"/>
            </a:stretch>
          </a:blipFill>
        </p:spPr>
      </p:sp>
      <p:sp>
        <p:nvSpPr>
          <p:cNvPr name="Freeform 7" id="7"/>
          <p:cNvSpPr/>
          <p:nvPr/>
        </p:nvSpPr>
        <p:spPr>
          <a:xfrm flipH="false" flipV="false" rot="0">
            <a:off x="169365" y="7263851"/>
            <a:ext cx="12861192" cy="3023149"/>
          </a:xfrm>
          <a:custGeom>
            <a:avLst/>
            <a:gdLst/>
            <a:ahLst/>
            <a:cxnLst/>
            <a:rect r="r" b="b" t="t" l="l"/>
            <a:pathLst>
              <a:path h="3023149" w="12861192">
                <a:moveTo>
                  <a:pt x="0" y="0"/>
                </a:moveTo>
                <a:lnTo>
                  <a:pt x="12861192" y="0"/>
                </a:lnTo>
                <a:lnTo>
                  <a:pt x="12861192" y="3023149"/>
                </a:lnTo>
                <a:lnTo>
                  <a:pt x="0" y="3023149"/>
                </a:lnTo>
                <a:lnTo>
                  <a:pt x="0" y="0"/>
                </a:lnTo>
                <a:close/>
              </a:path>
            </a:pathLst>
          </a:custGeom>
          <a:blipFill>
            <a:blip r:embed="rId6"/>
            <a:stretch>
              <a:fillRect l="0" t="0" r="0" b="0"/>
            </a:stretch>
          </a:blipFill>
        </p:spPr>
      </p:sp>
      <p:sp>
        <p:nvSpPr>
          <p:cNvPr name="TextBox 8" id="8"/>
          <p:cNvSpPr txBox="true"/>
          <p:nvPr/>
        </p:nvSpPr>
        <p:spPr>
          <a:xfrm rot="0">
            <a:off x="463351" y="163628"/>
            <a:ext cx="15640396" cy="1076417"/>
          </a:xfrm>
          <a:prstGeom prst="rect">
            <a:avLst/>
          </a:prstGeom>
        </p:spPr>
        <p:txBody>
          <a:bodyPr anchor="t" rtlCol="false" tIns="0" lIns="0" bIns="0" rIns="0">
            <a:spAutoFit/>
          </a:bodyPr>
          <a:lstStyle/>
          <a:p>
            <a:pPr algn="l">
              <a:lnSpc>
                <a:spcPts val="4048"/>
              </a:lnSpc>
              <a:spcBef>
                <a:spcPct val="0"/>
              </a:spcBef>
            </a:pPr>
            <a:r>
              <a:rPr lang="en-US" sz="3373">
                <a:solidFill>
                  <a:srgbClr val="000000"/>
                </a:solidFill>
                <a:latin typeface="Copperplate Gothic 32 AB Bold"/>
                <a:ea typeface="Copperplate Gothic 32 AB Bold"/>
                <a:cs typeface="Copperplate Gothic 32 AB Bold"/>
                <a:sym typeface="Copperplate Gothic 32 AB Bold"/>
              </a:rPr>
              <a:t>16] What is the gl</a:t>
            </a:r>
            <a:r>
              <a:rPr lang="en-US" sz="3373">
                <a:solidFill>
                  <a:srgbClr val="000000"/>
                </a:solidFill>
                <a:latin typeface="Copperplate Gothic 32 AB Bold"/>
                <a:ea typeface="Copperplate Gothic 32 AB Bold"/>
                <a:cs typeface="Copperplate Gothic 32 AB Bold"/>
                <a:sym typeface="Copperplate Gothic 32 AB Bold"/>
              </a:rPr>
              <a:t>obal average GDP, emission, and population by year?</a:t>
            </a:r>
          </a:p>
        </p:txBody>
      </p:sp>
      <p:sp>
        <p:nvSpPr>
          <p:cNvPr name="Freeform 9" id="9"/>
          <p:cNvSpPr/>
          <p:nvPr/>
        </p:nvSpPr>
        <p:spPr>
          <a:xfrm flipH="false" flipV="false" rot="0">
            <a:off x="13926331" y="2449838"/>
            <a:ext cx="1714064" cy="6478354"/>
          </a:xfrm>
          <a:custGeom>
            <a:avLst/>
            <a:gdLst/>
            <a:ahLst/>
            <a:cxnLst/>
            <a:rect r="r" b="b" t="t" l="l"/>
            <a:pathLst>
              <a:path h="6478354" w="1714064">
                <a:moveTo>
                  <a:pt x="0" y="0"/>
                </a:moveTo>
                <a:lnTo>
                  <a:pt x="1714065" y="0"/>
                </a:lnTo>
                <a:lnTo>
                  <a:pt x="1714065" y="6478354"/>
                </a:lnTo>
                <a:lnTo>
                  <a:pt x="0" y="6478354"/>
                </a:lnTo>
                <a:lnTo>
                  <a:pt x="0" y="0"/>
                </a:lnTo>
                <a:close/>
              </a:path>
            </a:pathLst>
          </a:custGeom>
          <a:blipFill>
            <a:blip r:embed="rId5"/>
            <a:stretch>
              <a:fillRect l="0" t="0" r="0" b="0"/>
            </a:stretch>
          </a:blipFill>
        </p:spPr>
      </p:sp>
      <p:sp>
        <p:nvSpPr>
          <p:cNvPr name="Freeform 10" id="10"/>
          <p:cNvSpPr/>
          <p:nvPr/>
        </p:nvSpPr>
        <p:spPr>
          <a:xfrm flipH="false" flipV="false" rot="0">
            <a:off x="15640396" y="1028700"/>
            <a:ext cx="2177415" cy="8229600"/>
          </a:xfrm>
          <a:custGeom>
            <a:avLst/>
            <a:gdLst/>
            <a:ahLst/>
            <a:cxnLst/>
            <a:rect r="r" b="b" t="t" l="l"/>
            <a:pathLst>
              <a:path h="8229600" w="2177415">
                <a:moveTo>
                  <a:pt x="0" y="0"/>
                </a:moveTo>
                <a:lnTo>
                  <a:pt x="2177415" y="0"/>
                </a:lnTo>
                <a:lnTo>
                  <a:pt x="2177415" y="8229600"/>
                </a:lnTo>
                <a:lnTo>
                  <a:pt x="0" y="8229600"/>
                </a:lnTo>
                <a:lnTo>
                  <a:pt x="0" y="0"/>
                </a:lnTo>
                <a:close/>
              </a:path>
            </a:pathLst>
          </a:custGeom>
          <a:blipFill>
            <a:blip r:embed="rId5"/>
            <a:stretch>
              <a:fillRect l="0" t="0" r="0" b="0"/>
            </a:stretch>
          </a:blipFill>
        </p:spPr>
      </p:sp>
      <p:sp>
        <p:nvSpPr>
          <p:cNvPr name="TextBox 11" id="11"/>
          <p:cNvSpPr txBox="true"/>
          <p:nvPr/>
        </p:nvSpPr>
        <p:spPr>
          <a:xfrm rot="0">
            <a:off x="8049691" y="5124450"/>
            <a:ext cx="10343315" cy="1048919"/>
          </a:xfrm>
          <a:prstGeom prst="rect">
            <a:avLst/>
          </a:prstGeom>
        </p:spPr>
        <p:txBody>
          <a:bodyPr anchor="t" rtlCol="false" tIns="0" lIns="0" bIns="0" rIns="0">
            <a:spAutoFit/>
          </a:bodyPr>
          <a:lstStyle/>
          <a:p>
            <a:pPr algn="l">
              <a:lnSpc>
                <a:spcPts val="2752"/>
              </a:lnSpc>
              <a:spcBef>
                <a:spcPct val="0"/>
              </a:spcBef>
            </a:pPr>
            <a:r>
              <a:rPr lang="en-US" b="true" sz="2294">
                <a:solidFill>
                  <a:srgbClr val="000000"/>
                </a:solidFill>
                <a:latin typeface="Arial Bold"/>
                <a:ea typeface="Arial Bold"/>
                <a:cs typeface="Arial Bold"/>
                <a:sym typeface="Arial Bold"/>
              </a:rPr>
              <a:t>he global average GDP, emissions, and population have generally increased over the years, showing growth in economy, people, and total emissions worldwide</a:t>
            </a:r>
          </a:p>
        </p:txBody>
      </p:sp>
      <p:sp>
        <p:nvSpPr>
          <p:cNvPr name="TextBox 12" id="12"/>
          <p:cNvSpPr txBox="true"/>
          <p:nvPr/>
        </p:nvSpPr>
        <p:spPr>
          <a:xfrm rot="0">
            <a:off x="5361241" y="1097169"/>
            <a:ext cx="2477439" cy="634164"/>
          </a:xfrm>
          <a:prstGeom prst="rect">
            <a:avLst/>
          </a:prstGeom>
        </p:spPr>
        <p:txBody>
          <a:bodyPr anchor="t" rtlCol="false" tIns="0" lIns="0" bIns="0" rIns="0">
            <a:spAutoFit/>
          </a:bodyPr>
          <a:lstStyle/>
          <a:p>
            <a:pPr algn="ctr">
              <a:lnSpc>
                <a:spcPts val="4517"/>
              </a:lnSpc>
            </a:pPr>
            <a:r>
              <a:rPr lang="en-US" sz="3226" b="true">
                <a:solidFill>
                  <a:srgbClr val="FFFFFF"/>
                </a:solidFill>
                <a:latin typeface="Overpass Ultra-Bold"/>
                <a:ea typeface="Overpass Ultra-Bold"/>
                <a:cs typeface="Overpass Ultra-Bold"/>
                <a:sym typeface="Overpass Ultra-Bold"/>
              </a:rPr>
              <a:t>Query</a:t>
            </a:r>
          </a:p>
        </p:txBody>
      </p:sp>
      <p:sp>
        <p:nvSpPr>
          <p:cNvPr name="TextBox 13" id="13"/>
          <p:cNvSpPr txBox="true"/>
          <p:nvPr/>
        </p:nvSpPr>
        <p:spPr>
          <a:xfrm rot="0">
            <a:off x="3158946" y="6703300"/>
            <a:ext cx="2202295" cy="560551"/>
          </a:xfrm>
          <a:prstGeom prst="rect">
            <a:avLst/>
          </a:prstGeom>
        </p:spPr>
        <p:txBody>
          <a:bodyPr anchor="t" rtlCol="false" tIns="0" lIns="0" bIns="0" rIns="0">
            <a:spAutoFit/>
          </a:bodyPr>
          <a:lstStyle/>
          <a:p>
            <a:pPr algn="ctr">
              <a:lnSpc>
                <a:spcPts val="4015"/>
              </a:lnSpc>
            </a:pPr>
            <a:r>
              <a:rPr lang="en-US" sz="2868" b="true">
                <a:solidFill>
                  <a:srgbClr val="FFFFFF"/>
                </a:solidFill>
                <a:latin typeface="Overpass Ultra-Bold"/>
                <a:ea typeface="Overpass Ultra-Bold"/>
                <a:cs typeface="Overpass Ultra-Bold"/>
                <a:sym typeface="Overpass Ultra-Bold"/>
              </a:rPr>
              <a:t>Output</a:t>
            </a:r>
          </a:p>
        </p:txBody>
      </p:sp>
      <p:sp>
        <p:nvSpPr>
          <p:cNvPr name="TextBox 14" id="14"/>
          <p:cNvSpPr txBox="true"/>
          <p:nvPr/>
        </p:nvSpPr>
        <p:spPr>
          <a:xfrm rot="0">
            <a:off x="7785360" y="4582949"/>
            <a:ext cx="2202295" cy="560551"/>
          </a:xfrm>
          <a:prstGeom prst="rect">
            <a:avLst/>
          </a:prstGeom>
        </p:spPr>
        <p:txBody>
          <a:bodyPr anchor="t" rtlCol="false" tIns="0" lIns="0" bIns="0" rIns="0">
            <a:spAutoFit/>
          </a:bodyPr>
          <a:lstStyle/>
          <a:p>
            <a:pPr algn="ctr">
              <a:lnSpc>
                <a:spcPts val="4015"/>
              </a:lnSpc>
            </a:pPr>
            <a:r>
              <a:rPr lang="en-US" sz="2868" b="true">
                <a:solidFill>
                  <a:srgbClr val="FFFFFF"/>
                </a:solidFill>
                <a:latin typeface="Overpass Ultra-Bold"/>
                <a:ea typeface="Overpass Ultra-Bold"/>
                <a:cs typeface="Overpass Ultra-Bold"/>
                <a:sym typeface="Overpass Ultra-Bold"/>
              </a:rPr>
              <a:t>Observation</a:t>
            </a:r>
          </a:p>
        </p:txBody>
      </p:sp>
    </p:spTree>
  </p:cSld>
  <p:clrMapOvr>
    <a:masterClrMapping/>
  </p:clrMapOvr>
  <p:transition spd="slow">
    <p:push dir="l"/>
  </p:transition>
</p:sld>
</file>

<file path=ppt/slides/slide2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7AD">
                <a:alpha val="100000"/>
              </a:srgbClr>
            </a:gs>
            <a:gs pos="100000">
              <a:srgbClr val="FFA9F9">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25064" y="0"/>
            <a:ext cx="18538129" cy="10420125"/>
          </a:xfrm>
          <a:custGeom>
            <a:avLst/>
            <a:gdLst/>
            <a:ahLst/>
            <a:cxnLst/>
            <a:rect r="r" b="b" t="t" l="l"/>
            <a:pathLst>
              <a:path h="10420125" w="18538129">
                <a:moveTo>
                  <a:pt x="0" y="0"/>
                </a:moveTo>
                <a:lnTo>
                  <a:pt x="18538128" y="0"/>
                </a:lnTo>
                <a:lnTo>
                  <a:pt x="18538128" y="10420125"/>
                </a:lnTo>
                <a:lnTo>
                  <a:pt x="0" y="10420125"/>
                </a:lnTo>
                <a:lnTo>
                  <a:pt x="0" y="0"/>
                </a:lnTo>
                <a:close/>
              </a:path>
            </a:pathLst>
          </a:custGeom>
          <a:blipFill>
            <a:blip r:embed="rId2"/>
            <a:stretch>
              <a:fillRect l="0" t="0" r="0" b="0"/>
            </a:stretch>
          </a:blipFill>
        </p:spPr>
      </p:sp>
      <p:grpSp>
        <p:nvGrpSpPr>
          <p:cNvPr name="Group 3" id="3"/>
          <p:cNvGrpSpPr>
            <a:grpSpLocks noChangeAspect="true"/>
          </p:cNvGrpSpPr>
          <p:nvPr/>
        </p:nvGrpSpPr>
        <p:grpSpPr>
          <a:xfrm rot="0">
            <a:off x="13221348" y="9277476"/>
            <a:ext cx="4838096" cy="1009524"/>
            <a:chOff x="0" y="0"/>
            <a:chExt cx="6450794" cy="1346032"/>
          </a:xfrm>
        </p:grpSpPr>
        <p:sp>
          <p:nvSpPr>
            <p:cNvPr name="Freeform 4" id="4"/>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3"/>
              <a:stretch>
                <a:fillRect l="0" t="0" r="0" b="3"/>
              </a:stretch>
            </a:blipFill>
          </p:spPr>
        </p:sp>
      </p:grpSp>
      <p:sp>
        <p:nvSpPr>
          <p:cNvPr name="Freeform 5" id="5"/>
          <p:cNvSpPr/>
          <p:nvPr/>
        </p:nvSpPr>
        <p:spPr>
          <a:xfrm flipH="false" flipV="false" rot="0">
            <a:off x="16110585" y="1028700"/>
            <a:ext cx="2177415" cy="8229600"/>
          </a:xfrm>
          <a:custGeom>
            <a:avLst/>
            <a:gdLst/>
            <a:ahLst/>
            <a:cxnLst/>
            <a:rect r="r" b="b" t="t" l="l"/>
            <a:pathLst>
              <a:path h="8229600" w="2177415">
                <a:moveTo>
                  <a:pt x="0" y="0"/>
                </a:moveTo>
                <a:lnTo>
                  <a:pt x="2177415" y="0"/>
                </a:lnTo>
                <a:lnTo>
                  <a:pt x="2177415" y="8229600"/>
                </a:lnTo>
                <a:lnTo>
                  <a:pt x="0" y="8229600"/>
                </a:lnTo>
                <a:lnTo>
                  <a:pt x="0" y="0"/>
                </a:lnTo>
                <a:close/>
              </a:path>
            </a:pathLst>
          </a:custGeom>
          <a:blipFill>
            <a:blip r:embed="rId4"/>
            <a:stretch>
              <a:fillRect l="0" t="0" r="0" b="0"/>
            </a:stretch>
          </a:blipFill>
        </p:spPr>
      </p:sp>
      <p:sp>
        <p:nvSpPr>
          <p:cNvPr name="TextBox 6" id="6"/>
          <p:cNvSpPr txBox="true"/>
          <p:nvPr/>
        </p:nvSpPr>
        <p:spPr>
          <a:xfrm rot="0">
            <a:off x="1028358" y="736641"/>
            <a:ext cx="5800862" cy="523921"/>
          </a:xfrm>
          <a:prstGeom prst="rect">
            <a:avLst/>
          </a:prstGeom>
        </p:spPr>
        <p:txBody>
          <a:bodyPr anchor="t" rtlCol="false" tIns="0" lIns="0" bIns="0" rIns="0">
            <a:spAutoFit/>
          </a:bodyPr>
          <a:lstStyle/>
          <a:p>
            <a:pPr algn="ctr">
              <a:lnSpc>
                <a:spcPts val="3614"/>
              </a:lnSpc>
              <a:spcBef>
                <a:spcPct val="0"/>
              </a:spcBef>
            </a:pPr>
            <a:r>
              <a:rPr lang="en-US" sz="3012">
                <a:solidFill>
                  <a:srgbClr val="000000"/>
                </a:solidFill>
                <a:latin typeface="Copperplate Gothic 32 AB Bold"/>
                <a:ea typeface="Copperplate Gothic 32 AB Bold"/>
                <a:cs typeface="Copperplate Gothic 32 AB Bold"/>
                <a:sym typeface="Copperplate Gothic 32 AB Bold"/>
              </a:rPr>
              <a:t>Final Business Insights</a:t>
            </a:r>
          </a:p>
        </p:txBody>
      </p:sp>
      <p:sp>
        <p:nvSpPr>
          <p:cNvPr name="TextBox 7" id="7"/>
          <p:cNvSpPr txBox="true"/>
          <p:nvPr/>
        </p:nvSpPr>
        <p:spPr>
          <a:xfrm rot="0">
            <a:off x="333369" y="1585757"/>
            <a:ext cx="12169113" cy="2389741"/>
          </a:xfrm>
          <a:prstGeom prst="rect">
            <a:avLst/>
          </a:prstGeom>
        </p:spPr>
        <p:txBody>
          <a:bodyPr anchor="t" rtlCol="false" tIns="0" lIns="0" bIns="0" rIns="0">
            <a:spAutoFit/>
          </a:bodyPr>
          <a:lstStyle/>
          <a:p>
            <a:pPr algn="l" marL="484691" indent="-242345" lvl="1">
              <a:lnSpc>
                <a:spcPts val="2693"/>
              </a:lnSpc>
              <a:buFont typeface="Arial"/>
              <a:buChar char="•"/>
            </a:pPr>
            <a:r>
              <a:rPr lang="en-US" sz="2244">
                <a:solidFill>
                  <a:srgbClr val="000000"/>
                </a:solidFill>
                <a:latin typeface="Copperplate Gothic 32 AB Bold"/>
                <a:ea typeface="Copperplate Gothic 32 AB Bold"/>
                <a:cs typeface="Copperplate Gothic 32 AB Bold"/>
                <a:sym typeface="Copperplate Gothic 32 AB Bold"/>
              </a:rPr>
              <a:t>High emissions are directly linked with top energy-consuming countries.</a:t>
            </a:r>
          </a:p>
          <a:p>
            <a:pPr algn="l" marL="484691" indent="-242345" lvl="1">
              <a:lnSpc>
                <a:spcPts val="2693"/>
              </a:lnSpc>
              <a:buFont typeface="Arial"/>
              <a:buChar char="•"/>
            </a:pPr>
            <a:r>
              <a:rPr lang="en-US" sz="2244">
                <a:solidFill>
                  <a:srgbClr val="000000"/>
                </a:solidFill>
                <a:latin typeface="Copperplate Gothic 32 AB Bold"/>
                <a:ea typeface="Copperplate Gothic 32 AB Bold"/>
                <a:cs typeface="Copperplate Gothic 32 AB Bold"/>
                <a:sym typeface="Copperplate Gothic 32 AB Bold"/>
              </a:rPr>
              <a:t>GDP growth and energy production/consumption show a strong correlation.</a:t>
            </a:r>
          </a:p>
          <a:p>
            <a:pPr algn="l" marL="484691" indent="-242345" lvl="1">
              <a:lnSpc>
                <a:spcPts val="2693"/>
              </a:lnSpc>
              <a:buFont typeface="Arial"/>
              <a:buChar char="•"/>
            </a:pPr>
            <a:r>
              <a:rPr lang="en-US" sz="2244">
                <a:solidFill>
                  <a:srgbClr val="000000"/>
                </a:solidFill>
                <a:latin typeface="Copperplate Gothic 32 AB Bold"/>
                <a:ea typeface="Copperplate Gothic 32 AB Bold"/>
                <a:cs typeface="Copperplate Gothic 32 AB Bold"/>
                <a:sym typeface="Copperplate Gothic 32 AB Bold"/>
              </a:rPr>
              <a:t>Per capita analysis reveals unequal energy usage and emission distribution across countries.</a:t>
            </a:r>
          </a:p>
          <a:p>
            <a:pPr algn="ctr" marL="484691" indent="-242345" lvl="1">
              <a:lnSpc>
                <a:spcPts val="2693"/>
              </a:lnSpc>
              <a:buFont typeface="Arial"/>
              <a:buChar char="•"/>
            </a:pPr>
            <a:r>
              <a:rPr lang="en-US" sz="2244">
                <a:solidFill>
                  <a:srgbClr val="000000"/>
                </a:solidFill>
                <a:latin typeface="Copperplate Gothic 32 AB Bold"/>
                <a:ea typeface="Copperplate Gothic 32 AB Bold"/>
                <a:cs typeface="Copperplate Gothic 32 AB Bold"/>
                <a:sym typeface="Copperplate Gothic 32 AB Bold"/>
              </a:rPr>
              <a:t>Major economies drive the global energy and emission trends.</a:t>
            </a:r>
          </a:p>
        </p:txBody>
      </p:sp>
      <p:sp>
        <p:nvSpPr>
          <p:cNvPr name="TextBox 8" id="8"/>
          <p:cNvSpPr txBox="true"/>
          <p:nvPr/>
        </p:nvSpPr>
        <p:spPr>
          <a:xfrm rot="0">
            <a:off x="906376" y="4824390"/>
            <a:ext cx="6044826" cy="571546"/>
          </a:xfrm>
          <a:prstGeom prst="rect">
            <a:avLst/>
          </a:prstGeom>
        </p:spPr>
        <p:txBody>
          <a:bodyPr anchor="t" rtlCol="false" tIns="0" lIns="0" bIns="0" rIns="0">
            <a:spAutoFit/>
          </a:bodyPr>
          <a:lstStyle/>
          <a:p>
            <a:pPr algn="ctr">
              <a:lnSpc>
                <a:spcPts val="4048"/>
              </a:lnSpc>
              <a:spcBef>
                <a:spcPct val="0"/>
              </a:spcBef>
            </a:pPr>
            <a:r>
              <a:rPr lang="en-US" sz="3373">
                <a:solidFill>
                  <a:srgbClr val="000000"/>
                </a:solidFill>
                <a:latin typeface="Copperplate Gothic 32 AB Bold"/>
                <a:ea typeface="Copperplate Gothic 32 AB Bold"/>
                <a:cs typeface="Copperplate Gothic 32 AB Bold"/>
                <a:sym typeface="Copperplate Gothic 32 AB Bold"/>
              </a:rPr>
              <a:t>Key Recommendations</a:t>
            </a:r>
          </a:p>
        </p:txBody>
      </p:sp>
      <p:sp>
        <p:nvSpPr>
          <p:cNvPr name="TextBox 9" id="9"/>
          <p:cNvSpPr txBox="true"/>
          <p:nvPr/>
        </p:nvSpPr>
        <p:spPr>
          <a:xfrm rot="0">
            <a:off x="633401" y="5700735"/>
            <a:ext cx="17654599" cy="2724150"/>
          </a:xfrm>
          <a:prstGeom prst="rect">
            <a:avLst/>
          </a:prstGeom>
        </p:spPr>
        <p:txBody>
          <a:bodyPr anchor="t" rtlCol="false" tIns="0" lIns="0" bIns="0" rIns="0">
            <a:spAutoFit/>
          </a:bodyPr>
          <a:lstStyle/>
          <a:p>
            <a:pPr algn="l" marL="544347" indent="-272173" lvl="1">
              <a:lnSpc>
                <a:spcPts val="3025"/>
              </a:lnSpc>
              <a:buFont typeface="Arial"/>
              <a:buChar char="•"/>
            </a:pPr>
            <a:r>
              <a:rPr lang="en-US" sz="2521">
                <a:solidFill>
                  <a:srgbClr val="000000"/>
                </a:solidFill>
                <a:latin typeface="Copperplate Gothic 32 AB Bold"/>
                <a:ea typeface="Copperplate Gothic 32 AB Bold"/>
                <a:cs typeface="Copperplate Gothic 32 AB Bold"/>
                <a:sym typeface="Copperplate Gothic 32 AB Bold"/>
              </a:rPr>
              <a:t>i</a:t>
            </a:r>
            <a:r>
              <a:rPr lang="en-US" sz="2521">
                <a:solidFill>
                  <a:srgbClr val="000000"/>
                </a:solidFill>
                <a:latin typeface="Copperplate Gothic 32 AB Bold"/>
                <a:ea typeface="Copperplate Gothic 32 AB Bold"/>
                <a:cs typeface="Copperplate Gothic 32 AB Bold"/>
                <a:sym typeface="Copperplate Gothic 32 AB Bold"/>
              </a:rPr>
              <a:t>nvest in renewable energy sources to reduce dependency on fossil fuels.</a:t>
            </a:r>
          </a:p>
          <a:p>
            <a:pPr algn="l" marL="544347" indent="-272173" lvl="1">
              <a:lnSpc>
                <a:spcPts val="3025"/>
              </a:lnSpc>
              <a:buFont typeface="Arial"/>
              <a:buChar char="•"/>
            </a:pPr>
            <a:r>
              <a:rPr lang="en-US" sz="2521">
                <a:solidFill>
                  <a:srgbClr val="000000"/>
                </a:solidFill>
                <a:latin typeface="Copperplate Gothic 32 AB Bold"/>
                <a:ea typeface="Copperplate Gothic 32 AB Bold"/>
                <a:cs typeface="Copperplate Gothic 32 AB Bold"/>
                <a:sym typeface="Copperplate Gothic 32 AB Bold"/>
              </a:rPr>
              <a:t>Encourage energy efficiency policies to lower emissions without slowing GDP growth.</a:t>
            </a:r>
          </a:p>
          <a:p>
            <a:pPr algn="l" marL="544347" indent="-272173" lvl="1">
              <a:lnSpc>
                <a:spcPts val="3025"/>
              </a:lnSpc>
              <a:buFont typeface="Arial"/>
              <a:buChar char="•"/>
            </a:pPr>
            <a:r>
              <a:rPr lang="en-US" sz="2521">
                <a:solidFill>
                  <a:srgbClr val="000000"/>
                </a:solidFill>
                <a:latin typeface="Copperplate Gothic 32 AB Bold"/>
                <a:ea typeface="Copperplate Gothic 32 AB Bold"/>
                <a:cs typeface="Copperplate Gothic 32 AB Bold"/>
                <a:sym typeface="Copperplate Gothic 32 AB Bold"/>
              </a:rPr>
              <a:t>Focus on sustainable development strategies in major economies, as they influence global patterns.</a:t>
            </a:r>
          </a:p>
          <a:p>
            <a:pPr algn="l" marL="544347" indent="-272173" lvl="1">
              <a:lnSpc>
                <a:spcPts val="3025"/>
              </a:lnSpc>
              <a:buFont typeface="Arial"/>
              <a:buChar char="•"/>
            </a:pPr>
            <a:r>
              <a:rPr lang="en-US" sz="2521">
                <a:solidFill>
                  <a:srgbClr val="000000"/>
                </a:solidFill>
                <a:latin typeface="Copperplate Gothic 32 AB Bold"/>
                <a:ea typeface="Copperplate Gothic 32 AB Bold"/>
                <a:cs typeface="Copperplate Gothic 32 AB Bold"/>
                <a:sym typeface="Copperplate Gothic 32 AB Bold"/>
              </a:rPr>
              <a:t>Monitor per capita trends to ensure fair and balanced energy distribution globally.</a:t>
            </a:r>
          </a:p>
        </p:txBody>
      </p:sp>
    </p:spTree>
  </p:cSld>
  <p:clrMapOvr>
    <a:masterClrMapping/>
  </p:clrMapOvr>
  <p:transition spd="slow">
    <p:push dir="l"/>
  </p:transition>
</p:sld>
</file>

<file path=ppt/slides/slide2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7AD">
                <a:alpha val="100000"/>
              </a:srgbClr>
            </a:gs>
            <a:gs pos="100000">
              <a:srgbClr val="FFA9F9">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25064" y="0"/>
            <a:ext cx="18538129" cy="10420125"/>
          </a:xfrm>
          <a:custGeom>
            <a:avLst/>
            <a:gdLst/>
            <a:ahLst/>
            <a:cxnLst/>
            <a:rect r="r" b="b" t="t" l="l"/>
            <a:pathLst>
              <a:path h="10420125" w="18538129">
                <a:moveTo>
                  <a:pt x="0" y="0"/>
                </a:moveTo>
                <a:lnTo>
                  <a:pt x="18538128" y="0"/>
                </a:lnTo>
                <a:lnTo>
                  <a:pt x="18538128" y="10420125"/>
                </a:lnTo>
                <a:lnTo>
                  <a:pt x="0" y="10420125"/>
                </a:lnTo>
                <a:lnTo>
                  <a:pt x="0" y="0"/>
                </a:lnTo>
                <a:close/>
              </a:path>
            </a:pathLst>
          </a:custGeom>
          <a:blipFill>
            <a:blip r:embed="rId2"/>
            <a:stretch>
              <a:fillRect l="0" t="0" r="0" b="0"/>
            </a:stretch>
          </a:blipFill>
        </p:spPr>
      </p:sp>
      <p:sp>
        <p:nvSpPr>
          <p:cNvPr name="Freeform 3" id="3"/>
          <p:cNvSpPr/>
          <p:nvPr/>
        </p:nvSpPr>
        <p:spPr>
          <a:xfrm flipH="false" flipV="false" rot="0">
            <a:off x="-125064" y="8906462"/>
            <a:ext cx="16230600" cy="1751552"/>
          </a:xfrm>
          <a:custGeom>
            <a:avLst/>
            <a:gdLst/>
            <a:ahLst/>
            <a:cxnLst/>
            <a:rect r="r" b="b" t="t" l="l"/>
            <a:pathLst>
              <a:path h="1751552" w="16230600">
                <a:moveTo>
                  <a:pt x="0" y="0"/>
                </a:moveTo>
                <a:lnTo>
                  <a:pt x="16230600" y="0"/>
                </a:lnTo>
                <a:lnTo>
                  <a:pt x="16230600" y="1751552"/>
                </a:lnTo>
                <a:lnTo>
                  <a:pt x="0" y="1751552"/>
                </a:lnTo>
                <a:lnTo>
                  <a:pt x="0" y="0"/>
                </a:lnTo>
                <a:close/>
              </a:path>
            </a:pathLst>
          </a:custGeom>
          <a:blipFill>
            <a:blip r:embed="rId3"/>
            <a:stretch>
              <a:fillRect l="0" t="0" r="0" b="0"/>
            </a:stretch>
          </a:blipFill>
        </p:spPr>
      </p:sp>
      <p:grpSp>
        <p:nvGrpSpPr>
          <p:cNvPr name="Group 4" id="4"/>
          <p:cNvGrpSpPr>
            <a:grpSpLocks noChangeAspect="true"/>
          </p:cNvGrpSpPr>
          <p:nvPr/>
        </p:nvGrpSpPr>
        <p:grpSpPr>
          <a:xfrm rot="0">
            <a:off x="13221348" y="9277476"/>
            <a:ext cx="4838096" cy="1009524"/>
            <a:chOff x="0" y="0"/>
            <a:chExt cx="6450794" cy="1346032"/>
          </a:xfrm>
        </p:grpSpPr>
        <p:sp>
          <p:nvSpPr>
            <p:cNvPr name="Freeform 5" id="5"/>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4"/>
              <a:stretch>
                <a:fillRect l="0" t="0" r="0" b="3"/>
              </a:stretch>
            </a:blipFill>
          </p:spPr>
        </p:sp>
      </p:grpSp>
      <p:sp>
        <p:nvSpPr>
          <p:cNvPr name="Freeform 6" id="6"/>
          <p:cNvSpPr/>
          <p:nvPr/>
        </p:nvSpPr>
        <p:spPr>
          <a:xfrm flipH="false" flipV="false" rot="0">
            <a:off x="0" y="6038619"/>
            <a:ext cx="9546924" cy="4248381"/>
          </a:xfrm>
          <a:custGeom>
            <a:avLst/>
            <a:gdLst/>
            <a:ahLst/>
            <a:cxnLst/>
            <a:rect r="r" b="b" t="t" l="l"/>
            <a:pathLst>
              <a:path h="4248381" w="9546924">
                <a:moveTo>
                  <a:pt x="0" y="0"/>
                </a:moveTo>
                <a:lnTo>
                  <a:pt x="9546924" y="0"/>
                </a:lnTo>
                <a:lnTo>
                  <a:pt x="9546924" y="4248381"/>
                </a:lnTo>
                <a:lnTo>
                  <a:pt x="0" y="4248381"/>
                </a:lnTo>
                <a:lnTo>
                  <a:pt x="0" y="0"/>
                </a:lnTo>
                <a:close/>
              </a:path>
            </a:pathLst>
          </a:custGeom>
          <a:blipFill>
            <a:blip r:embed="rId5"/>
            <a:stretch>
              <a:fillRect l="0" t="0" r="0" b="0"/>
            </a:stretch>
          </a:blipFill>
        </p:spPr>
      </p:sp>
      <p:sp>
        <p:nvSpPr>
          <p:cNvPr name="TextBox 7" id="7"/>
          <p:cNvSpPr txBox="true"/>
          <p:nvPr/>
        </p:nvSpPr>
        <p:spPr>
          <a:xfrm rot="0">
            <a:off x="668660" y="2871581"/>
            <a:ext cx="17079268" cy="3534096"/>
          </a:xfrm>
          <a:prstGeom prst="rect">
            <a:avLst/>
          </a:prstGeom>
        </p:spPr>
        <p:txBody>
          <a:bodyPr anchor="t" rtlCol="false" tIns="0" lIns="0" bIns="0" rIns="0">
            <a:spAutoFit/>
          </a:bodyPr>
          <a:lstStyle/>
          <a:p>
            <a:pPr algn="just">
              <a:lnSpc>
                <a:spcPts val="4048"/>
              </a:lnSpc>
              <a:spcBef>
                <a:spcPct val="0"/>
              </a:spcBef>
            </a:pPr>
          </a:p>
          <a:p>
            <a:pPr algn="just">
              <a:lnSpc>
                <a:spcPts val="4048"/>
              </a:lnSpc>
              <a:spcBef>
                <a:spcPct val="0"/>
              </a:spcBef>
            </a:pPr>
            <a:r>
              <a:rPr lang="en-US" sz="3373">
                <a:solidFill>
                  <a:srgbClr val="000000"/>
                </a:solidFill>
                <a:latin typeface="Hero Bold"/>
                <a:ea typeface="Hero Bold"/>
                <a:cs typeface="Hero Bold"/>
                <a:sym typeface="Hero Bold"/>
              </a:rPr>
              <a:t>This project analyzed global energy consumption, production, emissions, GDP, and population using SQL.</a:t>
            </a:r>
          </a:p>
          <a:p>
            <a:pPr algn="just">
              <a:lnSpc>
                <a:spcPts val="4048"/>
              </a:lnSpc>
              <a:spcBef>
                <a:spcPct val="0"/>
              </a:spcBef>
            </a:pPr>
            <a:r>
              <a:rPr lang="en-US" sz="3373">
                <a:solidFill>
                  <a:srgbClr val="000000"/>
                </a:solidFill>
                <a:latin typeface="Hero Bold"/>
                <a:ea typeface="Hero Bold"/>
                <a:cs typeface="Hero Bold"/>
                <a:sym typeface="Hero Bold"/>
              </a:rPr>
              <a:t> The study showed which countries consume and produce the most energy, how GDP relates to energy usage, and how per capita values change over time.</a:t>
            </a:r>
          </a:p>
          <a:p>
            <a:pPr algn="just">
              <a:lnSpc>
                <a:spcPts val="4048"/>
              </a:lnSpc>
              <a:spcBef>
                <a:spcPct val="0"/>
              </a:spcBef>
            </a:pPr>
            <a:r>
              <a:rPr lang="en-US" sz="3373">
                <a:solidFill>
                  <a:srgbClr val="000000"/>
                </a:solidFill>
                <a:latin typeface="Hero Bold"/>
                <a:ea typeface="Hero Bold"/>
                <a:cs typeface="Hero Bold"/>
                <a:sym typeface="Hero Bold"/>
              </a:rPr>
              <a:t> It highlights the need for sustainable energy management to balance economic growth and environmental impact.</a:t>
            </a:r>
          </a:p>
        </p:txBody>
      </p:sp>
      <p:sp>
        <p:nvSpPr>
          <p:cNvPr name="TextBox 8" id="8"/>
          <p:cNvSpPr txBox="true"/>
          <p:nvPr/>
        </p:nvSpPr>
        <p:spPr>
          <a:xfrm rot="0">
            <a:off x="6813911" y="1180462"/>
            <a:ext cx="3528600" cy="887049"/>
          </a:xfrm>
          <a:prstGeom prst="rect">
            <a:avLst/>
          </a:prstGeom>
        </p:spPr>
        <p:txBody>
          <a:bodyPr anchor="t" rtlCol="false" tIns="0" lIns="0" bIns="0" rIns="0">
            <a:spAutoFit/>
          </a:bodyPr>
          <a:lstStyle/>
          <a:p>
            <a:pPr algn="ctr">
              <a:lnSpc>
                <a:spcPts val="7279"/>
              </a:lnSpc>
            </a:pPr>
            <a:r>
              <a:rPr lang="en-US" b="true" sz="5199">
                <a:solidFill>
                  <a:srgbClr val="000000"/>
                </a:solidFill>
                <a:latin typeface="Canva Sans Bold"/>
                <a:ea typeface="Canva Sans Bold"/>
                <a:cs typeface="Canva Sans Bold"/>
                <a:sym typeface="Canva Sans Bold"/>
              </a:rPr>
              <a:t>conclusion</a:t>
            </a:r>
          </a:p>
        </p:txBody>
      </p:sp>
    </p:spTree>
  </p:cSld>
  <p:clrMapOvr>
    <a:masterClrMapping/>
  </p:clrMapOvr>
  <p:transition spd="slow">
    <p:push dir="l"/>
  </p:transition>
</p:sld>
</file>

<file path=ppt/slides/slide2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FFF7AD">
                <a:alpha val="100000"/>
              </a:srgbClr>
            </a:gs>
            <a:gs pos="100000">
              <a:srgbClr val="FFA9F9">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25064" y="0"/>
            <a:ext cx="18538129" cy="10420125"/>
          </a:xfrm>
          <a:custGeom>
            <a:avLst/>
            <a:gdLst/>
            <a:ahLst/>
            <a:cxnLst/>
            <a:rect r="r" b="b" t="t" l="l"/>
            <a:pathLst>
              <a:path h="10420125" w="18538129">
                <a:moveTo>
                  <a:pt x="0" y="0"/>
                </a:moveTo>
                <a:lnTo>
                  <a:pt x="18538128" y="0"/>
                </a:lnTo>
                <a:lnTo>
                  <a:pt x="18538128" y="10420125"/>
                </a:lnTo>
                <a:lnTo>
                  <a:pt x="0" y="10420125"/>
                </a:lnTo>
                <a:lnTo>
                  <a:pt x="0" y="0"/>
                </a:lnTo>
                <a:close/>
              </a:path>
            </a:pathLst>
          </a:custGeom>
          <a:blipFill>
            <a:blip r:embed="rId2"/>
            <a:stretch>
              <a:fillRect l="0" t="0" r="0" b="0"/>
            </a:stretch>
          </a:blipFill>
        </p:spPr>
      </p:sp>
      <p:grpSp>
        <p:nvGrpSpPr>
          <p:cNvPr name="Group 3" id="3"/>
          <p:cNvGrpSpPr>
            <a:grpSpLocks noChangeAspect="true"/>
          </p:cNvGrpSpPr>
          <p:nvPr/>
        </p:nvGrpSpPr>
        <p:grpSpPr>
          <a:xfrm rot="0">
            <a:off x="13221348" y="9277476"/>
            <a:ext cx="4838096" cy="1009524"/>
            <a:chOff x="0" y="0"/>
            <a:chExt cx="6450794" cy="1346032"/>
          </a:xfrm>
        </p:grpSpPr>
        <p:sp>
          <p:nvSpPr>
            <p:cNvPr name="Freeform 4" id="4"/>
            <p:cNvSpPr/>
            <p:nvPr/>
          </p:nvSpPr>
          <p:spPr>
            <a:xfrm flipH="false" flipV="false" rot="0">
              <a:off x="0" y="0"/>
              <a:ext cx="6450838" cy="1346073"/>
            </a:xfrm>
            <a:custGeom>
              <a:avLst/>
              <a:gdLst/>
              <a:ahLst/>
              <a:cxnLst/>
              <a:rect r="r" b="b" t="t" l="l"/>
              <a:pathLst>
                <a:path h="1346073" w="6450838">
                  <a:moveTo>
                    <a:pt x="0" y="0"/>
                  </a:moveTo>
                  <a:lnTo>
                    <a:pt x="6450838" y="0"/>
                  </a:lnTo>
                  <a:lnTo>
                    <a:pt x="6450838" y="1346073"/>
                  </a:lnTo>
                  <a:lnTo>
                    <a:pt x="0" y="1346073"/>
                  </a:lnTo>
                  <a:lnTo>
                    <a:pt x="0" y="0"/>
                  </a:lnTo>
                  <a:close/>
                </a:path>
              </a:pathLst>
            </a:custGeom>
            <a:blipFill>
              <a:blip r:embed="rId3"/>
              <a:stretch>
                <a:fillRect l="0" t="0" r="0" b="3"/>
              </a:stretch>
            </a:blipFill>
          </p:spPr>
        </p:sp>
      </p:grpSp>
      <p:sp>
        <p:nvSpPr>
          <p:cNvPr name="TextBox 5" id="5"/>
          <p:cNvSpPr txBox="true"/>
          <p:nvPr/>
        </p:nvSpPr>
        <p:spPr>
          <a:xfrm rot="0">
            <a:off x="0" y="637147"/>
            <a:ext cx="17362163" cy="1076417"/>
          </a:xfrm>
          <a:prstGeom prst="rect">
            <a:avLst/>
          </a:prstGeom>
        </p:spPr>
        <p:txBody>
          <a:bodyPr anchor="t" rtlCol="false" tIns="0" lIns="0" bIns="0" rIns="0">
            <a:spAutoFit/>
          </a:bodyPr>
          <a:lstStyle/>
          <a:p>
            <a:pPr algn="ctr">
              <a:lnSpc>
                <a:spcPts val="4048"/>
              </a:lnSpc>
              <a:spcBef>
                <a:spcPct val="0"/>
              </a:spcBef>
            </a:pPr>
            <a:r>
              <a:rPr lang="en-US" sz="3373">
                <a:solidFill>
                  <a:srgbClr val="000000"/>
                </a:solidFill>
                <a:latin typeface="Copperplate Gothic 32 AB Bold"/>
                <a:ea typeface="Copperplate Gothic 32 AB Bold"/>
                <a:cs typeface="Copperplate Gothic 32 AB Bold"/>
                <a:sym typeface="Copperplate Gothic 32 AB Bold"/>
              </a:rPr>
              <a:t>Your Experience/Challenges working on SQL – Data Analysis Project.</a:t>
            </a:r>
          </a:p>
        </p:txBody>
      </p:sp>
      <p:sp>
        <p:nvSpPr>
          <p:cNvPr name="TextBox 6" id="6"/>
          <p:cNvSpPr txBox="true"/>
          <p:nvPr/>
        </p:nvSpPr>
        <p:spPr>
          <a:xfrm rot="0">
            <a:off x="800143" y="2748729"/>
            <a:ext cx="17487856" cy="3600771"/>
          </a:xfrm>
          <a:prstGeom prst="rect">
            <a:avLst/>
          </a:prstGeom>
        </p:spPr>
        <p:txBody>
          <a:bodyPr anchor="t" rtlCol="false" tIns="0" lIns="0" bIns="0" rIns="0">
            <a:spAutoFit/>
          </a:bodyPr>
          <a:lstStyle/>
          <a:p>
            <a:pPr algn="l">
              <a:lnSpc>
                <a:spcPts val="4048"/>
              </a:lnSpc>
              <a:spcBef>
                <a:spcPct val="0"/>
              </a:spcBef>
            </a:pPr>
            <a:r>
              <a:rPr lang="en-US" sz="3373">
                <a:solidFill>
                  <a:srgbClr val="000000"/>
                </a:solidFill>
                <a:latin typeface="Copperplate Gothic 32 AB Bold"/>
                <a:ea typeface="Copperplate Gothic 32 AB Bold"/>
                <a:cs typeface="Copperplate Gothic 32 AB Bold"/>
                <a:sym typeface="Copperplate Gothic 32 AB Bold"/>
              </a:rPr>
              <a:t>The main challenge was writing efficient queries to extract meaningful insights—especially when dealing with multiple conditions, joins, and aggregations. I improved my skills in filtering data, using </a:t>
            </a:r>
            <a:r>
              <a:rPr lang="en-US" sz="3373" u="sng">
                <a:solidFill>
                  <a:srgbClr val="000000"/>
                </a:solidFill>
                <a:latin typeface="Copperplate Gothic 32 AB Bold"/>
                <a:ea typeface="Copperplate Gothic 32 AB Bold"/>
                <a:cs typeface="Copperplate Gothic 32 AB Bold"/>
                <a:sym typeface="Copperplate Gothic 32 AB Bold"/>
              </a:rPr>
              <a:t>GROUP BY, JOIN, and ORDER BY</a:t>
            </a:r>
            <a:r>
              <a:rPr lang="en-US" sz="3373">
                <a:solidFill>
                  <a:srgbClr val="000000"/>
                </a:solidFill>
                <a:latin typeface="Copperplate Gothic 32 AB Bold"/>
                <a:ea typeface="Copperplate Gothic 32 AB Bold"/>
                <a:cs typeface="Copperplate Gothic 32 AB Bold"/>
                <a:sym typeface="Copperplate Gothic 32 AB Bold"/>
              </a:rPr>
              <a:t>, and learned how to structure queries for real-world analysis. </a:t>
            </a:r>
          </a:p>
          <a:p>
            <a:pPr algn="l">
              <a:lnSpc>
                <a:spcPts val="4048"/>
              </a:lnSpc>
              <a:spcBef>
                <a:spcPct val="0"/>
              </a:spcBef>
            </a:pPr>
            <a:r>
              <a:rPr lang="en-US" sz="3373">
                <a:solidFill>
                  <a:srgbClr val="000000"/>
                </a:solidFill>
                <a:latin typeface="Copperplate Gothic 32 AB Bold"/>
                <a:ea typeface="Copperplate Gothic 32 AB Bold"/>
                <a:cs typeface="Copperplate Gothic 32 AB Bold"/>
                <a:sym typeface="Copperplate Gothic 32 AB Bold"/>
              </a:rPr>
              <a:t>It was a great exercise in problem-solving and applying SQL logic to practical scenarios.</a:t>
            </a:r>
          </a:p>
        </p:txBody>
      </p:sp>
    </p:spTree>
  </p:cSld>
  <p:clrMapOvr>
    <a:masterClrMapping/>
  </p:clrMapOvr>
  <p:transition spd="slow">
    <p:push dir="l"/>
  </p:transition>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EAEAEA"/>
        </a:solidFill>
      </p:bgPr>
    </p:bg>
    <p:spTree>
      <p:nvGrpSpPr>
        <p:cNvPr id="1" name=""/>
        <p:cNvGrpSpPr/>
        <p:nvPr/>
      </p:nvGrpSpPr>
      <p:grpSpPr>
        <a:xfrm>
          <a:off x="0" y="0"/>
          <a:ext cx="0" cy="0"/>
          <a:chOff x="0" y="0"/>
          <a:chExt cx="0" cy="0"/>
        </a:xfrm>
      </p:grpSpPr>
      <p:sp>
        <p:nvSpPr>
          <p:cNvPr name="Freeform 2" id="2"/>
          <p:cNvSpPr/>
          <p:nvPr/>
        </p:nvSpPr>
        <p:spPr>
          <a:xfrm flipH="false" flipV="false" rot="0">
            <a:off x="3794906" y="429611"/>
            <a:ext cx="10698188" cy="9427779"/>
          </a:xfrm>
          <a:custGeom>
            <a:avLst/>
            <a:gdLst/>
            <a:ahLst/>
            <a:cxnLst/>
            <a:rect r="r" b="b" t="t" l="l"/>
            <a:pathLst>
              <a:path h="9427779" w="10698188">
                <a:moveTo>
                  <a:pt x="0" y="0"/>
                </a:moveTo>
                <a:lnTo>
                  <a:pt x="10698188" y="0"/>
                </a:lnTo>
                <a:lnTo>
                  <a:pt x="10698188" y="9427778"/>
                </a:lnTo>
                <a:lnTo>
                  <a:pt x="0" y="9427778"/>
                </a:lnTo>
                <a:lnTo>
                  <a:pt x="0" y="0"/>
                </a:lnTo>
                <a:close/>
              </a:path>
            </a:pathLst>
          </a:custGeom>
          <a:blipFill>
            <a:blip r:embed="rId3"/>
            <a:stretch>
              <a:fillRect l="0" t="0" r="0" b="0"/>
            </a:stretch>
          </a:blipFill>
        </p:spPr>
      </p:sp>
      <p:grpSp>
        <p:nvGrpSpPr>
          <p:cNvPr name="Group 3" id="3"/>
          <p:cNvGrpSpPr/>
          <p:nvPr/>
        </p:nvGrpSpPr>
        <p:grpSpPr>
          <a:xfrm rot="0">
            <a:off x="3302205" y="2187713"/>
            <a:ext cx="11683589" cy="5911575"/>
            <a:chOff x="0" y="0"/>
            <a:chExt cx="3497846" cy="1769814"/>
          </a:xfrm>
        </p:grpSpPr>
        <p:sp>
          <p:nvSpPr>
            <p:cNvPr name="Freeform 4" id="4"/>
            <p:cNvSpPr/>
            <p:nvPr/>
          </p:nvSpPr>
          <p:spPr>
            <a:xfrm flipH="false" flipV="false" rot="0">
              <a:off x="0" y="0"/>
              <a:ext cx="3497846" cy="1769814"/>
            </a:xfrm>
            <a:custGeom>
              <a:avLst/>
              <a:gdLst/>
              <a:ahLst/>
              <a:cxnLst/>
              <a:rect r="r" b="b" t="t" l="l"/>
              <a:pathLst>
                <a:path h="1769814" w="3497846">
                  <a:moveTo>
                    <a:pt x="0" y="0"/>
                  </a:moveTo>
                  <a:lnTo>
                    <a:pt x="0" y="1769814"/>
                  </a:lnTo>
                  <a:lnTo>
                    <a:pt x="3497846" y="1769814"/>
                  </a:lnTo>
                  <a:lnTo>
                    <a:pt x="3497846" y="0"/>
                  </a:lnTo>
                  <a:lnTo>
                    <a:pt x="0" y="0"/>
                  </a:lnTo>
                  <a:close/>
                  <a:moveTo>
                    <a:pt x="3436886" y="1708854"/>
                  </a:moveTo>
                  <a:lnTo>
                    <a:pt x="59690" y="1708854"/>
                  </a:lnTo>
                  <a:lnTo>
                    <a:pt x="59690" y="59690"/>
                  </a:lnTo>
                  <a:lnTo>
                    <a:pt x="3436886" y="59690"/>
                  </a:lnTo>
                  <a:lnTo>
                    <a:pt x="3436886" y="1708854"/>
                  </a:lnTo>
                  <a:close/>
                </a:path>
              </a:pathLst>
            </a:custGeom>
            <a:solidFill>
              <a:srgbClr val="FFFFFF"/>
            </a:solidFill>
          </p:spPr>
        </p:sp>
      </p:grpSp>
      <p:sp>
        <p:nvSpPr>
          <p:cNvPr name="Freeform 5" id="5"/>
          <p:cNvSpPr/>
          <p:nvPr/>
        </p:nvSpPr>
        <p:spPr>
          <a:xfrm flipH="true" flipV="false" rot="0">
            <a:off x="413288" y="130313"/>
            <a:ext cx="3381617" cy="4114800"/>
          </a:xfrm>
          <a:custGeom>
            <a:avLst/>
            <a:gdLst/>
            <a:ahLst/>
            <a:cxnLst/>
            <a:rect r="r" b="b" t="t" l="l"/>
            <a:pathLst>
              <a:path h="4114800" w="3381617">
                <a:moveTo>
                  <a:pt x="3381618" y="0"/>
                </a:moveTo>
                <a:lnTo>
                  <a:pt x="0" y="0"/>
                </a:lnTo>
                <a:lnTo>
                  <a:pt x="0" y="4114800"/>
                </a:lnTo>
                <a:lnTo>
                  <a:pt x="3381618" y="4114800"/>
                </a:lnTo>
                <a:lnTo>
                  <a:pt x="338161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599600" y="6970896"/>
            <a:ext cx="3008995" cy="4114800"/>
          </a:xfrm>
          <a:custGeom>
            <a:avLst/>
            <a:gdLst/>
            <a:ahLst/>
            <a:cxnLst/>
            <a:rect r="r" b="b" t="t" l="l"/>
            <a:pathLst>
              <a:path h="4114800" w="3008995">
                <a:moveTo>
                  <a:pt x="0" y="0"/>
                </a:moveTo>
                <a:lnTo>
                  <a:pt x="3008994" y="0"/>
                </a:lnTo>
                <a:lnTo>
                  <a:pt x="3008994"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8636696" y="5387536"/>
            <a:ext cx="10947094" cy="6189669"/>
          </a:xfrm>
          <a:custGeom>
            <a:avLst/>
            <a:gdLst/>
            <a:ahLst/>
            <a:cxnLst/>
            <a:rect r="r" b="b" t="t" l="l"/>
            <a:pathLst>
              <a:path h="6189669" w="10947094">
                <a:moveTo>
                  <a:pt x="0" y="0"/>
                </a:moveTo>
                <a:lnTo>
                  <a:pt x="10947095" y="0"/>
                </a:lnTo>
                <a:lnTo>
                  <a:pt x="10947095" y="6189669"/>
                </a:lnTo>
                <a:lnTo>
                  <a:pt x="0" y="6189669"/>
                </a:lnTo>
                <a:lnTo>
                  <a:pt x="0" y="0"/>
                </a:lnTo>
                <a:close/>
              </a:path>
            </a:pathLst>
          </a:custGeom>
          <a:blipFill>
            <a:blip r:embed="rId8"/>
            <a:stretch>
              <a:fillRect l="0" t="0" r="0" b="0"/>
            </a:stretch>
          </a:blipFill>
        </p:spPr>
      </p:sp>
      <p:sp>
        <p:nvSpPr>
          <p:cNvPr name="Freeform 8" id="8"/>
          <p:cNvSpPr/>
          <p:nvPr/>
        </p:nvSpPr>
        <p:spPr>
          <a:xfrm flipH="false" flipV="false" rot="0">
            <a:off x="14110244" y="6057593"/>
            <a:ext cx="4243808" cy="1826606"/>
          </a:xfrm>
          <a:custGeom>
            <a:avLst/>
            <a:gdLst/>
            <a:ahLst/>
            <a:cxnLst/>
            <a:rect r="r" b="b" t="t" l="l"/>
            <a:pathLst>
              <a:path h="1826606" w="4243808">
                <a:moveTo>
                  <a:pt x="0" y="0"/>
                </a:moveTo>
                <a:lnTo>
                  <a:pt x="4243807" y="0"/>
                </a:lnTo>
                <a:lnTo>
                  <a:pt x="4243807" y="1826606"/>
                </a:lnTo>
                <a:lnTo>
                  <a:pt x="0" y="1826606"/>
                </a:lnTo>
                <a:lnTo>
                  <a:pt x="0" y="0"/>
                </a:lnTo>
                <a:close/>
              </a:path>
            </a:pathLst>
          </a:custGeom>
          <a:blipFill>
            <a:blip r:embed="rId9"/>
            <a:stretch>
              <a:fillRect l="0" t="0" r="0" b="0"/>
            </a:stretch>
          </a:blipFill>
        </p:spPr>
      </p:sp>
      <p:sp>
        <p:nvSpPr>
          <p:cNvPr name="Freeform 9" id="9"/>
          <p:cNvSpPr/>
          <p:nvPr/>
        </p:nvSpPr>
        <p:spPr>
          <a:xfrm flipH="false" flipV="false" rot="0">
            <a:off x="16232147" y="2187713"/>
            <a:ext cx="1364648" cy="1662389"/>
          </a:xfrm>
          <a:custGeom>
            <a:avLst/>
            <a:gdLst/>
            <a:ahLst/>
            <a:cxnLst/>
            <a:rect r="r" b="b" t="t" l="l"/>
            <a:pathLst>
              <a:path h="1662389" w="1364648">
                <a:moveTo>
                  <a:pt x="0" y="0"/>
                </a:moveTo>
                <a:lnTo>
                  <a:pt x="1364648" y="0"/>
                </a:lnTo>
                <a:lnTo>
                  <a:pt x="1364648" y="1662389"/>
                </a:lnTo>
                <a:lnTo>
                  <a:pt x="0" y="1662389"/>
                </a:lnTo>
                <a:lnTo>
                  <a:pt x="0" y="0"/>
                </a:lnTo>
                <a:close/>
              </a:path>
            </a:pathLst>
          </a:custGeom>
          <a:blipFill>
            <a:blip r:embed="rId10"/>
            <a:stretch>
              <a:fillRect l="0" t="0" r="0" b="0"/>
            </a:stretch>
          </a:blipFill>
        </p:spPr>
      </p:sp>
      <p:sp>
        <p:nvSpPr>
          <p:cNvPr name="Freeform 10" id="10"/>
          <p:cNvSpPr/>
          <p:nvPr/>
        </p:nvSpPr>
        <p:spPr>
          <a:xfrm flipH="false" flipV="false" rot="0">
            <a:off x="14985795" y="4206848"/>
            <a:ext cx="1053446" cy="1180688"/>
          </a:xfrm>
          <a:custGeom>
            <a:avLst/>
            <a:gdLst/>
            <a:ahLst/>
            <a:cxnLst/>
            <a:rect r="r" b="b" t="t" l="l"/>
            <a:pathLst>
              <a:path h="1180688" w="1053446">
                <a:moveTo>
                  <a:pt x="0" y="0"/>
                </a:moveTo>
                <a:lnTo>
                  <a:pt x="1053445" y="0"/>
                </a:lnTo>
                <a:lnTo>
                  <a:pt x="1053445" y="1180688"/>
                </a:lnTo>
                <a:lnTo>
                  <a:pt x="0" y="1180688"/>
                </a:lnTo>
                <a:lnTo>
                  <a:pt x="0" y="0"/>
                </a:lnTo>
                <a:close/>
              </a:path>
            </a:pathLst>
          </a:custGeom>
          <a:blipFill>
            <a:blip r:embed="rId11"/>
            <a:stretch>
              <a:fillRect l="0" t="0" r="0" b="0"/>
            </a:stretch>
          </a:blipFill>
        </p:spPr>
      </p:sp>
      <p:sp>
        <p:nvSpPr>
          <p:cNvPr name="TextBox 11" id="11"/>
          <p:cNvSpPr txBox="true"/>
          <p:nvPr/>
        </p:nvSpPr>
        <p:spPr>
          <a:xfrm rot="0">
            <a:off x="4177756" y="3954279"/>
            <a:ext cx="9932487" cy="3016617"/>
          </a:xfrm>
          <a:prstGeom prst="rect">
            <a:avLst/>
          </a:prstGeom>
        </p:spPr>
        <p:txBody>
          <a:bodyPr anchor="t" rtlCol="false" tIns="0" lIns="0" bIns="0" rIns="0">
            <a:spAutoFit/>
          </a:bodyPr>
          <a:lstStyle/>
          <a:p>
            <a:pPr algn="ctr">
              <a:lnSpc>
                <a:spcPts val="10821"/>
              </a:lnSpc>
            </a:pPr>
            <a:r>
              <a:rPr lang="en-US" b="true" sz="15029">
                <a:solidFill>
                  <a:srgbClr val="0171D3"/>
                </a:solidFill>
                <a:latin typeface="Ahkio Heavy"/>
                <a:ea typeface="Ahkio Heavy"/>
                <a:cs typeface="Ahkio Heavy"/>
                <a:sym typeface="Ahkio Heavy"/>
              </a:rPr>
              <a:t>THANK </a:t>
            </a:r>
          </a:p>
          <a:p>
            <a:pPr algn="ctr">
              <a:lnSpc>
                <a:spcPts val="10821"/>
              </a:lnSpc>
            </a:pPr>
            <a:r>
              <a:rPr lang="en-US" b="true" sz="15029">
                <a:solidFill>
                  <a:srgbClr val="0171D3"/>
                </a:solidFill>
                <a:latin typeface="Ahkio Heavy"/>
                <a:ea typeface="Ahkio Heavy"/>
                <a:cs typeface="Ahkio Heavy"/>
                <a:sym typeface="Ahkio Heavy"/>
              </a:rPr>
              <a:t>YOU  </a:t>
            </a:r>
          </a:p>
        </p:txBody>
      </p:sp>
      <p:sp>
        <p:nvSpPr>
          <p:cNvPr name="Freeform 12" id="12"/>
          <p:cNvSpPr/>
          <p:nvPr/>
        </p:nvSpPr>
        <p:spPr>
          <a:xfrm flipH="false" flipV="false" rot="0">
            <a:off x="11810307" y="5750883"/>
            <a:ext cx="5786489" cy="1220013"/>
          </a:xfrm>
          <a:custGeom>
            <a:avLst/>
            <a:gdLst/>
            <a:ahLst/>
            <a:cxnLst/>
            <a:rect r="r" b="b" t="t" l="l"/>
            <a:pathLst>
              <a:path h="1220013" w="5786489">
                <a:moveTo>
                  <a:pt x="0" y="0"/>
                </a:moveTo>
                <a:lnTo>
                  <a:pt x="5786488" y="0"/>
                </a:lnTo>
                <a:lnTo>
                  <a:pt x="5786488" y="1220013"/>
                </a:lnTo>
                <a:lnTo>
                  <a:pt x="0" y="1220013"/>
                </a:lnTo>
                <a:lnTo>
                  <a:pt x="0" y="0"/>
                </a:lnTo>
                <a:close/>
              </a:path>
            </a:pathLst>
          </a:custGeom>
          <a:blipFill>
            <a:blip r:embed="rId12"/>
            <a:stretch>
              <a:fillRect l="0" t="0" r="0" b="0"/>
            </a:stretch>
          </a:blipFill>
        </p:spPr>
      </p:sp>
      <p:sp>
        <p:nvSpPr>
          <p:cNvPr name="Freeform 13" id="13"/>
          <p:cNvSpPr/>
          <p:nvPr/>
        </p:nvSpPr>
        <p:spPr>
          <a:xfrm flipH="false" flipV="false" rot="0">
            <a:off x="9742724" y="1028700"/>
            <a:ext cx="8735039" cy="1841681"/>
          </a:xfrm>
          <a:custGeom>
            <a:avLst/>
            <a:gdLst/>
            <a:ahLst/>
            <a:cxnLst/>
            <a:rect r="r" b="b" t="t" l="l"/>
            <a:pathLst>
              <a:path h="1841681" w="8735039">
                <a:moveTo>
                  <a:pt x="0" y="0"/>
                </a:moveTo>
                <a:lnTo>
                  <a:pt x="8735039" y="0"/>
                </a:lnTo>
                <a:lnTo>
                  <a:pt x="8735039" y="1841681"/>
                </a:lnTo>
                <a:lnTo>
                  <a:pt x="0" y="1841681"/>
                </a:lnTo>
                <a:lnTo>
                  <a:pt x="0" y="0"/>
                </a:lnTo>
                <a:close/>
              </a:path>
            </a:pathLst>
          </a:custGeom>
          <a:blipFill>
            <a:blip r:embed="rId12"/>
            <a:stretch>
              <a:fillRect l="0" t="0" r="0" b="0"/>
            </a:stretch>
          </a:blipFill>
        </p:spPr>
      </p:sp>
      <p:sp>
        <p:nvSpPr>
          <p:cNvPr name="Freeform 14" id="14"/>
          <p:cNvSpPr/>
          <p:nvPr/>
        </p:nvSpPr>
        <p:spPr>
          <a:xfrm flipH="false" flipV="false" rot="0">
            <a:off x="13793004" y="130313"/>
            <a:ext cx="2385582" cy="2275249"/>
          </a:xfrm>
          <a:custGeom>
            <a:avLst/>
            <a:gdLst/>
            <a:ahLst/>
            <a:cxnLst/>
            <a:rect r="r" b="b" t="t" l="l"/>
            <a:pathLst>
              <a:path h="2275249" w="2385582">
                <a:moveTo>
                  <a:pt x="0" y="0"/>
                </a:moveTo>
                <a:lnTo>
                  <a:pt x="2385582" y="0"/>
                </a:lnTo>
                <a:lnTo>
                  <a:pt x="2385582" y="2275248"/>
                </a:lnTo>
                <a:lnTo>
                  <a:pt x="0" y="2275248"/>
                </a:lnTo>
                <a:lnTo>
                  <a:pt x="0" y="0"/>
                </a:lnTo>
                <a:close/>
              </a:path>
            </a:pathLst>
          </a:custGeom>
          <a:blipFill>
            <a:blip r:embed="rId13"/>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DAGzm5HPUTM</dc:identifier>
  <dcterms:modified xsi:type="dcterms:W3CDTF">2011-08-01T06:04:30Z</dcterms:modified>
  <cp:revision>1</cp:revision>
  <dc:title>energy consumption ppt.pptx</dc:title>
</cp:coreProperties>
</file>